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2" r:id="rId7"/>
    <p:sldId id="263" r:id="rId8"/>
    <p:sldId id="264" r:id="rId9"/>
    <p:sldId id="265" r:id="rId10"/>
    <p:sldId id="266" r:id="rId11"/>
    <p:sldId id="261"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0" d="100"/>
          <a:sy n="160" d="100"/>
        </p:scale>
        <p:origin x="2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3437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4F46E5"/>
          </a:solidFill>
          <a:ln w="12700">
            <a:solidFill>
              <a:srgbClr val="4F46E5"/>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4F46E5"/>
          </a:solidFill>
          <a:ln w="12700">
            <a:solidFill>
              <a:srgbClr val="4F46E5"/>
            </a:solidFill>
            <a:prstDash val="solid"/>
          </a:ln>
        </p:spPr>
        <p:txBody>
          <a:bodyPr/>
          <a:lstStyle/>
          <a:p>
            <a:endParaRPr lang="en-US"/>
          </a:p>
        </p:txBody>
      </p:sp>
      <p:sp>
        <p:nvSpPr>
          <p:cNvPr id="4" name="Text 2"/>
          <p:cNvSpPr/>
          <p:nvPr/>
        </p:nvSpPr>
        <p:spPr>
          <a:xfrm>
            <a:off x="0" y="1417320"/>
            <a:ext cx="9144000" cy="841248"/>
          </a:xfrm>
          <a:prstGeom prst="rect">
            <a:avLst/>
          </a:prstGeom>
          <a:noFill/>
          <a:ln/>
        </p:spPr>
        <p:txBody>
          <a:bodyPr wrap="square" rtlCol="0" anchor="ctr"/>
          <a:lstStyle/>
          <a:p>
            <a:pPr marL="0" indent="0" algn="ctr">
              <a:buNone/>
            </a:pPr>
            <a:r>
              <a:rPr lang="en-US" sz="4200" b="1" dirty="0">
                <a:solidFill>
                  <a:srgbClr val="1E1B4B"/>
                </a:solidFill>
                <a:latin typeface="Arial Black" pitchFamily="34" charset="0"/>
                <a:ea typeface="Arial Black" pitchFamily="34" charset="-122"/>
                <a:cs typeface="Arial Black" pitchFamily="34" charset="-120"/>
              </a:rPr>
              <a:t>Cyber Crime Reporting</a:t>
            </a:r>
            <a:endParaRPr lang="en-US" sz="4200" dirty="0"/>
          </a:p>
        </p:txBody>
      </p:sp>
      <p:sp>
        <p:nvSpPr>
          <p:cNvPr id="5" name="Text 3"/>
          <p:cNvSpPr/>
          <p:nvPr/>
        </p:nvSpPr>
        <p:spPr>
          <a:xfrm>
            <a:off x="0" y="2212848"/>
            <a:ext cx="9144000" cy="749808"/>
          </a:xfrm>
          <a:prstGeom prst="rect">
            <a:avLst/>
          </a:prstGeom>
          <a:noFill/>
          <a:ln/>
        </p:spPr>
        <p:txBody>
          <a:bodyPr wrap="square" rtlCol="0" anchor="ctr"/>
          <a:lstStyle/>
          <a:p>
            <a:pPr marL="0" indent="0" algn="ctr">
              <a:buNone/>
            </a:pPr>
            <a:r>
              <a:rPr lang="en-US" sz="3800" b="1" dirty="0">
                <a:solidFill>
                  <a:srgbClr val="4F46E5"/>
                </a:solidFill>
                <a:latin typeface="Arial Black" pitchFamily="34" charset="0"/>
                <a:ea typeface="Arial Black" pitchFamily="34" charset="-122"/>
                <a:cs typeface="Arial Black" pitchFamily="34" charset="-120"/>
              </a:rPr>
              <a:t>and Analysis System</a:t>
            </a:r>
            <a:endParaRPr lang="en-US" sz="3800" dirty="0"/>
          </a:p>
        </p:txBody>
      </p:sp>
      <p:sp>
        <p:nvSpPr>
          <p:cNvPr id="6" name="Shape 4"/>
          <p:cNvSpPr/>
          <p:nvPr/>
        </p:nvSpPr>
        <p:spPr>
          <a:xfrm>
            <a:off x="2743200" y="3035808"/>
            <a:ext cx="3657600" cy="45720"/>
          </a:xfrm>
          <a:prstGeom prst="rect">
            <a:avLst/>
          </a:prstGeom>
          <a:solidFill>
            <a:srgbClr val="C7D2FE"/>
          </a:solidFill>
          <a:ln w="12700">
            <a:solidFill>
              <a:srgbClr val="C7D2FE"/>
            </a:solidFill>
            <a:prstDash val="solid"/>
          </a:ln>
        </p:spPr>
        <p:txBody>
          <a:bodyPr/>
          <a:lstStyle/>
          <a:p>
            <a:endParaRPr lang="en-US"/>
          </a:p>
        </p:txBody>
      </p:sp>
      <p:sp>
        <p:nvSpPr>
          <p:cNvPr id="7" name="Text 5"/>
          <p:cNvSpPr/>
          <p:nvPr/>
        </p:nvSpPr>
        <p:spPr>
          <a:xfrm>
            <a:off x="914400" y="3163824"/>
            <a:ext cx="7315200" cy="347472"/>
          </a:xfrm>
          <a:prstGeom prst="rect">
            <a:avLst/>
          </a:prstGeom>
          <a:noFill/>
          <a:ln/>
        </p:spPr>
        <p:txBody>
          <a:bodyPr wrap="square" rtlCol="0" anchor="ctr"/>
          <a:lstStyle/>
          <a:p>
            <a:pPr marL="0" indent="0" algn="ctr">
              <a:buNone/>
            </a:pPr>
            <a:endParaRPr lang="en-US" sz="1300" dirty="0"/>
          </a:p>
        </p:txBody>
      </p:sp>
      <p:sp>
        <p:nvSpPr>
          <p:cNvPr id="8" name="Text 6"/>
          <p:cNvSpPr/>
          <p:nvPr/>
        </p:nvSpPr>
        <p:spPr>
          <a:xfrm>
            <a:off x="914400" y="3566160"/>
            <a:ext cx="7315200" cy="329184"/>
          </a:xfrm>
          <a:prstGeom prst="rect">
            <a:avLst/>
          </a:prstGeom>
          <a:noFill/>
          <a:ln/>
        </p:spPr>
        <p:txBody>
          <a:bodyPr wrap="square" rtlCol="0" anchor="ctr"/>
          <a:lstStyle/>
          <a:p>
            <a:pPr marL="0" indent="0" algn="ctr">
              <a:buNone/>
            </a:pPr>
            <a:endParaRPr lang="en-US" sz="1200" dirty="0"/>
          </a:p>
        </p:txBody>
      </p:sp>
      <p:pic>
        <p:nvPicPr>
          <p:cNvPr id="9" name="object 16">
            <a:extLst>
              <a:ext uri="{FF2B5EF4-FFF2-40B4-BE49-F238E27FC236}">
                <a16:creationId xmlns:a16="http://schemas.microsoft.com/office/drawing/2014/main" id="{20B66D3B-276F-B3EC-A50B-AF3AD5EDEBAA}"/>
              </a:ext>
            </a:extLst>
          </p:cNvPr>
          <p:cNvPicPr/>
          <p:nvPr/>
        </p:nvPicPr>
        <p:blipFill>
          <a:blip r:embed="rId3" cstate="print"/>
          <a:stretch>
            <a:fillRect/>
          </a:stretch>
        </p:blipFill>
        <p:spPr>
          <a:xfrm>
            <a:off x="6604782" y="207147"/>
            <a:ext cx="2454812" cy="6189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4F46E5"/>
          </a:solidFill>
          <a:ln w="12700">
            <a:solidFill>
              <a:srgbClr val="4F46E5"/>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4F46E5"/>
          </a:solidFill>
          <a:ln w="12700">
            <a:solidFill>
              <a:srgbClr val="4F46E5"/>
            </a:solidFill>
            <a:prstDash val="solid"/>
          </a:ln>
        </p:spPr>
        <p:txBody>
          <a:bodyPr/>
          <a:lstStyle/>
          <a:p>
            <a:endParaRPr lang="en-US"/>
          </a:p>
        </p:txBody>
      </p:sp>
      <p:sp>
        <p:nvSpPr>
          <p:cNvPr id="4" name="Text 2"/>
          <p:cNvSpPr/>
          <p:nvPr/>
        </p:nvSpPr>
        <p:spPr>
          <a:xfrm>
            <a:off x="0" y="411480"/>
            <a:ext cx="9144000" cy="594360"/>
          </a:xfrm>
          <a:prstGeom prst="rect">
            <a:avLst/>
          </a:prstGeom>
          <a:noFill/>
          <a:ln/>
        </p:spPr>
        <p:txBody>
          <a:bodyPr wrap="square" rtlCol="0" anchor="ctr"/>
          <a:lstStyle/>
          <a:p>
            <a:pPr marL="0" indent="0" algn="ctr">
              <a:buNone/>
            </a:pPr>
            <a:r>
              <a:rPr lang="en-US" sz="3000" b="1" dirty="0">
                <a:solidFill>
                  <a:srgbClr val="1E1B4B"/>
                </a:solidFill>
                <a:latin typeface="Arial Black" pitchFamily="34" charset="0"/>
                <a:ea typeface="Arial Black" pitchFamily="34" charset="-122"/>
                <a:cs typeface="Arial Black" pitchFamily="34" charset="-120"/>
              </a:rPr>
              <a:t>Group Members</a:t>
            </a:r>
            <a:endParaRPr lang="en-US" sz="3000" dirty="0"/>
          </a:p>
        </p:txBody>
      </p:sp>
      <p:sp>
        <p:nvSpPr>
          <p:cNvPr id="5" name="Shape 3"/>
          <p:cNvSpPr/>
          <p:nvPr/>
        </p:nvSpPr>
        <p:spPr>
          <a:xfrm>
            <a:off x="3200400" y="1051560"/>
            <a:ext cx="2743200" cy="54864"/>
          </a:xfrm>
          <a:prstGeom prst="rect">
            <a:avLst/>
          </a:prstGeom>
          <a:solidFill>
            <a:srgbClr val="4F46E5"/>
          </a:solidFill>
          <a:ln w="12700">
            <a:solidFill>
              <a:srgbClr val="4F46E5"/>
            </a:solidFill>
            <a:prstDash val="solid"/>
          </a:ln>
        </p:spPr>
        <p:txBody>
          <a:bodyPr/>
          <a:lstStyle/>
          <a:p>
            <a:endParaRPr lang="en-US"/>
          </a:p>
        </p:txBody>
      </p:sp>
      <p:sp>
        <p:nvSpPr>
          <p:cNvPr id="6" name="Shape 4"/>
          <p:cNvSpPr/>
          <p:nvPr/>
        </p:nvSpPr>
        <p:spPr>
          <a:xfrm>
            <a:off x="384048" y="1261872"/>
            <a:ext cx="2651760" cy="3474720"/>
          </a:xfrm>
          <a:prstGeom prst="rect">
            <a:avLst/>
          </a:prstGeom>
          <a:solidFill>
            <a:srgbClr val="F7F9FF"/>
          </a:solidFill>
          <a:ln w="15240">
            <a:solidFill>
              <a:srgbClr val="C7D2FE"/>
            </a:solidFill>
            <a:prstDash val="solid"/>
          </a:ln>
          <a:effectLst>
            <a:outerShdw blurRad="152400" dist="50800" dir="8100000" algn="bl" rotWithShape="0">
              <a:srgbClr val="818CF8">
                <a:alpha val="13000"/>
              </a:srgbClr>
            </a:outerShdw>
          </a:effectLst>
        </p:spPr>
        <p:txBody>
          <a:bodyPr/>
          <a:lstStyle/>
          <a:p>
            <a:endParaRPr lang="en-US"/>
          </a:p>
        </p:txBody>
      </p:sp>
      <p:sp>
        <p:nvSpPr>
          <p:cNvPr id="7" name="Shape 5"/>
          <p:cNvSpPr/>
          <p:nvPr/>
        </p:nvSpPr>
        <p:spPr>
          <a:xfrm>
            <a:off x="384048" y="1261872"/>
            <a:ext cx="2651760" cy="91440"/>
          </a:xfrm>
          <a:prstGeom prst="rect">
            <a:avLst/>
          </a:prstGeom>
          <a:solidFill>
            <a:srgbClr val="4F46E5"/>
          </a:solidFill>
          <a:ln w="12700">
            <a:solidFill>
              <a:srgbClr val="4F46E5"/>
            </a:solidFill>
            <a:prstDash val="solid"/>
          </a:ln>
        </p:spPr>
        <p:txBody>
          <a:bodyPr/>
          <a:lstStyle/>
          <a:p>
            <a:endParaRPr lang="en-US"/>
          </a:p>
        </p:txBody>
      </p:sp>
      <p:sp>
        <p:nvSpPr>
          <p:cNvPr id="8" name="Shape 6"/>
          <p:cNvSpPr/>
          <p:nvPr/>
        </p:nvSpPr>
        <p:spPr>
          <a:xfrm>
            <a:off x="1161288" y="1426464"/>
            <a:ext cx="1097280" cy="1097280"/>
          </a:xfrm>
          <a:prstGeom prst="ellipse">
            <a:avLst/>
          </a:prstGeom>
          <a:solidFill>
            <a:srgbClr val="E0E7FF"/>
          </a:solidFill>
          <a:ln w="25400">
            <a:solidFill>
              <a:srgbClr val="4F46E5"/>
            </a:solidFill>
            <a:prstDash val="solid"/>
          </a:ln>
        </p:spPr>
        <p:txBody>
          <a:bodyPr/>
          <a:lstStyle/>
          <a:p>
            <a:endParaRPr lang="en-US"/>
          </a:p>
        </p:txBody>
      </p:sp>
      <p:sp>
        <p:nvSpPr>
          <p:cNvPr id="9" name="Text 7"/>
          <p:cNvSpPr/>
          <p:nvPr/>
        </p:nvSpPr>
        <p:spPr>
          <a:xfrm>
            <a:off x="1161288" y="1444752"/>
            <a:ext cx="1097280" cy="1042416"/>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p:txBody>
      </p:sp>
      <p:sp>
        <p:nvSpPr>
          <p:cNvPr id="10" name="Text 8"/>
          <p:cNvSpPr/>
          <p:nvPr/>
        </p:nvSpPr>
        <p:spPr>
          <a:xfrm>
            <a:off x="457200" y="2633472"/>
            <a:ext cx="2505456" cy="804672"/>
          </a:xfrm>
          <a:prstGeom prst="rect">
            <a:avLst/>
          </a:prstGeom>
          <a:noFill/>
          <a:ln/>
        </p:spPr>
        <p:txBody>
          <a:bodyPr wrap="square" rtlCol="0" anchor="ctr"/>
          <a:lstStyle/>
          <a:p>
            <a:pPr marL="0" indent="0" algn="ctr">
              <a:lnSpc>
                <a:spcPct val="130000"/>
              </a:lnSpc>
              <a:buNone/>
            </a:pPr>
            <a:r>
              <a:rPr lang="en-US" sz="1300" b="1" dirty="0">
                <a:solidFill>
                  <a:srgbClr val="1E1B4B"/>
                </a:solidFill>
              </a:rPr>
              <a:t>PATEL HARSHKUMAR</a:t>
            </a:r>
            <a:endParaRPr lang="en-US" sz="1300" dirty="0"/>
          </a:p>
          <a:p>
            <a:pPr marL="0" indent="0" algn="ctr">
              <a:lnSpc>
                <a:spcPct val="130000"/>
              </a:lnSpc>
              <a:buNone/>
            </a:pPr>
            <a:r>
              <a:rPr lang="en-US" sz="1300" b="1" dirty="0">
                <a:solidFill>
                  <a:srgbClr val="1E1B4B"/>
                </a:solidFill>
              </a:rPr>
              <a:t>KANAIYALAL</a:t>
            </a:r>
            <a:endParaRPr lang="en-US" sz="1300" dirty="0"/>
          </a:p>
        </p:txBody>
      </p:sp>
      <p:sp>
        <p:nvSpPr>
          <p:cNvPr id="11" name="Shape 9"/>
          <p:cNvSpPr/>
          <p:nvPr/>
        </p:nvSpPr>
        <p:spPr>
          <a:xfrm>
            <a:off x="658368" y="3529584"/>
            <a:ext cx="2103120" cy="365760"/>
          </a:xfrm>
          <a:prstGeom prst="rect">
            <a:avLst/>
          </a:prstGeom>
          <a:solidFill>
            <a:srgbClr val="4F46E5"/>
          </a:solidFill>
          <a:ln w="12700">
            <a:solidFill>
              <a:srgbClr val="4F46E5"/>
            </a:solidFill>
            <a:prstDash val="solid"/>
          </a:ln>
        </p:spPr>
        <p:txBody>
          <a:bodyPr/>
          <a:lstStyle/>
          <a:p>
            <a:endParaRPr lang="en-US"/>
          </a:p>
        </p:txBody>
      </p:sp>
      <p:sp>
        <p:nvSpPr>
          <p:cNvPr id="12" name="Text 10"/>
          <p:cNvSpPr/>
          <p:nvPr/>
        </p:nvSpPr>
        <p:spPr>
          <a:xfrm>
            <a:off x="658368" y="3529584"/>
            <a:ext cx="2103120" cy="365760"/>
          </a:xfrm>
          <a:prstGeom prst="rect">
            <a:avLst/>
          </a:prstGeom>
          <a:noFill/>
          <a:ln/>
        </p:spPr>
        <p:txBody>
          <a:bodyPr wrap="square" rtlCol="0" anchor="ctr"/>
          <a:lstStyle/>
          <a:p>
            <a:pPr marL="0" indent="0" algn="ctr">
              <a:buNone/>
            </a:pPr>
            <a:r>
              <a:rPr lang="en-US" sz="1100" b="1" dirty="0">
                <a:solidFill>
                  <a:srgbClr val="FFFFFF"/>
                </a:solidFill>
              </a:rPr>
              <a:t>24002171710023</a:t>
            </a:r>
            <a:endParaRPr lang="en-US" sz="1100" dirty="0"/>
          </a:p>
        </p:txBody>
      </p:sp>
      <p:sp>
        <p:nvSpPr>
          <p:cNvPr id="13" name="Shape 11"/>
          <p:cNvSpPr/>
          <p:nvPr/>
        </p:nvSpPr>
        <p:spPr>
          <a:xfrm>
            <a:off x="3218688" y="1261872"/>
            <a:ext cx="2651760" cy="3474720"/>
          </a:xfrm>
          <a:prstGeom prst="rect">
            <a:avLst/>
          </a:prstGeom>
          <a:solidFill>
            <a:srgbClr val="F7F9FF"/>
          </a:solidFill>
          <a:ln w="15240">
            <a:solidFill>
              <a:srgbClr val="C7D2FE"/>
            </a:solidFill>
            <a:prstDash val="solid"/>
          </a:ln>
          <a:effectLst>
            <a:outerShdw blurRad="152400" dist="50800" dir="8100000" algn="bl" rotWithShape="0">
              <a:srgbClr val="818CF8">
                <a:alpha val="13000"/>
              </a:srgbClr>
            </a:outerShdw>
          </a:effectLst>
        </p:spPr>
        <p:txBody>
          <a:bodyPr/>
          <a:lstStyle/>
          <a:p>
            <a:endParaRPr lang="en-US"/>
          </a:p>
        </p:txBody>
      </p:sp>
      <p:sp>
        <p:nvSpPr>
          <p:cNvPr id="14" name="Shape 12"/>
          <p:cNvSpPr/>
          <p:nvPr/>
        </p:nvSpPr>
        <p:spPr>
          <a:xfrm>
            <a:off x="3218688" y="1261872"/>
            <a:ext cx="2651760" cy="91440"/>
          </a:xfrm>
          <a:prstGeom prst="rect">
            <a:avLst/>
          </a:prstGeom>
          <a:solidFill>
            <a:srgbClr val="7C3AED"/>
          </a:solidFill>
          <a:ln w="12700">
            <a:solidFill>
              <a:srgbClr val="7C3AED"/>
            </a:solidFill>
            <a:prstDash val="solid"/>
          </a:ln>
        </p:spPr>
        <p:txBody>
          <a:bodyPr/>
          <a:lstStyle/>
          <a:p>
            <a:endParaRPr lang="en-US"/>
          </a:p>
        </p:txBody>
      </p:sp>
      <p:sp>
        <p:nvSpPr>
          <p:cNvPr id="15" name="Shape 13"/>
          <p:cNvSpPr/>
          <p:nvPr/>
        </p:nvSpPr>
        <p:spPr>
          <a:xfrm>
            <a:off x="3995928" y="1426464"/>
            <a:ext cx="1097280" cy="1097280"/>
          </a:xfrm>
          <a:prstGeom prst="ellipse">
            <a:avLst/>
          </a:prstGeom>
          <a:solidFill>
            <a:srgbClr val="E0E7FF"/>
          </a:solidFill>
          <a:ln w="25400">
            <a:solidFill>
              <a:srgbClr val="7C3AED"/>
            </a:solidFill>
            <a:prstDash val="solid"/>
          </a:ln>
        </p:spPr>
        <p:txBody>
          <a:bodyPr/>
          <a:lstStyle/>
          <a:p>
            <a:endParaRPr lang="en-US"/>
          </a:p>
        </p:txBody>
      </p:sp>
      <p:sp>
        <p:nvSpPr>
          <p:cNvPr id="16" name="Text 14"/>
          <p:cNvSpPr/>
          <p:nvPr/>
        </p:nvSpPr>
        <p:spPr>
          <a:xfrm>
            <a:off x="3995928" y="1444752"/>
            <a:ext cx="1097280" cy="1042416"/>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p:txBody>
      </p:sp>
      <p:sp>
        <p:nvSpPr>
          <p:cNvPr id="17" name="Text 15"/>
          <p:cNvSpPr/>
          <p:nvPr/>
        </p:nvSpPr>
        <p:spPr>
          <a:xfrm>
            <a:off x="3291840" y="2633472"/>
            <a:ext cx="2505456" cy="804672"/>
          </a:xfrm>
          <a:prstGeom prst="rect">
            <a:avLst/>
          </a:prstGeom>
          <a:noFill/>
          <a:ln/>
        </p:spPr>
        <p:txBody>
          <a:bodyPr wrap="square" rtlCol="0" anchor="ctr"/>
          <a:lstStyle/>
          <a:p>
            <a:pPr marL="0" indent="0" algn="ctr">
              <a:lnSpc>
                <a:spcPct val="130000"/>
              </a:lnSpc>
              <a:buNone/>
            </a:pPr>
            <a:r>
              <a:rPr lang="en-US" sz="1300" b="1" dirty="0">
                <a:solidFill>
                  <a:srgbClr val="1E1B4B"/>
                </a:solidFill>
              </a:rPr>
              <a:t>SHAH ANSH</a:t>
            </a:r>
            <a:endParaRPr lang="en-US" sz="1300" dirty="0"/>
          </a:p>
          <a:p>
            <a:pPr marL="0" indent="0" algn="ctr">
              <a:lnSpc>
                <a:spcPct val="130000"/>
              </a:lnSpc>
              <a:buNone/>
            </a:pPr>
            <a:r>
              <a:rPr lang="en-US" sz="1300" b="1" dirty="0">
                <a:solidFill>
                  <a:srgbClr val="1E1B4B"/>
                </a:solidFill>
              </a:rPr>
              <a:t>SHASHINBHAI</a:t>
            </a:r>
            <a:endParaRPr lang="en-US" sz="1300" dirty="0"/>
          </a:p>
        </p:txBody>
      </p:sp>
      <p:sp>
        <p:nvSpPr>
          <p:cNvPr id="18" name="Shape 16"/>
          <p:cNvSpPr/>
          <p:nvPr/>
        </p:nvSpPr>
        <p:spPr>
          <a:xfrm>
            <a:off x="3493008" y="3529584"/>
            <a:ext cx="2103120" cy="365760"/>
          </a:xfrm>
          <a:prstGeom prst="rect">
            <a:avLst/>
          </a:prstGeom>
          <a:solidFill>
            <a:srgbClr val="7C3AED"/>
          </a:solidFill>
          <a:ln w="12700">
            <a:solidFill>
              <a:srgbClr val="7C3AED"/>
            </a:solidFill>
            <a:prstDash val="solid"/>
          </a:ln>
        </p:spPr>
        <p:txBody>
          <a:bodyPr/>
          <a:lstStyle/>
          <a:p>
            <a:endParaRPr lang="en-US"/>
          </a:p>
        </p:txBody>
      </p:sp>
      <p:sp>
        <p:nvSpPr>
          <p:cNvPr id="19" name="Text 17"/>
          <p:cNvSpPr/>
          <p:nvPr/>
        </p:nvSpPr>
        <p:spPr>
          <a:xfrm>
            <a:off x="3493008" y="3529584"/>
            <a:ext cx="2103120" cy="365760"/>
          </a:xfrm>
          <a:prstGeom prst="rect">
            <a:avLst/>
          </a:prstGeom>
          <a:noFill/>
          <a:ln/>
        </p:spPr>
        <p:txBody>
          <a:bodyPr wrap="square" rtlCol="0" anchor="ctr"/>
          <a:lstStyle/>
          <a:p>
            <a:pPr marL="0" indent="0" algn="ctr">
              <a:buNone/>
            </a:pPr>
            <a:r>
              <a:rPr lang="en-US" sz="1100" b="1" dirty="0">
                <a:solidFill>
                  <a:srgbClr val="FFFFFF"/>
                </a:solidFill>
              </a:rPr>
              <a:t>25002170420012</a:t>
            </a:r>
            <a:endParaRPr lang="en-US" sz="1100" dirty="0"/>
          </a:p>
        </p:txBody>
      </p:sp>
      <p:sp>
        <p:nvSpPr>
          <p:cNvPr id="20" name="Shape 18"/>
          <p:cNvSpPr/>
          <p:nvPr/>
        </p:nvSpPr>
        <p:spPr>
          <a:xfrm>
            <a:off x="6053328" y="1261872"/>
            <a:ext cx="2651760" cy="3474720"/>
          </a:xfrm>
          <a:prstGeom prst="rect">
            <a:avLst/>
          </a:prstGeom>
          <a:solidFill>
            <a:srgbClr val="F7F9FF"/>
          </a:solidFill>
          <a:ln w="15240">
            <a:solidFill>
              <a:srgbClr val="C7D2FE"/>
            </a:solidFill>
            <a:prstDash val="solid"/>
          </a:ln>
          <a:effectLst>
            <a:outerShdw blurRad="152400" dist="50800" dir="8100000" algn="bl" rotWithShape="0">
              <a:srgbClr val="818CF8">
                <a:alpha val="13000"/>
              </a:srgbClr>
            </a:outerShdw>
          </a:effectLst>
        </p:spPr>
        <p:txBody>
          <a:bodyPr/>
          <a:lstStyle/>
          <a:p>
            <a:endParaRPr lang="en-US"/>
          </a:p>
        </p:txBody>
      </p:sp>
      <p:sp>
        <p:nvSpPr>
          <p:cNvPr id="21" name="Shape 19"/>
          <p:cNvSpPr/>
          <p:nvPr/>
        </p:nvSpPr>
        <p:spPr>
          <a:xfrm>
            <a:off x="6053328" y="1261872"/>
            <a:ext cx="2651760" cy="91440"/>
          </a:xfrm>
          <a:prstGeom prst="rect">
            <a:avLst/>
          </a:prstGeom>
          <a:solidFill>
            <a:srgbClr val="0EA5E9"/>
          </a:solidFill>
          <a:ln w="12700">
            <a:solidFill>
              <a:srgbClr val="0EA5E9"/>
            </a:solidFill>
            <a:prstDash val="solid"/>
          </a:ln>
        </p:spPr>
        <p:txBody>
          <a:bodyPr/>
          <a:lstStyle/>
          <a:p>
            <a:endParaRPr lang="en-US"/>
          </a:p>
        </p:txBody>
      </p:sp>
      <p:sp>
        <p:nvSpPr>
          <p:cNvPr id="22" name="Shape 20"/>
          <p:cNvSpPr/>
          <p:nvPr/>
        </p:nvSpPr>
        <p:spPr>
          <a:xfrm>
            <a:off x="6830568" y="1426464"/>
            <a:ext cx="1097280" cy="1097280"/>
          </a:xfrm>
          <a:prstGeom prst="ellipse">
            <a:avLst/>
          </a:prstGeom>
          <a:solidFill>
            <a:srgbClr val="E0E7FF"/>
          </a:solidFill>
          <a:ln w="25400">
            <a:solidFill>
              <a:srgbClr val="0EA5E9"/>
            </a:solidFill>
            <a:prstDash val="solid"/>
          </a:ln>
        </p:spPr>
        <p:txBody>
          <a:bodyPr/>
          <a:lstStyle/>
          <a:p>
            <a:endParaRPr lang="en-US"/>
          </a:p>
        </p:txBody>
      </p:sp>
      <p:sp>
        <p:nvSpPr>
          <p:cNvPr id="23" name="Text 21"/>
          <p:cNvSpPr/>
          <p:nvPr/>
        </p:nvSpPr>
        <p:spPr>
          <a:xfrm>
            <a:off x="6830568" y="1444752"/>
            <a:ext cx="1097280" cy="1042416"/>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p:txBody>
      </p:sp>
      <p:sp>
        <p:nvSpPr>
          <p:cNvPr id="24" name="Text 22"/>
          <p:cNvSpPr/>
          <p:nvPr/>
        </p:nvSpPr>
        <p:spPr>
          <a:xfrm>
            <a:off x="6126480" y="2633472"/>
            <a:ext cx="2505456" cy="804672"/>
          </a:xfrm>
          <a:prstGeom prst="rect">
            <a:avLst/>
          </a:prstGeom>
          <a:noFill/>
          <a:ln/>
        </p:spPr>
        <p:txBody>
          <a:bodyPr wrap="square" rtlCol="0" anchor="ctr"/>
          <a:lstStyle/>
          <a:p>
            <a:pPr marL="0" indent="0" algn="ctr">
              <a:lnSpc>
                <a:spcPct val="130000"/>
              </a:lnSpc>
              <a:buNone/>
            </a:pPr>
            <a:r>
              <a:rPr lang="en-US" sz="1300" b="1" dirty="0">
                <a:solidFill>
                  <a:srgbClr val="1E1B4B"/>
                </a:solidFill>
              </a:rPr>
              <a:t>GEDIYA POOJAN</a:t>
            </a:r>
            <a:endParaRPr lang="en-US" sz="1300" dirty="0"/>
          </a:p>
          <a:p>
            <a:pPr marL="0" indent="0" algn="ctr">
              <a:lnSpc>
                <a:spcPct val="130000"/>
              </a:lnSpc>
              <a:buNone/>
            </a:pPr>
            <a:r>
              <a:rPr lang="en-US" sz="1300" b="1" dirty="0">
                <a:solidFill>
                  <a:srgbClr val="1E1B4B"/>
                </a:solidFill>
              </a:rPr>
              <a:t>HARESHBHAI</a:t>
            </a:r>
            <a:endParaRPr lang="en-US" sz="1300" dirty="0"/>
          </a:p>
        </p:txBody>
      </p:sp>
      <p:sp>
        <p:nvSpPr>
          <p:cNvPr id="25" name="Shape 23"/>
          <p:cNvSpPr/>
          <p:nvPr/>
        </p:nvSpPr>
        <p:spPr>
          <a:xfrm>
            <a:off x="6327648" y="3529584"/>
            <a:ext cx="2103120" cy="365760"/>
          </a:xfrm>
          <a:prstGeom prst="rect">
            <a:avLst/>
          </a:prstGeom>
          <a:solidFill>
            <a:srgbClr val="0EA5E9"/>
          </a:solidFill>
          <a:ln w="12700">
            <a:solidFill>
              <a:srgbClr val="0EA5E9"/>
            </a:solidFill>
            <a:prstDash val="solid"/>
          </a:ln>
        </p:spPr>
        <p:txBody>
          <a:bodyPr/>
          <a:lstStyle/>
          <a:p>
            <a:endParaRPr lang="en-US"/>
          </a:p>
        </p:txBody>
      </p:sp>
      <p:sp>
        <p:nvSpPr>
          <p:cNvPr id="26" name="Text 24"/>
          <p:cNvSpPr/>
          <p:nvPr/>
        </p:nvSpPr>
        <p:spPr>
          <a:xfrm>
            <a:off x="6327648" y="3529584"/>
            <a:ext cx="2103120" cy="365760"/>
          </a:xfrm>
          <a:prstGeom prst="rect">
            <a:avLst/>
          </a:prstGeom>
          <a:noFill/>
          <a:ln/>
        </p:spPr>
        <p:txBody>
          <a:bodyPr wrap="square" rtlCol="0" anchor="ctr"/>
          <a:lstStyle/>
          <a:p>
            <a:pPr marL="0" indent="0" algn="ctr">
              <a:buNone/>
            </a:pPr>
            <a:r>
              <a:rPr lang="en-US" sz="1100" b="1" dirty="0">
                <a:solidFill>
                  <a:srgbClr val="FFFFFF"/>
                </a:solidFill>
              </a:rPr>
              <a:t>24002170210025</a:t>
            </a:r>
            <a:endParaRPr lang="en-US" sz="1100" dirty="0"/>
          </a:p>
        </p:txBody>
      </p:sp>
      <p:sp>
        <p:nvSpPr>
          <p:cNvPr id="27" name="Text 25"/>
          <p:cNvSpPr/>
          <p:nvPr/>
        </p:nvSpPr>
        <p:spPr>
          <a:xfrm>
            <a:off x="8778240" y="4919472"/>
            <a:ext cx="320040" cy="201168"/>
          </a:xfrm>
          <a:prstGeom prst="rect">
            <a:avLst/>
          </a:prstGeom>
          <a:noFill/>
          <a:ln/>
        </p:spPr>
        <p:txBody>
          <a:bodyPr wrap="square" rtlCol="0" anchor="ctr"/>
          <a:lstStyle/>
          <a:p>
            <a:pPr marL="0" indent="0" algn="ctr">
              <a:buNone/>
            </a:pPr>
            <a:r>
              <a:rPr lang="en-US" sz="900" dirty="0">
                <a:solidFill>
                  <a:srgbClr val="6B7280"/>
                </a:solidFill>
              </a:rPr>
              <a:t>2</a:t>
            </a:r>
            <a:endParaRPr lang="en-US" sz="900" dirty="0"/>
          </a:p>
        </p:txBody>
      </p:sp>
      <p:pic>
        <p:nvPicPr>
          <p:cNvPr id="28" name="object 16">
            <a:extLst>
              <a:ext uri="{FF2B5EF4-FFF2-40B4-BE49-F238E27FC236}">
                <a16:creationId xmlns:a16="http://schemas.microsoft.com/office/drawing/2014/main" id="{B5DA7711-3A13-295A-B663-33E304498F73}"/>
              </a:ext>
            </a:extLst>
          </p:cNvPr>
          <p:cNvPicPr/>
          <p:nvPr/>
        </p:nvPicPr>
        <p:blipFill>
          <a:blip r:embed="rId3" cstate="print"/>
          <a:stretch>
            <a:fillRect/>
          </a:stretch>
        </p:blipFill>
        <p:spPr>
          <a:xfrm>
            <a:off x="6604782" y="207147"/>
            <a:ext cx="2454812" cy="6189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4F46E5"/>
          </a:solidFill>
          <a:ln w="12700">
            <a:solidFill>
              <a:srgbClr val="4F46E5"/>
            </a:solidFill>
            <a:prstDash val="solid"/>
          </a:ln>
        </p:spPr>
        <p:txBody>
          <a:bodyPr/>
          <a:lstStyle/>
          <a:p>
            <a:endParaRPr lang="en-US"/>
          </a:p>
        </p:txBody>
      </p:sp>
      <p:sp>
        <p:nvSpPr>
          <p:cNvPr id="5" name="Text 3"/>
          <p:cNvSpPr/>
          <p:nvPr/>
        </p:nvSpPr>
        <p:spPr>
          <a:xfrm>
            <a:off x="320040" y="91440"/>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  Introduction</a:t>
            </a:r>
            <a:endParaRPr lang="en-US" sz="2200" dirty="0"/>
          </a:p>
        </p:txBody>
      </p:sp>
      <p:sp>
        <p:nvSpPr>
          <p:cNvPr id="6" name="Text 4"/>
          <p:cNvSpPr/>
          <p:nvPr/>
        </p:nvSpPr>
        <p:spPr>
          <a:xfrm>
            <a:off x="347472" y="603504"/>
            <a:ext cx="8046720" cy="320040"/>
          </a:xfrm>
          <a:prstGeom prst="rect">
            <a:avLst/>
          </a:prstGeom>
          <a:noFill/>
          <a:ln/>
        </p:spPr>
        <p:txBody>
          <a:bodyPr wrap="square" lIns="0" tIns="0" rIns="0" bIns="0" rtlCol="0" anchor="ctr"/>
          <a:lstStyle/>
          <a:p>
            <a:pPr marL="0" indent="0">
              <a:buNone/>
            </a:pPr>
            <a:r>
              <a:rPr lang="en-US" sz="1100" i="1" dirty="0">
                <a:solidFill>
                  <a:srgbClr val="C7D2FE"/>
                </a:solidFill>
              </a:rPr>
              <a:t>What this project is, why it was built, and how it works at a glance</a:t>
            </a:r>
            <a:endParaRPr lang="en-US" sz="1100" dirty="0"/>
          </a:p>
        </p:txBody>
      </p:sp>
      <p:sp>
        <p:nvSpPr>
          <p:cNvPr id="7" name="Shape 5"/>
          <p:cNvSpPr/>
          <p:nvPr/>
        </p:nvSpPr>
        <p:spPr>
          <a:xfrm>
            <a:off x="274320" y="1078992"/>
            <a:ext cx="4206240" cy="393192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8" name="Shape 6"/>
          <p:cNvSpPr/>
          <p:nvPr/>
        </p:nvSpPr>
        <p:spPr>
          <a:xfrm>
            <a:off x="274320" y="1078992"/>
            <a:ext cx="4206240" cy="411480"/>
          </a:xfrm>
          <a:prstGeom prst="rect">
            <a:avLst/>
          </a:prstGeom>
          <a:solidFill>
            <a:srgbClr val="4F46E5"/>
          </a:solidFill>
          <a:ln w="12700">
            <a:solidFill>
              <a:srgbClr val="4F46E5"/>
            </a:solidFill>
            <a:prstDash val="solid"/>
          </a:ln>
        </p:spPr>
        <p:txBody>
          <a:bodyPr/>
          <a:lstStyle/>
          <a:p>
            <a:endParaRPr lang="en-US"/>
          </a:p>
        </p:txBody>
      </p:sp>
      <p:sp>
        <p:nvSpPr>
          <p:cNvPr id="9" name="Text 7"/>
          <p:cNvSpPr/>
          <p:nvPr/>
        </p:nvSpPr>
        <p:spPr>
          <a:xfrm>
            <a:off x="384048" y="1115568"/>
            <a:ext cx="3931920" cy="347472"/>
          </a:xfrm>
          <a:prstGeom prst="rect">
            <a:avLst/>
          </a:prstGeom>
          <a:noFill/>
          <a:ln/>
        </p:spPr>
        <p:txBody>
          <a:bodyPr wrap="square" lIns="0" tIns="0" rIns="0" bIns="0" rtlCol="0" anchor="ctr"/>
          <a:lstStyle/>
          <a:p>
            <a:pPr marL="0" indent="0">
              <a:buNone/>
            </a:pPr>
            <a:r>
              <a:rPr lang="en-US" sz="1400" b="1" dirty="0">
                <a:solidFill>
                  <a:srgbClr val="FFFFFF"/>
                </a:solidFill>
              </a:rPr>
              <a:t>What is it?</a:t>
            </a:r>
            <a:endParaRPr lang="en-US" sz="1400" dirty="0"/>
          </a:p>
        </p:txBody>
      </p:sp>
      <p:sp>
        <p:nvSpPr>
          <p:cNvPr id="10" name="Text 8"/>
          <p:cNvSpPr/>
          <p:nvPr/>
        </p:nvSpPr>
        <p:spPr>
          <a:xfrm>
            <a:off x="384048" y="1572768"/>
            <a:ext cx="3913632" cy="1005840"/>
          </a:xfrm>
          <a:prstGeom prst="rect">
            <a:avLst/>
          </a:prstGeom>
          <a:noFill/>
          <a:ln/>
        </p:spPr>
        <p:txBody>
          <a:bodyPr wrap="square" rtlCol="0" anchor="ctr"/>
          <a:lstStyle/>
          <a:p>
            <a:pPr marL="0" indent="0">
              <a:lnSpc>
                <a:spcPct val="145000"/>
              </a:lnSpc>
              <a:buNone/>
            </a:pPr>
            <a:r>
              <a:rPr lang="en-US" sz="1080" dirty="0">
                <a:solidFill>
                  <a:srgbClr val="374151"/>
                </a:solidFill>
              </a:rPr>
              <a:t>The Cyber Crime Reporting and Analysis System is a web application built entirely in Python using Streamlit. It allows citizens to register, log in, and file complaints about online crimes — and gives police officers a dashboard to manage and resolve those cases.</a:t>
            </a:r>
            <a:endParaRPr lang="en-US" sz="1080" dirty="0"/>
          </a:p>
        </p:txBody>
      </p:sp>
      <p:sp>
        <p:nvSpPr>
          <p:cNvPr id="11" name="Shape 9"/>
          <p:cNvSpPr/>
          <p:nvPr/>
        </p:nvSpPr>
        <p:spPr>
          <a:xfrm>
            <a:off x="384048" y="2651760"/>
            <a:ext cx="3840480" cy="45720"/>
          </a:xfrm>
          <a:prstGeom prst="rect">
            <a:avLst/>
          </a:prstGeom>
          <a:solidFill>
            <a:srgbClr val="C7D2FE"/>
          </a:solidFill>
          <a:ln w="12700">
            <a:solidFill>
              <a:srgbClr val="C7D2FE"/>
            </a:solidFill>
            <a:prstDash val="solid"/>
          </a:ln>
        </p:spPr>
        <p:txBody>
          <a:bodyPr/>
          <a:lstStyle/>
          <a:p>
            <a:endParaRPr lang="en-US"/>
          </a:p>
        </p:txBody>
      </p:sp>
      <p:sp>
        <p:nvSpPr>
          <p:cNvPr id="12" name="Text 10"/>
          <p:cNvSpPr/>
          <p:nvPr/>
        </p:nvSpPr>
        <p:spPr>
          <a:xfrm>
            <a:off x="384048" y="2761488"/>
            <a:ext cx="3840480" cy="320040"/>
          </a:xfrm>
          <a:prstGeom prst="rect">
            <a:avLst/>
          </a:prstGeom>
          <a:noFill/>
          <a:ln/>
        </p:spPr>
        <p:txBody>
          <a:bodyPr wrap="square" rtlCol="0" anchor="ctr"/>
          <a:lstStyle/>
          <a:p>
            <a:pPr marL="0" indent="0">
              <a:buNone/>
            </a:pPr>
            <a:r>
              <a:rPr lang="en-US" sz="1300" b="1" dirty="0">
                <a:solidFill>
                  <a:srgbClr val="1E1B4B"/>
                </a:solidFill>
              </a:rPr>
              <a:t>Why was it built?</a:t>
            </a:r>
            <a:endParaRPr lang="en-US" sz="1300" dirty="0"/>
          </a:p>
        </p:txBody>
      </p:sp>
      <p:sp>
        <p:nvSpPr>
          <p:cNvPr id="13" name="Text 11"/>
          <p:cNvSpPr/>
          <p:nvPr/>
        </p:nvSpPr>
        <p:spPr>
          <a:xfrm>
            <a:off x="384048" y="3127248"/>
            <a:ext cx="3913632" cy="914400"/>
          </a:xfrm>
          <a:prstGeom prst="rect">
            <a:avLst/>
          </a:prstGeom>
          <a:noFill/>
          <a:ln/>
        </p:spPr>
        <p:txBody>
          <a:bodyPr wrap="square" rtlCol="0" anchor="ctr"/>
          <a:lstStyle/>
          <a:p>
            <a:pPr marL="0" indent="0">
              <a:lnSpc>
                <a:spcPct val="145000"/>
              </a:lnSpc>
              <a:buNone/>
            </a:pPr>
            <a:r>
              <a:rPr lang="en-US" sz="1080" dirty="0">
                <a:solidFill>
                  <a:srgbClr val="374151"/>
                </a:solidFill>
              </a:rPr>
              <a:t>Millions of people face cyber crimes like online fraud, hacking, and phishing every year. Most victims do not report it because there is no easy way to do so. This system solves that by providing a simple, secure online platform available 24/7.</a:t>
            </a:r>
            <a:endParaRPr lang="en-US" sz="1080" dirty="0"/>
          </a:p>
        </p:txBody>
      </p:sp>
      <p:sp>
        <p:nvSpPr>
          <p:cNvPr id="14" name="Shape 12"/>
          <p:cNvSpPr/>
          <p:nvPr/>
        </p:nvSpPr>
        <p:spPr>
          <a:xfrm>
            <a:off x="4663440" y="1078992"/>
            <a:ext cx="4206240" cy="393192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15" name="Shape 13"/>
          <p:cNvSpPr/>
          <p:nvPr/>
        </p:nvSpPr>
        <p:spPr>
          <a:xfrm>
            <a:off x="4663440" y="1078992"/>
            <a:ext cx="4206240" cy="411480"/>
          </a:xfrm>
          <a:prstGeom prst="rect">
            <a:avLst/>
          </a:prstGeom>
          <a:solidFill>
            <a:srgbClr val="7C3AED"/>
          </a:solidFill>
          <a:ln w="12700">
            <a:solidFill>
              <a:srgbClr val="7C3AED"/>
            </a:solidFill>
            <a:prstDash val="solid"/>
          </a:ln>
        </p:spPr>
        <p:txBody>
          <a:bodyPr/>
          <a:lstStyle/>
          <a:p>
            <a:endParaRPr lang="en-US"/>
          </a:p>
        </p:txBody>
      </p:sp>
      <p:sp>
        <p:nvSpPr>
          <p:cNvPr id="16" name="Text 14"/>
          <p:cNvSpPr/>
          <p:nvPr/>
        </p:nvSpPr>
        <p:spPr>
          <a:xfrm>
            <a:off x="4773168" y="1115568"/>
            <a:ext cx="3931920" cy="347472"/>
          </a:xfrm>
          <a:prstGeom prst="rect">
            <a:avLst/>
          </a:prstGeom>
          <a:noFill/>
          <a:ln/>
        </p:spPr>
        <p:txBody>
          <a:bodyPr wrap="square" lIns="0" tIns="0" rIns="0" bIns="0" rtlCol="0" anchor="ctr"/>
          <a:lstStyle/>
          <a:p>
            <a:pPr marL="0" indent="0">
              <a:buNone/>
            </a:pPr>
            <a:r>
              <a:rPr lang="en-US" sz="1400" b="1" dirty="0">
                <a:solidFill>
                  <a:srgbClr val="FFFFFF"/>
                </a:solidFill>
              </a:rPr>
              <a:t>How does it work?</a:t>
            </a:r>
            <a:endParaRPr lang="en-US" sz="1400" dirty="0"/>
          </a:p>
        </p:txBody>
      </p:sp>
      <p:sp>
        <p:nvSpPr>
          <p:cNvPr id="17" name="Shape 15"/>
          <p:cNvSpPr/>
          <p:nvPr/>
        </p:nvSpPr>
        <p:spPr>
          <a:xfrm>
            <a:off x="4773168" y="1645920"/>
            <a:ext cx="420624" cy="420624"/>
          </a:xfrm>
          <a:prstGeom prst="ellipse">
            <a:avLst/>
          </a:prstGeom>
          <a:solidFill>
            <a:srgbClr val="4F46E5"/>
          </a:solidFill>
          <a:ln w="12700">
            <a:solidFill>
              <a:srgbClr val="4F46E5"/>
            </a:solidFill>
            <a:prstDash val="solid"/>
          </a:ln>
        </p:spPr>
        <p:txBody>
          <a:bodyPr/>
          <a:lstStyle/>
          <a:p>
            <a:endParaRPr lang="en-US"/>
          </a:p>
        </p:txBody>
      </p:sp>
      <p:sp>
        <p:nvSpPr>
          <p:cNvPr id="18" name="Text 16"/>
          <p:cNvSpPr/>
          <p:nvPr/>
        </p:nvSpPr>
        <p:spPr>
          <a:xfrm>
            <a:off x="4773168" y="1645920"/>
            <a:ext cx="420624" cy="420624"/>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9" name="Text 17"/>
          <p:cNvSpPr/>
          <p:nvPr/>
        </p:nvSpPr>
        <p:spPr>
          <a:xfrm>
            <a:off x="5266944" y="1645920"/>
            <a:ext cx="3474720" cy="310896"/>
          </a:xfrm>
          <a:prstGeom prst="rect">
            <a:avLst/>
          </a:prstGeom>
          <a:noFill/>
          <a:ln/>
        </p:spPr>
        <p:txBody>
          <a:bodyPr wrap="square" lIns="0" tIns="0" rIns="0" bIns="0" rtlCol="0" anchor="ctr"/>
          <a:lstStyle/>
          <a:p>
            <a:pPr marL="0" indent="0">
              <a:buNone/>
            </a:pPr>
            <a:r>
              <a:rPr lang="en-US" sz="1200" b="1" dirty="0">
                <a:solidFill>
                  <a:srgbClr val="4F46E5"/>
                </a:solidFill>
              </a:rPr>
              <a:t>Citizens</a:t>
            </a:r>
            <a:endParaRPr lang="en-US" sz="1200" dirty="0"/>
          </a:p>
        </p:txBody>
      </p:sp>
      <p:sp>
        <p:nvSpPr>
          <p:cNvPr id="20" name="Text 18"/>
          <p:cNvSpPr/>
          <p:nvPr/>
        </p:nvSpPr>
        <p:spPr>
          <a:xfrm>
            <a:off x="5266944" y="1965960"/>
            <a:ext cx="3493008" cy="749808"/>
          </a:xfrm>
          <a:prstGeom prst="rect">
            <a:avLst/>
          </a:prstGeom>
          <a:noFill/>
          <a:ln/>
        </p:spPr>
        <p:txBody>
          <a:bodyPr wrap="square" lIns="0" tIns="0" rIns="0" bIns="0" rtlCol="0" anchor="ctr"/>
          <a:lstStyle/>
          <a:p>
            <a:pPr marL="0" indent="0">
              <a:lnSpc>
                <a:spcPct val="135000"/>
              </a:lnSpc>
              <a:buNone/>
            </a:pPr>
            <a:r>
              <a:rPr lang="en-US" sz="980" dirty="0">
                <a:solidFill>
                  <a:srgbClr val="374151"/>
                </a:solidFill>
              </a:rPr>
              <a:t>Register with name, email, mobile &amp; address. Solve a CAPTCHA to verify. Then log in and file a complaint with crime details, GPS location, and upload evidence screenshots.</a:t>
            </a:r>
            <a:endParaRPr lang="en-US" sz="980" dirty="0"/>
          </a:p>
        </p:txBody>
      </p:sp>
      <p:sp>
        <p:nvSpPr>
          <p:cNvPr id="21" name="Shape 19"/>
          <p:cNvSpPr/>
          <p:nvPr/>
        </p:nvSpPr>
        <p:spPr>
          <a:xfrm>
            <a:off x="4773168" y="2816352"/>
            <a:ext cx="420624" cy="420624"/>
          </a:xfrm>
          <a:prstGeom prst="ellipse">
            <a:avLst/>
          </a:prstGeom>
          <a:solidFill>
            <a:srgbClr val="7C3AED"/>
          </a:solidFill>
          <a:ln w="12700">
            <a:solidFill>
              <a:srgbClr val="7C3AED"/>
            </a:solidFill>
            <a:prstDash val="solid"/>
          </a:ln>
        </p:spPr>
        <p:txBody>
          <a:bodyPr/>
          <a:lstStyle/>
          <a:p>
            <a:endParaRPr lang="en-US"/>
          </a:p>
        </p:txBody>
      </p:sp>
      <p:sp>
        <p:nvSpPr>
          <p:cNvPr id="22" name="Text 20"/>
          <p:cNvSpPr/>
          <p:nvPr/>
        </p:nvSpPr>
        <p:spPr>
          <a:xfrm>
            <a:off x="4773168" y="2816352"/>
            <a:ext cx="420624" cy="420624"/>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3" name="Text 21"/>
          <p:cNvSpPr/>
          <p:nvPr/>
        </p:nvSpPr>
        <p:spPr>
          <a:xfrm>
            <a:off x="5266944" y="2816352"/>
            <a:ext cx="3474720" cy="310896"/>
          </a:xfrm>
          <a:prstGeom prst="rect">
            <a:avLst/>
          </a:prstGeom>
          <a:noFill/>
          <a:ln/>
        </p:spPr>
        <p:txBody>
          <a:bodyPr wrap="square" lIns="0" tIns="0" rIns="0" bIns="0" rtlCol="0" anchor="ctr"/>
          <a:lstStyle/>
          <a:p>
            <a:pPr marL="0" indent="0">
              <a:buNone/>
            </a:pPr>
            <a:r>
              <a:rPr lang="en-US" sz="1200" b="1" dirty="0">
                <a:solidFill>
                  <a:srgbClr val="7C3AED"/>
                </a:solidFill>
              </a:rPr>
              <a:t>The System</a:t>
            </a:r>
            <a:endParaRPr lang="en-US" sz="1200" dirty="0"/>
          </a:p>
        </p:txBody>
      </p:sp>
      <p:sp>
        <p:nvSpPr>
          <p:cNvPr id="24" name="Text 22"/>
          <p:cNvSpPr/>
          <p:nvPr/>
        </p:nvSpPr>
        <p:spPr>
          <a:xfrm>
            <a:off x="5266944" y="3136392"/>
            <a:ext cx="3493008" cy="749808"/>
          </a:xfrm>
          <a:prstGeom prst="rect">
            <a:avLst/>
          </a:prstGeom>
          <a:noFill/>
          <a:ln/>
        </p:spPr>
        <p:txBody>
          <a:bodyPr wrap="square" lIns="0" tIns="0" rIns="0" bIns="0" rtlCol="0" anchor="ctr"/>
          <a:lstStyle/>
          <a:p>
            <a:pPr marL="0" indent="0">
              <a:lnSpc>
                <a:spcPct val="135000"/>
              </a:lnSpc>
              <a:buNone/>
            </a:pPr>
            <a:r>
              <a:rPr lang="en-US" sz="980" dirty="0">
                <a:solidFill>
                  <a:srgbClr val="374151"/>
                </a:solidFill>
              </a:rPr>
              <a:t>Auto-assigns a severity score to every complaint based on crime type. Runs a priority algorithm using severity, evidence, time pending, and financial loss to rank all cases.</a:t>
            </a:r>
            <a:endParaRPr lang="en-US" sz="980" dirty="0"/>
          </a:p>
        </p:txBody>
      </p:sp>
      <p:sp>
        <p:nvSpPr>
          <p:cNvPr id="25" name="Shape 23"/>
          <p:cNvSpPr/>
          <p:nvPr/>
        </p:nvSpPr>
        <p:spPr>
          <a:xfrm>
            <a:off x="4773168" y="3986784"/>
            <a:ext cx="420624" cy="420624"/>
          </a:xfrm>
          <a:prstGeom prst="ellipse">
            <a:avLst/>
          </a:prstGeom>
          <a:solidFill>
            <a:srgbClr val="10B981"/>
          </a:solidFill>
          <a:ln w="12700">
            <a:solidFill>
              <a:srgbClr val="10B981"/>
            </a:solidFill>
            <a:prstDash val="solid"/>
          </a:ln>
        </p:spPr>
        <p:txBody>
          <a:bodyPr/>
          <a:lstStyle/>
          <a:p>
            <a:endParaRPr lang="en-US"/>
          </a:p>
        </p:txBody>
      </p:sp>
      <p:sp>
        <p:nvSpPr>
          <p:cNvPr id="26" name="Text 24"/>
          <p:cNvSpPr/>
          <p:nvPr/>
        </p:nvSpPr>
        <p:spPr>
          <a:xfrm>
            <a:off x="4773168" y="3986784"/>
            <a:ext cx="420624" cy="420624"/>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7" name="Text 25"/>
          <p:cNvSpPr/>
          <p:nvPr/>
        </p:nvSpPr>
        <p:spPr>
          <a:xfrm>
            <a:off x="5266944" y="3986784"/>
            <a:ext cx="3474720" cy="310896"/>
          </a:xfrm>
          <a:prstGeom prst="rect">
            <a:avLst/>
          </a:prstGeom>
          <a:noFill/>
          <a:ln/>
        </p:spPr>
        <p:txBody>
          <a:bodyPr wrap="square" lIns="0" tIns="0" rIns="0" bIns="0" rtlCol="0" anchor="ctr"/>
          <a:lstStyle/>
          <a:p>
            <a:pPr marL="0" indent="0">
              <a:buNone/>
            </a:pPr>
            <a:r>
              <a:rPr lang="en-US" sz="1200" b="1" dirty="0">
                <a:solidFill>
                  <a:srgbClr val="10B981"/>
                </a:solidFill>
              </a:rPr>
              <a:t>Police</a:t>
            </a:r>
            <a:endParaRPr lang="en-US" sz="1200" dirty="0"/>
          </a:p>
        </p:txBody>
      </p:sp>
      <p:sp>
        <p:nvSpPr>
          <p:cNvPr id="28" name="Text 26"/>
          <p:cNvSpPr/>
          <p:nvPr/>
        </p:nvSpPr>
        <p:spPr>
          <a:xfrm>
            <a:off x="5266944" y="4306824"/>
            <a:ext cx="3493008" cy="749808"/>
          </a:xfrm>
          <a:prstGeom prst="rect">
            <a:avLst/>
          </a:prstGeom>
          <a:noFill/>
          <a:ln/>
        </p:spPr>
        <p:txBody>
          <a:bodyPr wrap="square" lIns="0" tIns="0" rIns="0" bIns="0" rtlCol="0" anchor="ctr"/>
          <a:lstStyle/>
          <a:p>
            <a:pPr marL="0" indent="0">
              <a:lnSpc>
                <a:spcPct val="135000"/>
              </a:lnSpc>
              <a:buNone/>
            </a:pPr>
            <a:r>
              <a:rPr lang="en-US" sz="980" dirty="0">
                <a:solidFill>
                  <a:srgbClr val="374151"/>
                </a:solidFill>
              </a:rPr>
              <a:t>Admin logs in with a unique Police ID. Views all complaints sorted by priority score. Updates the case status from Pending to Investigating to Resolved.</a:t>
            </a:r>
            <a:endParaRPr lang="en-US" sz="980" dirty="0"/>
          </a:p>
        </p:txBody>
      </p:sp>
      <p:sp>
        <p:nvSpPr>
          <p:cNvPr id="29" name="Text 27"/>
          <p:cNvSpPr/>
          <p:nvPr/>
        </p:nvSpPr>
        <p:spPr>
          <a:xfrm>
            <a:off x="8778240" y="4919472"/>
            <a:ext cx="320040" cy="201168"/>
          </a:xfrm>
          <a:prstGeom prst="rect">
            <a:avLst/>
          </a:prstGeom>
          <a:noFill/>
          <a:ln/>
        </p:spPr>
        <p:txBody>
          <a:bodyPr wrap="square" rtlCol="0" anchor="ctr"/>
          <a:lstStyle/>
          <a:p>
            <a:pPr marL="0" indent="0" algn="ctr">
              <a:buNone/>
            </a:pPr>
            <a:r>
              <a:rPr lang="en-US" sz="900" dirty="0">
                <a:solidFill>
                  <a:srgbClr val="6B7280"/>
                </a:solidFill>
              </a:rPr>
              <a:t>3</a:t>
            </a:r>
            <a:endParaRPr lang="en-US" sz="900" dirty="0"/>
          </a:p>
        </p:txBody>
      </p:sp>
      <p:pic>
        <p:nvPicPr>
          <p:cNvPr id="30" name="object 16">
            <a:extLst>
              <a:ext uri="{FF2B5EF4-FFF2-40B4-BE49-F238E27FC236}">
                <a16:creationId xmlns:a16="http://schemas.microsoft.com/office/drawing/2014/main" id="{7B3392D6-316C-B5FB-23EF-7AEB04C18D34}"/>
              </a:ext>
            </a:extLst>
          </p:cNvPr>
          <p:cNvPicPr/>
          <p:nvPr/>
        </p:nvPicPr>
        <p:blipFill>
          <a:blip r:embed="rId3" cstate="print"/>
          <a:stretch>
            <a:fillRect/>
          </a:stretch>
        </p:blipFill>
        <p:spPr>
          <a:xfrm>
            <a:off x="6604782" y="207147"/>
            <a:ext cx="2454812" cy="61897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4F46E5"/>
          </a:solidFill>
          <a:ln w="12700">
            <a:solidFill>
              <a:srgbClr val="4F46E5"/>
            </a:solidFill>
            <a:prstDash val="solid"/>
          </a:ln>
        </p:spPr>
        <p:txBody>
          <a:bodyPr/>
          <a:lstStyle/>
          <a:p>
            <a:endParaRPr lang="en-US"/>
          </a:p>
        </p:txBody>
      </p:sp>
      <p:sp>
        <p:nvSpPr>
          <p:cNvPr id="5" name="Text 3"/>
          <p:cNvSpPr/>
          <p:nvPr/>
        </p:nvSpPr>
        <p:spPr>
          <a:xfrm>
            <a:off x="320040" y="91440"/>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  Project Overview</a:t>
            </a:r>
            <a:endParaRPr lang="en-US" sz="2200" dirty="0"/>
          </a:p>
        </p:txBody>
      </p:sp>
      <p:sp>
        <p:nvSpPr>
          <p:cNvPr id="6" name="Text 4"/>
          <p:cNvSpPr/>
          <p:nvPr/>
        </p:nvSpPr>
        <p:spPr>
          <a:xfrm>
            <a:off x="347472" y="603504"/>
            <a:ext cx="8046720" cy="320040"/>
          </a:xfrm>
          <a:prstGeom prst="rect">
            <a:avLst/>
          </a:prstGeom>
          <a:noFill/>
          <a:ln/>
        </p:spPr>
        <p:txBody>
          <a:bodyPr wrap="square" lIns="0" tIns="0" rIns="0" bIns="0" rtlCol="0" anchor="ctr"/>
          <a:lstStyle/>
          <a:p>
            <a:pPr marL="0" indent="0">
              <a:buNone/>
            </a:pPr>
            <a:r>
              <a:rPr lang="en-US" sz="1100" i="1" dirty="0">
                <a:solidFill>
                  <a:srgbClr val="C7D2FE"/>
                </a:solidFill>
              </a:rPr>
              <a:t>What is this system and what problem does it solve?</a:t>
            </a:r>
            <a:endParaRPr lang="en-US" sz="1100" dirty="0"/>
          </a:p>
        </p:txBody>
      </p:sp>
      <p:sp>
        <p:nvSpPr>
          <p:cNvPr id="9" name="Text 7"/>
          <p:cNvSpPr/>
          <p:nvPr/>
        </p:nvSpPr>
        <p:spPr>
          <a:xfrm>
            <a:off x="502920" y="1152144"/>
            <a:ext cx="8275320" cy="548640"/>
          </a:xfrm>
          <a:prstGeom prst="rect">
            <a:avLst/>
          </a:prstGeom>
          <a:noFill/>
          <a:ln/>
        </p:spPr>
        <p:txBody>
          <a:bodyPr wrap="square" rtlCol="0" anchor="ctr"/>
          <a:lstStyle/>
          <a:p>
            <a:pPr marL="0" indent="0">
              <a:lnSpc>
                <a:spcPct val="140000"/>
              </a:lnSpc>
              <a:buNone/>
            </a:pPr>
            <a:endParaRPr lang="en-US" sz="1150" dirty="0"/>
          </a:p>
        </p:txBody>
      </p:sp>
      <p:sp>
        <p:nvSpPr>
          <p:cNvPr id="10" name="Shape 8"/>
          <p:cNvSpPr/>
          <p:nvPr/>
        </p:nvSpPr>
        <p:spPr>
          <a:xfrm>
            <a:off x="274320" y="1901952"/>
            <a:ext cx="4206240" cy="1353312"/>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11" name="Shape 9"/>
          <p:cNvSpPr/>
          <p:nvPr/>
        </p:nvSpPr>
        <p:spPr>
          <a:xfrm>
            <a:off x="274320" y="1901952"/>
            <a:ext cx="4206240" cy="73152"/>
          </a:xfrm>
          <a:prstGeom prst="rect">
            <a:avLst/>
          </a:prstGeom>
          <a:solidFill>
            <a:srgbClr val="4F46E5"/>
          </a:solidFill>
          <a:ln w="12700">
            <a:solidFill>
              <a:srgbClr val="4F46E5"/>
            </a:solidFill>
            <a:prstDash val="solid"/>
          </a:ln>
        </p:spPr>
        <p:txBody>
          <a:bodyPr/>
          <a:lstStyle/>
          <a:p>
            <a:endParaRPr lang="en-US"/>
          </a:p>
        </p:txBody>
      </p:sp>
      <p:sp>
        <p:nvSpPr>
          <p:cNvPr id="12" name="Shape 10"/>
          <p:cNvSpPr/>
          <p:nvPr/>
        </p:nvSpPr>
        <p:spPr>
          <a:xfrm>
            <a:off x="274320" y="1901952"/>
            <a:ext cx="82296" cy="1353312"/>
          </a:xfrm>
          <a:prstGeom prst="rect">
            <a:avLst/>
          </a:prstGeom>
          <a:solidFill>
            <a:srgbClr val="4F46E5"/>
          </a:solidFill>
          <a:ln w="12700">
            <a:solidFill>
              <a:srgbClr val="4F46E5"/>
            </a:solidFill>
            <a:prstDash val="solid"/>
          </a:ln>
        </p:spPr>
        <p:txBody>
          <a:bodyPr/>
          <a:lstStyle/>
          <a:p>
            <a:endParaRPr lang="en-US"/>
          </a:p>
        </p:txBody>
      </p:sp>
      <p:sp>
        <p:nvSpPr>
          <p:cNvPr id="13" name="Text 11"/>
          <p:cNvSpPr/>
          <p:nvPr/>
        </p:nvSpPr>
        <p:spPr>
          <a:xfrm>
            <a:off x="457200" y="2103120"/>
            <a:ext cx="594360" cy="59436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4" name="Text 12"/>
          <p:cNvSpPr/>
          <p:nvPr/>
        </p:nvSpPr>
        <p:spPr>
          <a:xfrm>
            <a:off x="1143000" y="2048256"/>
            <a:ext cx="3200400" cy="329184"/>
          </a:xfrm>
          <a:prstGeom prst="rect">
            <a:avLst/>
          </a:prstGeom>
          <a:noFill/>
          <a:ln/>
        </p:spPr>
        <p:txBody>
          <a:bodyPr wrap="square" lIns="0" tIns="0" rIns="0" bIns="0" rtlCol="0" anchor="ctr"/>
          <a:lstStyle/>
          <a:p>
            <a:pPr marL="0" indent="0">
              <a:buNone/>
            </a:pPr>
            <a:r>
              <a:rPr lang="en-US" sz="1300" b="1" dirty="0">
                <a:solidFill>
                  <a:srgbClr val="1E1B4B"/>
                </a:solidFill>
              </a:rPr>
              <a:t>File Complaints</a:t>
            </a:r>
            <a:endParaRPr lang="en-US" sz="1300" dirty="0"/>
          </a:p>
        </p:txBody>
      </p:sp>
      <p:sp>
        <p:nvSpPr>
          <p:cNvPr id="15" name="Text 13"/>
          <p:cNvSpPr/>
          <p:nvPr/>
        </p:nvSpPr>
        <p:spPr>
          <a:xfrm>
            <a:off x="1143000" y="2395728"/>
            <a:ext cx="3200400" cy="768096"/>
          </a:xfrm>
          <a:prstGeom prst="rect">
            <a:avLst/>
          </a:prstGeom>
          <a:noFill/>
          <a:ln/>
        </p:spPr>
        <p:txBody>
          <a:bodyPr wrap="square" lIns="0" tIns="0" rIns="0" bIns="0" rtlCol="0" anchor="ctr"/>
          <a:lstStyle/>
          <a:p>
            <a:pPr marL="0" indent="0">
              <a:lnSpc>
                <a:spcPct val="135000"/>
              </a:lnSpc>
              <a:buNone/>
            </a:pPr>
            <a:r>
              <a:rPr lang="en-US" sz="1050" dirty="0">
                <a:solidFill>
                  <a:srgbClr val="374151"/>
                </a:solidFill>
              </a:rPr>
              <a:t>Citizens submit complaints with crime type, location, date &amp; evidence. A unique ID is instantly generated.</a:t>
            </a:r>
            <a:endParaRPr lang="en-US" sz="1050" dirty="0"/>
          </a:p>
        </p:txBody>
      </p:sp>
      <p:sp>
        <p:nvSpPr>
          <p:cNvPr id="16" name="Shape 14"/>
          <p:cNvSpPr/>
          <p:nvPr/>
        </p:nvSpPr>
        <p:spPr>
          <a:xfrm>
            <a:off x="274320" y="3401568"/>
            <a:ext cx="4206240" cy="1353312"/>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17" name="Shape 15"/>
          <p:cNvSpPr/>
          <p:nvPr/>
        </p:nvSpPr>
        <p:spPr>
          <a:xfrm>
            <a:off x="274320" y="3401568"/>
            <a:ext cx="4206240" cy="73152"/>
          </a:xfrm>
          <a:prstGeom prst="rect">
            <a:avLst/>
          </a:prstGeom>
          <a:solidFill>
            <a:srgbClr val="7C3AED"/>
          </a:solidFill>
          <a:ln w="12700">
            <a:solidFill>
              <a:srgbClr val="7C3AED"/>
            </a:solidFill>
            <a:prstDash val="solid"/>
          </a:ln>
        </p:spPr>
        <p:txBody>
          <a:bodyPr/>
          <a:lstStyle/>
          <a:p>
            <a:endParaRPr lang="en-US"/>
          </a:p>
        </p:txBody>
      </p:sp>
      <p:sp>
        <p:nvSpPr>
          <p:cNvPr id="18" name="Shape 16"/>
          <p:cNvSpPr/>
          <p:nvPr/>
        </p:nvSpPr>
        <p:spPr>
          <a:xfrm>
            <a:off x="274320" y="3401568"/>
            <a:ext cx="82296" cy="1353312"/>
          </a:xfrm>
          <a:prstGeom prst="rect">
            <a:avLst/>
          </a:prstGeom>
          <a:solidFill>
            <a:srgbClr val="7C3AED"/>
          </a:solidFill>
          <a:ln w="12700">
            <a:solidFill>
              <a:srgbClr val="7C3AED"/>
            </a:solidFill>
            <a:prstDash val="solid"/>
          </a:ln>
        </p:spPr>
        <p:txBody>
          <a:bodyPr/>
          <a:lstStyle/>
          <a:p>
            <a:endParaRPr lang="en-US"/>
          </a:p>
        </p:txBody>
      </p:sp>
      <p:sp>
        <p:nvSpPr>
          <p:cNvPr id="19" name="Text 17"/>
          <p:cNvSpPr/>
          <p:nvPr/>
        </p:nvSpPr>
        <p:spPr>
          <a:xfrm>
            <a:off x="457200" y="3602736"/>
            <a:ext cx="594360" cy="59436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0" name="Text 18"/>
          <p:cNvSpPr/>
          <p:nvPr/>
        </p:nvSpPr>
        <p:spPr>
          <a:xfrm>
            <a:off x="1143000" y="3547872"/>
            <a:ext cx="3200400" cy="329184"/>
          </a:xfrm>
          <a:prstGeom prst="rect">
            <a:avLst/>
          </a:prstGeom>
          <a:noFill/>
          <a:ln/>
        </p:spPr>
        <p:txBody>
          <a:bodyPr wrap="square" lIns="0" tIns="0" rIns="0" bIns="0" rtlCol="0" anchor="ctr"/>
          <a:lstStyle/>
          <a:p>
            <a:pPr marL="0" indent="0">
              <a:buNone/>
            </a:pPr>
            <a:r>
              <a:rPr lang="en-US" sz="1300" b="1" dirty="0">
                <a:solidFill>
                  <a:srgbClr val="1E1B4B"/>
                </a:solidFill>
              </a:rPr>
              <a:t>Police Dashboard</a:t>
            </a:r>
            <a:endParaRPr lang="en-US" sz="1300" dirty="0"/>
          </a:p>
        </p:txBody>
      </p:sp>
      <p:sp>
        <p:nvSpPr>
          <p:cNvPr id="21" name="Text 19"/>
          <p:cNvSpPr/>
          <p:nvPr/>
        </p:nvSpPr>
        <p:spPr>
          <a:xfrm>
            <a:off x="1143000" y="3895344"/>
            <a:ext cx="3200400" cy="768096"/>
          </a:xfrm>
          <a:prstGeom prst="rect">
            <a:avLst/>
          </a:prstGeom>
          <a:noFill/>
          <a:ln/>
        </p:spPr>
        <p:txBody>
          <a:bodyPr wrap="square" lIns="0" tIns="0" rIns="0" bIns="0" rtlCol="0" anchor="ctr"/>
          <a:lstStyle/>
          <a:p>
            <a:pPr marL="0" indent="0">
              <a:lnSpc>
                <a:spcPct val="135000"/>
              </a:lnSpc>
              <a:buNone/>
            </a:pPr>
            <a:r>
              <a:rPr lang="en-US" sz="1050" dirty="0">
                <a:solidFill>
                  <a:srgbClr val="374151"/>
                </a:solidFill>
              </a:rPr>
              <a:t>Admins view cases by priority, update status and assign their Police ID to take ownership of a case.</a:t>
            </a:r>
            <a:endParaRPr lang="en-US" sz="1050" dirty="0"/>
          </a:p>
        </p:txBody>
      </p:sp>
      <p:sp>
        <p:nvSpPr>
          <p:cNvPr id="22" name="Shape 20"/>
          <p:cNvSpPr/>
          <p:nvPr/>
        </p:nvSpPr>
        <p:spPr>
          <a:xfrm>
            <a:off x="4709160" y="1901952"/>
            <a:ext cx="4206240" cy="1353312"/>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23" name="Shape 21"/>
          <p:cNvSpPr/>
          <p:nvPr/>
        </p:nvSpPr>
        <p:spPr>
          <a:xfrm>
            <a:off x="4709160" y="1901952"/>
            <a:ext cx="4206240" cy="73152"/>
          </a:xfrm>
          <a:prstGeom prst="rect">
            <a:avLst/>
          </a:prstGeom>
          <a:solidFill>
            <a:srgbClr val="0EA5E9"/>
          </a:solidFill>
          <a:ln w="12700">
            <a:solidFill>
              <a:srgbClr val="0EA5E9"/>
            </a:solidFill>
            <a:prstDash val="solid"/>
          </a:ln>
        </p:spPr>
        <p:txBody>
          <a:bodyPr/>
          <a:lstStyle/>
          <a:p>
            <a:endParaRPr lang="en-US"/>
          </a:p>
        </p:txBody>
      </p:sp>
      <p:sp>
        <p:nvSpPr>
          <p:cNvPr id="24" name="Shape 22"/>
          <p:cNvSpPr/>
          <p:nvPr/>
        </p:nvSpPr>
        <p:spPr>
          <a:xfrm>
            <a:off x="4709160" y="1901952"/>
            <a:ext cx="82296" cy="1353312"/>
          </a:xfrm>
          <a:prstGeom prst="rect">
            <a:avLst/>
          </a:prstGeom>
          <a:solidFill>
            <a:srgbClr val="0EA5E9"/>
          </a:solidFill>
          <a:ln w="12700">
            <a:solidFill>
              <a:srgbClr val="0EA5E9"/>
            </a:solidFill>
            <a:prstDash val="solid"/>
          </a:ln>
        </p:spPr>
        <p:txBody>
          <a:bodyPr/>
          <a:lstStyle/>
          <a:p>
            <a:endParaRPr lang="en-US"/>
          </a:p>
        </p:txBody>
      </p:sp>
      <p:sp>
        <p:nvSpPr>
          <p:cNvPr id="25" name="Text 23"/>
          <p:cNvSpPr/>
          <p:nvPr/>
        </p:nvSpPr>
        <p:spPr>
          <a:xfrm>
            <a:off x="4892040" y="2103120"/>
            <a:ext cx="594360" cy="59436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6" name="Text 24"/>
          <p:cNvSpPr/>
          <p:nvPr/>
        </p:nvSpPr>
        <p:spPr>
          <a:xfrm>
            <a:off x="5577840" y="2048256"/>
            <a:ext cx="3200400" cy="329184"/>
          </a:xfrm>
          <a:prstGeom prst="rect">
            <a:avLst/>
          </a:prstGeom>
          <a:noFill/>
          <a:ln/>
        </p:spPr>
        <p:txBody>
          <a:bodyPr wrap="square" lIns="0" tIns="0" rIns="0" bIns="0" rtlCol="0" anchor="ctr"/>
          <a:lstStyle/>
          <a:p>
            <a:pPr marL="0" indent="0">
              <a:buNone/>
            </a:pPr>
            <a:r>
              <a:rPr lang="en-US" sz="1300" b="1" dirty="0">
                <a:solidFill>
                  <a:srgbClr val="1E1B4B"/>
                </a:solidFill>
              </a:rPr>
              <a:t>Live Analytics</a:t>
            </a:r>
            <a:endParaRPr lang="en-US" sz="1300" dirty="0"/>
          </a:p>
        </p:txBody>
      </p:sp>
      <p:sp>
        <p:nvSpPr>
          <p:cNvPr id="27" name="Text 25"/>
          <p:cNvSpPr/>
          <p:nvPr/>
        </p:nvSpPr>
        <p:spPr>
          <a:xfrm>
            <a:off x="5577840" y="2395728"/>
            <a:ext cx="3200400" cy="768096"/>
          </a:xfrm>
          <a:prstGeom prst="rect">
            <a:avLst/>
          </a:prstGeom>
          <a:noFill/>
          <a:ln/>
        </p:spPr>
        <p:txBody>
          <a:bodyPr wrap="square" lIns="0" tIns="0" rIns="0" bIns="0" rtlCol="0" anchor="ctr"/>
          <a:lstStyle/>
          <a:p>
            <a:pPr marL="0" indent="0">
              <a:lnSpc>
                <a:spcPct val="135000"/>
              </a:lnSpc>
              <a:buNone/>
            </a:pPr>
            <a:r>
              <a:rPr lang="en-US" sz="1050" dirty="0">
                <a:solidFill>
                  <a:srgbClr val="374151"/>
                </a:solidFill>
              </a:rPr>
              <a:t>Interactive Plotly charts show crime trends, case status, and financial loss data — updated in real time.</a:t>
            </a:r>
            <a:endParaRPr lang="en-US" sz="1050" dirty="0"/>
          </a:p>
        </p:txBody>
      </p:sp>
      <p:sp>
        <p:nvSpPr>
          <p:cNvPr id="28" name="Shape 26"/>
          <p:cNvSpPr/>
          <p:nvPr/>
        </p:nvSpPr>
        <p:spPr>
          <a:xfrm>
            <a:off x="4709160" y="3401568"/>
            <a:ext cx="4206240" cy="1353312"/>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29" name="Shape 27"/>
          <p:cNvSpPr/>
          <p:nvPr/>
        </p:nvSpPr>
        <p:spPr>
          <a:xfrm>
            <a:off x="4709160" y="3401568"/>
            <a:ext cx="4206240" cy="73152"/>
          </a:xfrm>
          <a:prstGeom prst="rect">
            <a:avLst/>
          </a:prstGeom>
          <a:solidFill>
            <a:srgbClr val="10B981"/>
          </a:solidFill>
          <a:ln w="12700">
            <a:solidFill>
              <a:srgbClr val="10B981"/>
            </a:solidFill>
            <a:prstDash val="solid"/>
          </a:ln>
        </p:spPr>
        <p:txBody>
          <a:bodyPr/>
          <a:lstStyle/>
          <a:p>
            <a:endParaRPr lang="en-US"/>
          </a:p>
        </p:txBody>
      </p:sp>
      <p:sp>
        <p:nvSpPr>
          <p:cNvPr id="30" name="Shape 28"/>
          <p:cNvSpPr/>
          <p:nvPr/>
        </p:nvSpPr>
        <p:spPr>
          <a:xfrm>
            <a:off x="4709160" y="3401568"/>
            <a:ext cx="82296" cy="1353312"/>
          </a:xfrm>
          <a:prstGeom prst="rect">
            <a:avLst/>
          </a:prstGeom>
          <a:solidFill>
            <a:srgbClr val="10B981"/>
          </a:solidFill>
          <a:ln w="12700">
            <a:solidFill>
              <a:srgbClr val="10B981"/>
            </a:solidFill>
            <a:prstDash val="solid"/>
          </a:ln>
        </p:spPr>
        <p:txBody>
          <a:bodyPr/>
          <a:lstStyle/>
          <a:p>
            <a:endParaRPr lang="en-US"/>
          </a:p>
        </p:txBody>
      </p:sp>
      <p:sp>
        <p:nvSpPr>
          <p:cNvPr id="31" name="Text 29"/>
          <p:cNvSpPr/>
          <p:nvPr/>
        </p:nvSpPr>
        <p:spPr>
          <a:xfrm>
            <a:off x="4892040" y="3602736"/>
            <a:ext cx="594360" cy="59436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32" name="Text 30"/>
          <p:cNvSpPr/>
          <p:nvPr/>
        </p:nvSpPr>
        <p:spPr>
          <a:xfrm>
            <a:off x="5577840" y="3547872"/>
            <a:ext cx="3200400" cy="329184"/>
          </a:xfrm>
          <a:prstGeom prst="rect">
            <a:avLst/>
          </a:prstGeom>
          <a:noFill/>
          <a:ln/>
        </p:spPr>
        <p:txBody>
          <a:bodyPr wrap="square" lIns="0" tIns="0" rIns="0" bIns="0" rtlCol="0" anchor="ctr"/>
          <a:lstStyle/>
          <a:p>
            <a:pPr marL="0" indent="0">
              <a:buNone/>
            </a:pPr>
            <a:r>
              <a:rPr lang="en-US" sz="1300" b="1" dirty="0">
                <a:solidFill>
                  <a:srgbClr val="1E1B4B"/>
                </a:solidFill>
              </a:rPr>
              <a:t>Secure &amp; Protected</a:t>
            </a:r>
            <a:endParaRPr lang="en-US" sz="1300" dirty="0"/>
          </a:p>
        </p:txBody>
      </p:sp>
      <p:sp>
        <p:nvSpPr>
          <p:cNvPr id="33" name="Text 31"/>
          <p:cNvSpPr/>
          <p:nvPr/>
        </p:nvSpPr>
        <p:spPr>
          <a:xfrm>
            <a:off x="5577840" y="3895344"/>
            <a:ext cx="3200400" cy="768096"/>
          </a:xfrm>
          <a:prstGeom prst="rect">
            <a:avLst/>
          </a:prstGeom>
          <a:noFill/>
          <a:ln/>
        </p:spPr>
        <p:txBody>
          <a:bodyPr wrap="square" lIns="0" tIns="0" rIns="0" bIns="0" rtlCol="0" anchor="ctr"/>
          <a:lstStyle/>
          <a:p>
            <a:pPr marL="0" indent="0">
              <a:lnSpc>
                <a:spcPct val="135000"/>
              </a:lnSpc>
              <a:buNone/>
            </a:pPr>
            <a:r>
              <a:rPr lang="en-US" sz="1050" dirty="0">
                <a:solidFill>
                  <a:srgbClr val="374151"/>
                </a:solidFill>
              </a:rPr>
              <a:t>CAPTCHA verification, SHA-256 password hashing, and 3-step forgot-password flow keep every account safe.</a:t>
            </a:r>
            <a:endParaRPr lang="en-US" sz="1050" dirty="0"/>
          </a:p>
        </p:txBody>
      </p:sp>
      <p:sp>
        <p:nvSpPr>
          <p:cNvPr id="34" name="Text 32"/>
          <p:cNvSpPr/>
          <p:nvPr/>
        </p:nvSpPr>
        <p:spPr>
          <a:xfrm>
            <a:off x="8778240" y="4919472"/>
            <a:ext cx="320040" cy="201168"/>
          </a:xfrm>
          <a:prstGeom prst="rect">
            <a:avLst/>
          </a:prstGeom>
          <a:noFill/>
          <a:ln/>
        </p:spPr>
        <p:txBody>
          <a:bodyPr wrap="square" rtlCol="0" anchor="ctr"/>
          <a:lstStyle/>
          <a:p>
            <a:pPr marL="0" indent="0" algn="ctr">
              <a:buNone/>
            </a:pPr>
            <a:r>
              <a:rPr lang="en-US" sz="900" dirty="0">
                <a:solidFill>
                  <a:srgbClr val="6B7280"/>
                </a:solidFill>
              </a:rPr>
              <a:t>3</a:t>
            </a:r>
            <a:endParaRPr lang="en-US" sz="900" dirty="0"/>
          </a:p>
        </p:txBody>
      </p:sp>
      <p:pic>
        <p:nvPicPr>
          <p:cNvPr id="35" name="object 16">
            <a:extLst>
              <a:ext uri="{FF2B5EF4-FFF2-40B4-BE49-F238E27FC236}">
                <a16:creationId xmlns:a16="http://schemas.microsoft.com/office/drawing/2014/main" id="{4C29BAAF-199A-7BAC-5CF9-F01AC8898E87}"/>
              </a:ext>
            </a:extLst>
          </p:cNvPr>
          <p:cNvPicPr/>
          <p:nvPr/>
        </p:nvPicPr>
        <p:blipFill>
          <a:blip r:embed="rId3" cstate="print"/>
          <a:stretch>
            <a:fillRect/>
          </a:stretch>
        </p:blipFill>
        <p:spPr>
          <a:xfrm>
            <a:off x="6604782" y="207147"/>
            <a:ext cx="2454812" cy="61897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4F46E5"/>
          </a:solidFill>
          <a:ln w="12700">
            <a:solidFill>
              <a:srgbClr val="4F46E5"/>
            </a:solidFill>
            <a:prstDash val="solid"/>
          </a:ln>
        </p:spPr>
        <p:txBody>
          <a:bodyPr/>
          <a:lstStyle/>
          <a:p>
            <a:endParaRPr lang="en-US"/>
          </a:p>
        </p:txBody>
      </p:sp>
      <p:sp>
        <p:nvSpPr>
          <p:cNvPr id="5" name="Text 3"/>
          <p:cNvSpPr/>
          <p:nvPr/>
        </p:nvSpPr>
        <p:spPr>
          <a:xfrm>
            <a:off x="320040" y="91440"/>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  Key Features</a:t>
            </a:r>
            <a:endParaRPr lang="en-US" sz="2200" dirty="0"/>
          </a:p>
        </p:txBody>
      </p:sp>
      <p:sp>
        <p:nvSpPr>
          <p:cNvPr id="6" name="Text 4"/>
          <p:cNvSpPr/>
          <p:nvPr/>
        </p:nvSpPr>
        <p:spPr>
          <a:xfrm>
            <a:off x="347472" y="603504"/>
            <a:ext cx="8046720" cy="320040"/>
          </a:xfrm>
          <a:prstGeom prst="rect">
            <a:avLst/>
          </a:prstGeom>
          <a:noFill/>
          <a:ln/>
        </p:spPr>
        <p:txBody>
          <a:bodyPr wrap="square" lIns="0" tIns="0" rIns="0" bIns="0" rtlCol="0" anchor="ctr"/>
          <a:lstStyle/>
          <a:p>
            <a:pPr marL="0" indent="0">
              <a:buNone/>
            </a:pPr>
            <a:r>
              <a:rPr lang="en-US" sz="1100" i="1" dirty="0">
                <a:solidFill>
                  <a:srgbClr val="C7D2FE"/>
                </a:solidFill>
              </a:rPr>
              <a:t>Six core features that make this system powerful and user-friendly</a:t>
            </a:r>
            <a:endParaRPr lang="en-US" sz="1100" dirty="0"/>
          </a:p>
        </p:txBody>
      </p:sp>
      <p:sp>
        <p:nvSpPr>
          <p:cNvPr id="7" name="Shape 5"/>
          <p:cNvSpPr/>
          <p:nvPr/>
        </p:nvSpPr>
        <p:spPr>
          <a:xfrm>
            <a:off x="274320" y="1115568"/>
            <a:ext cx="4261104" cy="1188720"/>
          </a:xfrm>
          <a:prstGeom prst="rect">
            <a:avLst/>
          </a:prstGeom>
          <a:solidFill>
            <a:srgbClr val="FFFFFF"/>
          </a:solidFill>
          <a:ln w="1524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8" name="Shape 6"/>
          <p:cNvSpPr/>
          <p:nvPr/>
        </p:nvSpPr>
        <p:spPr>
          <a:xfrm>
            <a:off x="274320" y="1115568"/>
            <a:ext cx="4261104" cy="73152"/>
          </a:xfrm>
          <a:prstGeom prst="rect">
            <a:avLst/>
          </a:prstGeom>
          <a:solidFill>
            <a:srgbClr val="4F46E5"/>
          </a:solidFill>
          <a:ln w="12700">
            <a:solidFill>
              <a:srgbClr val="4F46E5"/>
            </a:solidFill>
            <a:prstDash val="solid"/>
          </a:ln>
        </p:spPr>
        <p:txBody>
          <a:bodyPr/>
          <a:lstStyle/>
          <a:p>
            <a:endParaRPr lang="en-US"/>
          </a:p>
        </p:txBody>
      </p:sp>
      <p:sp>
        <p:nvSpPr>
          <p:cNvPr id="9" name="Shape 7"/>
          <p:cNvSpPr/>
          <p:nvPr/>
        </p:nvSpPr>
        <p:spPr>
          <a:xfrm>
            <a:off x="365760" y="1316736"/>
            <a:ext cx="475488" cy="475488"/>
          </a:xfrm>
          <a:prstGeom prst="ellipse">
            <a:avLst/>
          </a:prstGeom>
          <a:solidFill>
            <a:srgbClr val="4F46E5"/>
          </a:solidFill>
          <a:ln w="12700">
            <a:solidFill>
              <a:srgbClr val="4F46E5"/>
            </a:solidFill>
            <a:prstDash val="solid"/>
          </a:ln>
        </p:spPr>
        <p:txBody>
          <a:bodyPr/>
          <a:lstStyle/>
          <a:p>
            <a:endParaRPr lang="en-US"/>
          </a:p>
        </p:txBody>
      </p:sp>
      <p:sp>
        <p:nvSpPr>
          <p:cNvPr id="10" name="Text 8"/>
          <p:cNvSpPr/>
          <p:nvPr/>
        </p:nvSpPr>
        <p:spPr>
          <a:xfrm>
            <a:off x="365760" y="1316736"/>
            <a:ext cx="475488" cy="475488"/>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11" name="Text 9"/>
          <p:cNvSpPr/>
          <p:nvPr/>
        </p:nvSpPr>
        <p:spPr>
          <a:xfrm>
            <a:off x="950976" y="1252728"/>
            <a:ext cx="3456432" cy="347472"/>
          </a:xfrm>
          <a:prstGeom prst="rect">
            <a:avLst/>
          </a:prstGeom>
          <a:noFill/>
          <a:ln/>
        </p:spPr>
        <p:txBody>
          <a:bodyPr wrap="square" lIns="0" tIns="0" rIns="0" bIns="0" rtlCol="0" anchor="ctr"/>
          <a:lstStyle/>
          <a:p>
            <a:pPr marL="0" indent="0">
              <a:buNone/>
            </a:pPr>
            <a:r>
              <a:rPr lang="en-US" sz="1250" b="1" dirty="0">
                <a:solidFill>
                  <a:srgbClr val="1E1B4B"/>
                </a:solidFill>
              </a:rPr>
              <a:t>🆔  Unique Complaint ID</a:t>
            </a:r>
            <a:endParaRPr lang="en-US" sz="1250" dirty="0"/>
          </a:p>
        </p:txBody>
      </p:sp>
      <p:sp>
        <p:nvSpPr>
          <p:cNvPr id="12" name="Text 10"/>
          <p:cNvSpPr/>
          <p:nvPr/>
        </p:nvSpPr>
        <p:spPr>
          <a:xfrm>
            <a:off x="950976" y="1609344"/>
            <a:ext cx="3456432" cy="640080"/>
          </a:xfrm>
          <a:prstGeom prst="rect">
            <a:avLst/>
          </a:prstGeom>
          <a:noFill/>
          <a:ln/>
        </p:spPr>
        <p:txBody>
          <a:bodyPr wrap="square" lIns="0" tIns="0" rIns="0" bIns="0" rtlCol="0" anchor="ctr"/>
          <a:lstStyle/>
          <a:p>
            <a:pPr marL="0" indent="0">
              <a:lnSpc>
                <a:spcPct val="130000"/>
              </a:lnSpc>
              <a:buNone/>
            </a:pPr>
            <a:r>
              <a:rPr lang="en-US" sz="1050" dirty="0">
                <a:solidFill>
                  <a:srgbClr val="374151"/>
                </a:solidFill>
              </a:rPr>
              <a:t>Format CYB-YYYY-000001. Every case is instantly trackable by ID.</a:t>
            </a:r>
            <a:endParaRPr lang="en-US" sz="1050" dirty="0"/>
          </a:p>
        </p:txBody>
      </p:sp>
      <p:sp>
        <p:nvSpPr>
          <p:cNvPr id="13" name="Shape 11"/>
          <p:cNvSpPr/>
          <p:nvPr/>
        </p:nvSpPr>
        <p:spPr>
          <a:xfrm>
            <a:off x="4727448" y="1115568"/>
            <a:ext cx="4261104" cy="1188720"/>
          </a:xfrm>
          <a:prstGeom prst="rect">
            <a:avLst/>
          </a:prstGeom>
          <a:solidFill>
            <a:srgbClr val="FFFFFF"/>
          </a:solidFill>
          <a:ln w="1524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14" name="Shape 12"/>
          <p:cNvSpPr/>
          <p:nvPr/>
        </p:nvSpPr>
        <p:spPr>
          <a:xfrm>
            <a:off x="4727448" y="1115568"/>
            <a:ext cx="4261104" cy="73152"/>
          </a:xfrm>
          <a:prstGeom prst="rect">
            <a:avLst/>
          </a:prstGeom>
          <a:solidFill>
            <a:srgbClr val="7C3AED"/>
          </a:solidFill>
          <a:ln w="12700">
            <a:solidFill>
              <a:srgbClr val="7C3AED"/>
            </a:solidFill>
            <a:prstDash val="solid"/>
          </a:ln>
        </p:spPr>
        <p:txBody>
          <a:bodyPr/>
          <a:lstStyle/>
          <a:p>
            <a:endParaRPr lang="en-US"/>
          </a:p>
        </p:txBody>
      </p:sp>
      <p:sp>
        <p:nvSpPr>
          <p:cNvPr id="15" name="Shape 13"/>
          <p:cNvSpPr/>
          <p:nvPr/>
        </p:nvSpPr>
        <p:spPr>
          <a:xfrm>
            <a:off x="4818888" y="1316736"/>
            <a:ext cx="475488" cy="475488"/>
          </a:xfrm>
          <a:prstGeom prst="ellipse">
            <a:avLst/>
          </a:prstGeom>
          <a:solidFill>
            <a:srgbClr val="7C3AED"/>
          </a:solidFill>
          <a:ln w="12700">
            <a:solidFill>
              <a:srgbClr val="7C3AED"/>
            </a:solidFill>
            <a:prstDash val="solid"/>
          </a:ln>
        </p:spPr>
        <p:txBody>
          <a:bodyPr/>
          <a:lstStyle/>
          <a:p>
            <a:endParaRPr lang="en-US"/>
          </a:p>
        </p:txBody>
      </p:sp>
      <p:sp>
        <p:nvSpPr>
          <p:cNvPr id="16" name="Text 14"/>
          <p:cNvSpPr/>
          <p:nvPr/>
        </p:nvSpPr>
        <p:spPr>
          <a:xfrm>
            <a:off x="4818888" y="1316736"/>
            <a:ext cx="475488" cy="475488"/>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7" name="Text 15"/>
          <p:cNvSpPr/>
          <p:nvPr/>
        </p:nvSpPr>
        <p:spPr>
          <a:xfrm>
            <a:off x="5404104" y="1252728"/>
            <a:ext cx="3456432" cy="347472"/>
          </a:xfrm>
          <a:prstGeom prst="rect">
            <a:avLst/>
          </a:prstGeom>
          <a:noFill/>
          <a:ln/>
        </p:spPr>
        <p:txBody>
          <a:bodyPr wrap="square" lIns="0" tIns="0" rIns="0" bIns="0" rtlCol="0" anchor="ctr"/>
          <a:lstStyle/>
          <a:p>
            <a:pPr marL="0" indent="0">
              <a:buNone/>
            </a:pPr>
            <a:r>
              <a:rPr lang="en-US" sz="1250" b="1" dirty="0">
                <a:solidFill>
                  <a:srgbClr val="1E1B4B"/>
                </a:solidFill>
              </a:rPr>
              <a:t>🎯  Auto Severity Score</a:t>
            </a:r>
            <a:endParaRPr lang="en-US" sz="1250" dirty="0"/>
          </a:p>
        </p:txBody>
      </p:sp>
      <p:sp>
        <p:nvSpPr>
          <p:cNvPr id="18" name="Text 16"/>
          <p:cNvSpPr/>
          <p:nvPr/>
        </p:nvSpPr>
        <p:spPr>
          <a:xfrm>
            <a:off x="5404104" y="1609344"/>
            <a:ext cx="3456432" cy="640080"/>
          </a:xfrm>
          <a:prstGeom prst="rect">
            <a:avLst/>
          </a:prstGeom>
          <a:noFill/>
          <a:ln/>
        </p:spPr>
        <p:txBody>
          <a:bodyPr wrap="square" lIns="0" tIns="0" rIns="0" bIns="0" rtlCol="0" anchor="ctr"/>
          <a:lstStyle/>
          <a:p>
            <a:pPr marL="0" indent="0">
              <a:lnSpc>
                <a:spcPct val="130000"/>
              </a:lnSpc>
              <a:buNone/>
            </a:pPr>
            <a:r>
              <a:rPr lang="en-US" sz="1050" dirty="0">
                <a:solidFill>
                  <a:srgbClr val="374151"/>
                </a:solidFill>
              </a:rPr>
              <a:t>Crime type picked → severity 1–10 assigned automatically. No manual input.</a:t>
            </a:r>
            <a:endParaRPr lang="en-US" sz="1050" dirty="0"/>
          </a:p>
        </p:txBody>
      </p:sp>
      <p:sp>
        <p:nvSpPr>
          <p:cNvPr id="19" name="Shape 17"/>
          <p:cNvSpPr/>
          <p:nvPr/>
        </p:nvSpPr>
        <p:spPr>
          <a:xfrm>
            <a:off x="274320" y="2432304"/>
            <a:ext cx="4261104" cy="1188720"/>
          </a:xfrm>
          <a:prstGeom prst="rect">
            <a:avLst/>
          </a:prstGeom>
          <a:solidFill>
            <a:srgbClr val="FFFFFF"/>
          </a:solidFill>
          <a:ln w="1524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20" name="Shape 18"/>
          <p:cNvSpPr/>
          <p:nvPr/>
        </p:nvSpPr>
        <p:spPr>
          <a:xfrm>
            <a:off x="274320" y="2432304"/>
            <a:ext cx="4261104" cy="73152"/>
          </a:xfrm>
          <a:prstGeom prst="rect">
            <a:avLst/>
          </a:prstGeom>
          <a:solidFill>
            <a:srgbClr val="EF4444"/>
          </a:solidFill>
          <a:ln w="12700">
            <a:solidFill>
              <a:srgbClr val="EF4444"/>
            </a:solidFill>
            <a:prstDash val="solid"/>
          </a:ln>
        </p:spPr>
        <p:txBody>
          <a:bodyPr/>
          <a:lstStyle/>
          <a:p>
            <a:endParaRPr lang="en-US"/>
          </a:p>
        </p:txBody>
      </p:sp>
      <p:sp>
        <p:nvSpPr>
          <p:cNvPr id="21" name="Shape 19"/>
          <p:cNvSpPr/>
          <p:nvPr/>
        </p:nvSpPr>
        <p:spPr>
          <a:xfrm>
            <a:off x="365760" y="2633472"/>
            <a:ext cx="475488" cy="475488"/>
          </a:xfrm>
          <a:prstGeom prst="ellipse">
            <a:avLst/>
          </a:prstGeom>
          <a:solidFill>
            <a:srgbClr val="EF4444"/>
          </a:solidFill>
          <a:ln w="12700">
            <a:solidFill>
              <a:srgbClr val="EF4444"/>
            </a:solidFill>
            <a:prstDash val="solid"/>
          </a:ln>
        </p:spPr>
        <p:txBody>
          <a:bodyPr/>
          <a:lstStyle/>
          <a:p>
            <a:endParaRPr lang="en-US"/>
          </a:p>
        </p:txBody>
      </p:sp>
      <p:sp>
        <p:nvSpPr>
          <p:cNvPr id="22" name="Text 20"/>
          <p:cNvSpPr/>
          <p:nvPr/>
        </p:nvSpPr>
        <p:spPr>
          <a:xfrm>
            <a:off x="365760" y="2633472"/>
            <a:ext cx="475488" cy="475488"/>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23" name="Text 21"/>
          <p:cNvSpPr/>
          <p:nvPr/>
        </p:nvSpPr>
        <p:spPr>
          <a:xfrm>
            <a:off x="950976" y="2569464"/>
            <a:ext cx="3456432" cy="347472"/>
          </a:xfrm>
          <a:prstGeom prst="rect">
            <a:avLst/>
          </a:prstGeom>
          <a:noFill/>
          <a:ln/>
        </p:spPr>
        <p:txBody>
          <a:bodyPr wrap="square" lIns="0" tIns="0" rIns="0" bIns="0" rtlCol="0" anchor="ctr"/>
          <a:lstStyle/>
          <a:p>
            <a:pPr marL="0" indent="0">
              <a:buNone/>
            </a:pPr>
            <a:r>
              <a:rPr lang="en-US" sz="1250" b="1" dirty="0">
                <a:solidFill>
                  <a:srgbClr val="1E1B4B"/>
                </a:solidFill>
              </a:rPr>
              <a:t>🚨  Smart Priority Score</a:t>
            </a:r>
            <a:endParaRPr lang="en-US" sz="1250" dirty="0"/>
          </a:p>
        </p:txBody>
      </p:sp>
      <p:sp>
        <p:nvSpPr>
          <p:cNvPr id="24" name="Text 22"/>
          <p:cNvSpPr/>
          <p:nvPr/>
        </p:nvSpPr>
        <p:spPr>
          <a:xfrm>
            <a:off x="950976" y="2926080"/>
            <a:ext cx="3456432" cy="640080"/>
          </a:xfrm>
          <a:prstGeom prst="rect">
            <a:avLst/>
          </a:prstGeom>
          <a:noFill/>
          <a:ln/>
        </p:spPr>
        <p:txBody>
          <a:bodyPr wrap="square" lIns="0" tIns="0" rIns="0" bIns="0" rtlCol="0" anchor="ctr"/>
          <a:lstStyle/>
          <a:p>
            <a:pPr marL="0" indent="0">
              <a:lnSpc>
                <a:spcPct val="130000"/>
              </a:lnSpc>
              <a:buNone/>
            </a:pPr>
            <a:r>
              <a:rPr lang="en-US" sz="1050" dirty="0">
                <a:solidFill>
                  <a:srgbClr val="374151"/>
                </a:solidFill>
              </a:rPr>
              <a:t>Formula: Severity(40%) + Evidence(30%) + Time(20%) + Loss(10%).</a:t>
            </a:r>
            <a:endParaRPr lang="en-US" sz="1050" dirty="0"/>
          </a:p>
        </p:txBody>
      </p:sp>
      <p:sp>
        <p:nvSpPr>
          <p:cNvPr id="25" name="Shape 23"/>
          <p:cNvSpPr/>
          <p:nvPr/>
        </p:nvSpPr>
        <p:spPr>
          <a:xfrm>
            <a:off x="4727448" y="2432304"/>
            <a:ext cx="4261104" cy="1188720"/>
          </a:xfrm>
          <a:prstGeom prst="rect">
            <a:avLst/>
          </a:prstGeom>
          <a:solidFill>
            <a:srgbClr val="FFFFFF"/>
          </a:solidFill>
          <a:ln w="1524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26" name="Shape 24"/>
          <p:cNvSpPr/>
          <p:nvPr/>
        </p:nvSpPr>
        <p:spPr>
          <a:xfrm>
            <a:off x="4727448" y="2432304"/>
            <a:ext cx="4261104" cy="73152"/>
          </a:xfrm>
          <a:prstGeom prst="rect">
            <a:avLst/>
          </a:prstGeom>
          <a:solidFill>
            <a:srgbClr val="10B981"/>
          </a:solidFill>
          <a:ln w="12700">
            <a:solidFill>
              <a:srgbClr val="10B981"/>
            </a:solidFill>
            <a:prstDash val="solid"/>
          </a:ln>
        </p:spPr>
        <p:txBody>
          <a:bodyPr/>
          <a:lstStyle/>
          <a:p>
            <a:endParaRPr lang="en-US"/>
          </a:p>
        </p:txBody>
      </p:sp>
      <p:sp>
        <p:nvSpPr>
          <p:cNvPr id="27" name="Shape 25"/>
          <p:cNvSpPr/>
          <p:nvPr/>
        </p:nvSpPr>
        <p:spPr>
          <a:xfrm>
            <a:off x="4818888" y="2633472"/>
            <a:ext cx="475488" cy="475488"/>
          </a:xfrm>
          <a:prstGeom prst="ellipse">
            <a:avLst/>
          </a:prstGeom>
          <a:solidFill>
            <a:srgbClr val="10B981"/>
          </a:solidFill>
          <a:ln w="12700">
            <a:solidFill>
              <a:srgbClr val="10B981"/>
            </a:solidFill>
            <a:prstDash val="solid"/>
          </a:ln>
        </p:spPr>
        <p:txBody>
          <a:bodyPr/>
          <a:lstStyle/>
          <a:p>
            <a:endParaRPr lang="en-US"/>
          </a:p>
        </p:txBody>
      </p:sp>
      <p:sp>
        <p:nvSpPr>
          <p:cNvPr id="28" name="Text 26"/>
          <p:cNvSpPr/>
          <p:nvPr/>
        </p:nvSpPr>
        <p:spPr>
          <a:xfrm>
            <a:off x="4818888" y="2633472"/>
            <a:ext cx="475488" cy="475488"/>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9" name="Text 27"/>
          <p:cNvSpPr/>
          <p:nvPr/>
        </p:nvSpPr>
        <p:spPr>
          <a:xfrm>
            <a:off x="5404104" y="2569464"/>
            <a:ext cx="3456432" cy="347472"/>
          </a:xfrm>
          <a:prstGeom prst="rect">
            <a:avLst/>
          </a:prstGeom>
          <a:noFill/>
          <a:ln/>
        </p:spPr>
        <p:txBody>
          <a:bodyPr wrap="square" lIns="0" tIns="0" rIns="0" bIns="0" rtlCol="0" anchor="ctr"/>
          <a:lstStyle/>
          <a:p>
            <a:pPr marL="0" indent="0">
              <a:buNone/>
            </a:pPr>
            <a:r>
              <a:rPr lang="en-US" sz="1250" b="1" dirty="0">
                <a:solidFill>
                  <a:srgbClr val="1E1B4B"/>
                </a:solidFill>
              </a:rPr>
              <a:t>🔒  CAPTCHA Verification</a:t>
            </a:r>
            <a:endParaRPr lang="en-US" sz="1250" dirty="0"/>
          </a:p>
        </p:txBody>
      </p:sp>
      <p:sp>
        <p:nvSpPr>
          <p:cNvPr id="30" name="Text 28"/>
          <p:cNvSpPr/>
          <p:nvPr/>
        </p:nvSpPr>
        <p:spPr>
          <a:xfrm>
            <a:off x="5404104" y="2926080"/>
            <a:ext cx="3456432" cy="640080"/>
          </a:xfrm>
          <a:prstGeom prst="rect">
            <a:avLst/>
          </a:prstGeom>
          <a:noFill/>
          <a:ln/>
        </p:spPr>
        <p:txBody>
          <a:bodyPr wrap="square" lIns="0" tIns="0" rIns="0" bIns="0" rtlCol="0" anchor="ctr"/>
          <a:lstStyle/>
          <a:p>
            <a:pPr marL="0" indent="0">
              <a:lnSpc>
                <a:spcPct val="130000"/>
              </a:lnSpc>
              <a:buNone/>
            </a:pPr>
            <a:r>
              <a:rPr lang="en-US" sz="1050" dirty="0">
                <a:solidFill>
                  <a:srgbClr val="374151"/>
                </a:solidFill>
              </a:rPr>
              <a:t>6-char code using random.choice(). Expires in 5 min. Used at login &amp; signup.</a:t>
            </a:r>
            <a:endParaRPr lang="en-US" sz="1050" dirty="0"/>
          </a:p>
        </p:txBody>
      </p:sp>
      <p:sp>
        <p:nvSpPr>
          <p:cNvPr id="31" name="Shape 29"/>
          <p:cNvSpPr/>
          <p:nvPr/>
        </p:nvSpPr>
        <p:spPr>
          <a:xfrm>
            <a:off x="274320" y="3749040"/>
            <a:ext cx="4261104" cy="1188720"/>
          </a:xfrm>
          <a:prstGeom prst="rect">
            <a:avLst/>
          </a:prstGeom>
          <a:solidFill>
            <a:srgbClr val="FFFFFF"/>
          </a:solidFill>
          <a:ln w="1524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32" name="Shape 30"/>
          <p:cNvSpPr/>
          <p:nvPr/>
        </p:nvSpPr>
        <p:spPr>
          <a:xfrm>
            <a:off x="274320" y="3749040"/>
            <a:ext cx="4261104" cy="73152"/>
          </a:xfrm>
          <a:prstGeom prst="rect">
            <a:avLst/>
          </a:prstGeom>
          <a:solidFill>
            <a:srgbClr val="F59E0B"/>
          </a:solidFill>
          <a:ln w="12700">
            <a:solidFill>
              <a:srgbClr val="F59E0B"/>
            </a:solidFill>
            <a:prstDash val="solid"/>
          </a:ln>
        </p:spPr>
        <p:txBody>
          <a:bodyPr/>
          <a:lstStyle/>
          <a:p>
            <a:endParaRPr lang="en-US"/>
          </a:p>
        </p:txBody>
      </p:sp>
      <p:sp>
        <p:nvSpPr>
          <p:cNvPr id="33" name="Shape 31"/>
          <p:cNvSpPr/>
          <p:nvPr/>
        </p:nvSpPr>
        <p:spPr>
          <a:xfrm>
            <a:off x="365760" y="3950208"/>
            <a:ext cx="475488" cy="475488"/>
          </a:xfrm>
          <a:prstGeom prst="ellipse">
            <a:avLst/>
          </a:prstGeom>
          <a:solidFill>
            <a:srgbClr val="F59E0B"/>
          </a:solidFill>
          <a:ln w="12700">
            <a:solidFill>
              <a:srgbClr val="F59E0B"/>
            </a:solidFill>
            <a:prstDash val="solid"/>
          </a:ln>
        </p:spPr>
        <p:txBody>
          <a:bodyPr/>
          <a:lstStyle/>
          <a:p>
            <a:endParaRPr lang="en-US"/>
          </a:p>
        </p:txBody>
      </p:sp>
      <p:sp>
        <p:nvSpPr>
          <p:cNvPr id="34" name="Text 32"/>
          <p:cNvSpPr/>
          <p:nvPr/>
        </p:nvSpPr>
        <p:spPr>
          <a:xfrm>
            <a:off x="365760" y="3950208"/>
            <a:ext cx="475488" cy="475488"/>
          </a:xfrm>
          <a:prstGeom prst="rect">
            <a:avLst/>
          </a:prstGeom>
          <a:noFill/>
          <a:ln/>
        </p:spPr>
        <p:txBody>
          <a:bodyPr wrap="square" rtlCol="0" anchor="ctr"/>
          <a:lstStyle/>
          <a:p>
            <a:pPr marL="0" indent="0" algn="ctr">
              <a:buNone/>
            </a:pPr>
            <a:r>
              <a:rPr lang="en-US" sz="1400" b="1" dirty="0">
                <a:solidFill>
                  <a:srgbClr val="FFFFFF"/>
                </a:solidFill>
              </a:rPr>
              <a:t>5</a:t>
            </a:r>
            <a:endParaRPr lang="en-US" sz="1400" dirty="0"/>
          </a:p>
        </p:txBody>
      </p:sp>
      <p:sp>
        <p:nvSpPr>
          <p:cNvPr id="35" name="Text 33"/>
          <p:cNvSpPr/>
          <p:nvPr/>
        </p:nvSpPr>
        <p:spPr>
          <a:xfrm>
            <a:off x="950976" y="3886200"/>
            <a:ext cx="3456432" cy="347472"/>
          </a:xfrm>
          <a:prstGeom prst="rect">
            <a:avLst/>
          </a:prstGeom>
          <a:noFill/>
          <a:ln/>
        </p:spPr>
        <p:txBody>
          <a:bodyPr wrap="square" lIns="0" tIns="0" rIns="0" bIns="0" rtlCol="0" anchor="ctr"/>
          <a:lstStyle/>
          <a:p>
            <a:pPr marL="0" indent="0">
              <a:buNone/>
            </a:pPr>
            <a:r>
              <a:rPr lang="en-US" sz="1250" b="1" dirty="0">
                <a:solidFill>
                  <a:srgbClr val="1E1B4B"/>
                </a:solidFill>
              </a:rPr>
              <a:t>🔑  Forgot Password Flow</a:t>
            </a:r>
            <a:endParaRPr lang="en-US" sz="1250" dirty="0"/>
          </a:p>
        </p:txBody>
      </p:sp>
      <p:sp>
        <p:nvSpPr>
          <p:cNvPr id="36" name="Text 34"/>
          <p:cNvSpPr/>
          <p:nvPr/>
        </p:nvSpPr>
        <p:spPr>
          <a:xfrm>
            <a:off x="950976" y="4242816"/>
            <a:ext cx="3456432" cy="640080"/>
          </a:xfrm>
          <a:prstGeom prst="rect">
            <a:avLst/>
          </a:prstGeom>
          <a:noFill/>
          <a:ln/>
        </p:spPr>
        <p:txBody>
          <a:bodyPr wrap="square" lIns="0" tIns="0" rIns="0" bIns="0" rtlCol="0" anchor="ctr"/>
          <a:lstStyle/>
          <a:p>
            <a:pPr marL="0" indent="0">
              <a:lnSpc>
                <a:spcPct val="130000"/>
              </a:lnSpc>
              <a:buNone/>
            </a:pPr>
            <a:r>
              <a:rPr lang="en-US" sz="1050" dirty="0">
                <a:solidFill>
                  <a:srgbClr val="374151"/>
                </a:solidFill>
              </a:rPr>
              <a:t>3 steps: Email → CAPTCHA verify → Set new password. Fully secured.</a:t>
            </a:r>
            <a:endParaRPr lang="en-US" sz="1050" dirty="0"/>
          </a:p>
        </p:txBody>
      </p:sp>
      <p:sp>
        <p:nvSpPr>
          <p:cNvPr id="37" name="Shape 35"/>
          <p:cNvSpPr/>
          <p:nvPr/>
        </p:nvSpPr>
        <p:spPr>
          <a:xfrm>
            <a:off x="4727448" y="3749040"/>
            <a:ext cx="4261104" cy="1188720"/>
          </a:xfrm>
          <a:prstGeom prst="rect">
            <a:avLst/>
          </a:prstGeom>
          <a:solidFill>
            <a:srgbClr val="FFFFFF"/>
          </a:solidFill>
          <a:ln w="1524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38" name="Shape 36"/>
          <p:cNvSpPr/>
          <p:nvPr/>
        </p:nvSpPr>
        <p:spPr>
          <a:xfrm>
            <a:off x="4727448" y="3749040"/>
            <a:ext cx="4261104" cy="73152"/>
          </a:xfrm>
          <a:prstGeom prst="rect">
            <a:avLst/>
          </a:prstGeom>
          <a:solidFill>
            <a:srgbClr val="0EA5E9"/>
          </a:solidFill>
          <a:ln w="12700">
            <a:solidFill>
              <a:srgbClr val="0EA5E9"/>
            </a:solidFill>
            <a:prstDash val="solid"/>
          </a:ln>
        </p:spPr>
        <p:txBody>
          <a:bodyPr/>
          <a:lstStyle/>
          <a:p>
            <a:endParaRPr lang="en-US"/>
          </a:p>
        </p:txBody>
      </p:sp>
      <p:sp>
        <p:nvSpPr>
          <p:cNvPr id="39" name="Shape 37"/>
          <p:cNvSpPr/>
          <p:nvPr/>
        </p:nvSpPr>
        <p:spPr>
          <a:xfrm>
            <a:off x="4818888" y="3950208"/>
            <a:ext cx="475488" cy="475488"/>
          </a:xfrm>
          <a:prstGeom prst="ellipse">
            <a:avLst/>
          </a:prstGeom>
          <a:solidFill>
            <a:srgbClr val="0EA5E9"/>
          </a:solidFill>
          <a:ln w="12700">
            <a:solidFill>
              <a:srgbClr val="0EA5E9"/>
            </a:solidFill>
            <a:prstDash val="solid"/>
          </a:ln>
        </p:spPr>
        <p:txBody>
          <a:bodyPr/>
          <a:lstStyle/>
          <a:p>
            <a:endParaRPr lang="en-US"/>
          </a:p>
        </p:txBody>
      </p:sp>
      <p:sp>
        <p:nvSpPr>
          <p:cNvPr id="40" name="Text 38"/>
          <p:cNvSpPr/>
          <p:nvPr/>
        </p:nvSpPr>
        <p:spPr>
          <a:xfrm>
            <a:off x="4818888" y="3950208"/>
            <a:ext cx="475488" cy="475488"/>
          </a:xfrm>
          <a:prstGeom prst="rect">
            <a:avLst/>
          </a:prstGeom>
          <a:noFill/>
          <a:ln/>
        </p:spPr>
        <p:txBody>
          <a:bodyPr wrap="square" rtlCol="0" anchor="ctr"/>
          <a:lstStyle/>
          <a:p>
            <a:pPr marL="0" indent="0" algn="ctr">
              <a:buNone/>
            </a:pPr>
            <a:r>
              <a:rPr lang="en-US" sz="1400" b="1" dirty="0">
                <a:solidFill>
                  <a:srgbClr val="FFFFFF"/>
                </a:solidFill>
              </a:rPr>
              <a:t>6</a:t>
            </a:r>
            <a:endParaRPr lang="en-US" sz="1400" dirty="0"/>
          </a:p>
        </p:txBody>
      </p:sp>
      <p:sp>
        <p:nvSpPr>
          <p:cNvPr id="41" name="Text 39"/>
          <p:cNvSpPr/>
          <p:nvPr/>
        </p:nvSpPr>
        <p:spPr>
          <a:xfrm>
            <a:off x="5404104" y="3886200"/>
            <a:ext cx="3456432" cy="347472"/>
          </a:xfrm>
          <a:prstGeom prst="rect">
            <a:avLst/>
          </a:prstGeom>
          <a:noFill/>
          <a:ln/>
        </p:spPr>
        <p:txBody>
          <a:bodyPr wrap="square" lIns="0" tIns="0" rIns="0" bIns="0" rtlCol="0" anchor="ctr"/>
          <a:lstStyle/>
          <a:p>
            <a:pPr marL="0" indent="0">
              <a:buNone/>
            </a:pPr>
            <a:r>
              <a:rPr lang="en-US" sz="1250" b="1" dirty="0">
                <a:solidFill>
                  <a:srgbClr val="1E1B4B"/>
                </a:solidFill>
              </a:rPr>
              <a:t>📍  GPS Location Map</a:t>
            </a:r>
            <a:endParaRPr lang="en-US" sz="1250" dirty="0"/>
          </a:p>
        </p:txBody>
      </p:sp>
      <p:sp>
        <p:nvSpPr>
          <p:cNvPr id="42" name="Text 40"/>
          <p:cNvSpPr/>
          <p:nvPr/>
        </p:nvSpPr>
        <p:spPr>
          <a:xfrm>
            <a:off x="5404104" y="4242816"/>
            <a:ext cx="3456432" cy="640080"/>
          </a:xfrm>
          <a:prstGeom prst="rect">
            <a:avLst/>
          </a:prstGeom>
          <a:noFill/>
          <a:ln/>
        </p:spPr>
        <p:txBody>
          <a:bodyPr wrap="square" lIns="0" tIns="0" rIns="0" bIns="0" rtlCol="0" anchor="ctr"/>
          <a:lstStyle/>
          <a:p>
            <a:pPr marL="0" indent="0">
              <a:lnSpc>
                <a:spcPct val="130000"/>
              </a:lnSpc>
              <a:buNone/>
            </a:pPr>
            <a:r>
              <a:rPr lang="en-US" sz="1050" dirty="0">
                <a:solidFill>
                  <a:srgbClr val="374151"/>
                </a:solidFill>
              </a:rPr>
              <a:t>Citizens enter lat/long; Streamlit renders an interactive map of the crime.</a:t>
            </a:r>
            <a:endParaRPr lang="en-US" sz="1050" dirty="0"/>
          </a:p>
        </p:txBody>
      </p:sp>
      <p:sp>
        <p:nvSpPr>
          <p:cNvPr id="43" name="Text 41"/>
          <p:cNvSpPr/>
          <p:nvPr/>
        </p:nvSpPr>
        <p:spPr>
          <a:xfrm>
            <a:off x="8778240" y="4919472"/>
            <a:ext cx="320040" cy="201168"/>
          </a:xfrm>
          <a:prstGeom prst="rect">
            <a:avLst/>
          </a:prstGeom>
          <a:noFill/>
          <a:ln/>
        </p:spPr>
        <p:txBody>
          <a:bodyPr wrap="square" rtlCol="0" anchor="ctr"/>
          <a:lstStyle/>
          <a:p>
            <a:pPr marL="0" indent="0" algn="ctr">
              <a:buNone/>
            </a:pPr>
            <a:r>
              <a:rPr lang="en-US" sz="900" dirty="0">
                <a:solidFill>
                  <a:srgbClr val="6B7280"/>
                </a:solidFill>
              </a:rPr>
              <a:t>4</a:t>
            </a:r>
            <a:endParaRPr lang="en-US" sz="900" dirty="0"/>
          </a:p>
        </p:txBody>
      </p:sp>
      <p:pic>
        <p:nvPicPr>
          <p:cNvPr id="44" name="object 16">
            <a:extLst>
              <a:ext uri="{FF2B5EF4-FFF2-40B4-BE49-F238E27FC236}">
                <a16:creationId xmlns:a16="http://schemas.microsoft.com/office/drawing/2014/main" id="{E7BBB669-DA7F-E763-AE48-29D695947FBD}"/>
              </a:ext>
            </a:extLst>
          </p:cNvPr>
          <p:cNvPicPr/>
          <p:nvPr/>
        </p:nvPicPr>
        <p:blipFill>
          <a:blip r:embed="rId3" cstate="print"/>
          <a:stretch>
            <a:fillRect/>
          </a:stretch>
        </p:blipFill>
        <p:spPr>
          <a:xfrm>
            <a:off x="6604782" y="207147"/>
            <a:ext cx="2454812" cy="6189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4F46E5"/>
          </a:solidFill>
          <a:ln w="12700">
            <a:solidFill>
              <a:srgbClr val="4F46E5"/>
            </a:solidFill>
            <a:prstDash val="solid"/>
          </a:ln>
        </p:spPr>
        <p:txBody>
          <a:bodyPr/>
          <a:lstStyle/>
          <a:p>
            <a:endParaRPr lang="en-US"/>
          </a:p>
        </p:txBody>
      </p:sp>
      <p:sp>
        <p:nvSpPr>
          <p:cNvPr id="5" name="Text 3"/>
          <p:cNvSpPr/>
          <p:nvPr/>
        </p:nvSpPr>
        <p:spPr>
          <a:xfrm>
            <a:off x="320040" y="91440"/>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  How It Works</a:t>
            </a:r>
            <a:endParaRPr lang="en-US" sz="2200" dirty="0"/>
          </a:p>
        </p:txBody>
      </p:sp>
      <p:sp>
        <p:nvSpPr>
          <p:cNvPr id="6" name="Text 4"/>
          <p:cNvSpPr/>
          <p:nvPr/>
        </p:nvSpPr>
        <p:spPr>
          <a:xfrm>
            <a:off x="347472" y="603504"/>
            <a:ext cx="8046720" cy="320040"/>
          </a:xfrm>
          <a:prstGeom prst="rect">
            <a:avLst/>
          </a:prstGeom>
          <a:noFill/>
          <a:ln/>
        </p:spPr>
        <p:txBody>
          <a:bodyPr wrap="square" lIns="0" tIns="0" rIns="0" bIns="0" rtlCol="0" anchor="ctr"/>
          <a:lstStyle/>
          <a:p>
            <a:pPr marL="0" indent="0">
              <a:buNone/>
            </a:pPr>
            <a:r>
              <a:rPr lang="en-US" sz="1100" i="1" dirty="0">
                <a:solidFill>
                  <a:srgbClr val="C7D2FE"/>
                </a:solidFill>
              </a:rPr>
              <a:t>Step-by-step journey — from registration to case resolution</a:t>
            </a:r>
            <a:endParaRPr lang="en-US" sz="1100" dirty="0"/>
          </a:p>
        </p:txBody>
      </p:sp>
      <p:sp>
        <p:nvSpPr>
          <p:cNvPr id="7" name="Shape 5"/>
          <p:cNvSpPr/>
          <p:nvPr/>
        </p:nvSpPr>
        <p:spPr>
          <a:xfrm>
            <a:off x="539496" y="1005840"/>
            <a:ext cx="1207008" cy="1207008"/>
          </a:xfrm>
          <a:prstGeom prst="ellipse">
            <a:avLst/>
          </a:prstGeom>
          <a:solidFill>
            <a:srgbClr val="4F46E5">
              <a:alpha val="12000"/>
            </a:srgbClr>
          </a:solidFill>
          <a:ln w="12700">
            <a:solidFill>
              <a:srgbClr val="4F46E5"/>
            </a:solidFill>
            <a:prstDash val="solid"/>
          </a:ln>
        </p:spPr>
        <p:txBody>
          <a:bodyPr/>
          <a:lstStyle/>
          <a:p>
            <a:endParaRPr lang="en-US"/>
          </a:p>
        </p:txBody>
      </p:sp>
      <p:sp>
        <p:nvSpPr>
          <p:cNvPr id="8" name="Shape 6"/>
          <p:cNvSpPr/>
          <p:nvPr/>
        </p:nvSpPr>
        <p:spPr>
          <a:xfrm>
            <a:off x="658368" y="1115568"/>
            <a:ext cx="969264" cy="969264"/>
          </a:xfrm>
          <a:prstGeom prst="ellipse">
            <a:avLst/>
          </a:prstGeom>
          <a:solidFill>
            <a:srgbClr val="FFFFFF"/>
          </a:solidFill>
          <a:ln w="31750">
            <a:solidFill>
              <a:srgbClr val="4F46E5"/>
            </a:solidFill>
            <a:prstDash val="solid"/>
          </a:ln>
          <a:effectLst>
            <a:outerShdw blurRad="76200" dist="25400" dir="8100000" algn="bl" rotWithShape="0">
              <a:srgbClr val="000000">
                <a:alpha val="7000"/>
              </a:srgbClr>
            </a:outerShdw>
          </a:effectLst>
        </p:spPr>
        <p:txBody>
          <a:bodyPr/>
          <a:lstStyle/>
          <a:p>
            <a:endParaRPr lang="en-US"/>
          </a:p>
        </p:txBody>
      </p:sp>
      <p:sp>
        <p:nvSpPr>
          <p:cNvPr id="9" name="Text 7"/>
          <p:cNvSpPr/>
          <p:nvPr/>
        </p:nvSpPr>
        <p:spPr>
          <a:xfrm>
            <a:off x="658368" y="1188720"/>
            <a:ext cx="969264" cy="804672"/>
          </a:xfrm>
          <a:prstGeom prst="rect">
            <a:avLst/>
          </a:prstGeom>
          <a:noFill/>
          <a:ln/>
        </p:spPr>
        <p:txBody>
          <a:bodyPr wrap="square" rtlCol="0" anchor="ctr"/>
          <a:lstStyle/>
          <a:p>
            <a:pPr marL="0" indent="0" algn="ctr">
              <a:buNone/>
            </a:pPr>
            <a:r>
              <a:rPr lang="en-US" sz="3400" b="1" dirty="0">
                <a:solidFill>
                  <a:srgbClr val="4F46E5"/>
                </a:solidFill>
              </a:rPr>
              <a:t>1</a:t>
            </a:r>
            <a:endParaRPr lang="en-US" sz="3400" dirty="0"/>
          </a:p>
        </p:txBody>
      </p:sp>
      <p:sp>
        <p:nvSpPr>
          <p:cNvPr id="10" name="Shape 8"/>
          <p:cNvSpPr/>
          <p:nvPr/>
        </p:nvSpPr>
        <p:spPr>
          <a:xfrm>
            <a:off x="1810512" y="1591056"/>
            <a:ext cx="438912" cy="0"/>
          </a:xfrm>
          <a:prstGeom prst="line">
            <a:avLst/>
          </a:prstGeom>
          <a:noFill/>
          <a:ln w="19050">
            <a:solidFill>
              <a:srgbClr val="C7D2FE"/>
            </a:solidFill>
            <a:prstDash val="solid"/>
          </a:ln>
        </p:spPr>
        <p:txBody>
          <a:bodyPr/>
          <a:lstStyle/>
          <a:p>
            <a:endParaRPr lang="en-US"/>
          </a:p>
        </p:txBody>
      </p:sp>
      <p:sp>
        <p:nvSpPr>
          <p:cNvPr id="11" name="Text 9"/>
          <p:cNvSpPr/>
          <p:nvPr/>
        </p:nvSpPr>
        <p:spPr>
          <a:xfrm>
            <a:off x="2121408" y="1389888"/>
            <a:ext cx="201168" cy="420624"/>
          </a:xfrm>
          <a:prstGeom prst="rect">
            <a:avLst/>
          </a:prstGeom>
          <a:noFill/>
          <a:ln/>
        </p:spPr>
        <p:txBody>
          <a:bodyPr wrap="square" rtlCol="0" anchor="ctr"/>
          <a:lstStyle/>
          <a:p>
            <a:pPr marL="0" indent="0" algn="ctr">
              <a:buNone/>
            </a:pPr>
            <a:r>
              <a:rPr lang="en-US" sz="1800" dirty="0">
                <a:solidFill>
                  <a:srgbClr val="6B7280"/>
                </a:solidFill>
              </a:rPr>
              <a:t>›</a:t>
            </a:r>
            <a:endParaRPr lang="en-US" sz="1800" dirty="0"/>
          </a:p>
        </p:txBody>
      </p:sp>
      <p:sp>
        <p:nvSpPr>
          <p:cNvPr id="12" name="Text 10"/>
          <p:cNvSpPr/>
          <p:nvPr/>
        </p:nvSpPr>
        <p:spPr>
          <a:xfrm>
            <a:off x="438912" y="2194560"/>
            <a:ext cx="1426464" cy="475488"/>
          </a:xfrm>
          <a:prstGeom prst="rect">
            <a:avLst/>
          </a:prstGeom>
          <a:noFill/>
          <a:ln/>
        </p:spPr>
        <p:txBody>
          <a:bodyPr wrap="square" rtlCol="0" anchor="ctr"/>
          <a:lstStyle/>
          <a:p>
            <a:pPr marL="0" indent="0" algn="ctr">
              <a:buNone/>
            </a:pPr>
            <a:r>
              <a:rPr lang="en-US" sz="1100" b="1" dirty="0">
                <a:solidFill>
                  <a:srgbClr val="4F46E5"/>
                </a:solidFill>
              </a:rPr>
              <a:t>Register</a:t>
            </a:r>
            <a:endParaRPr lang="en-US" sz="1100" dirty="0"/>
          </a:p>
          <a:p>
            <a:pPr marL="0" indent="0" algn="ctr">
              <a:buNone/>
            </a:pPr>
            <a:r>
              <a:rPr lang="en-US" sz="1100" b="1" dirty="0">
                <a:solidFill>
                  <a:srgbClr val="4F46E5"/>
                </a:solidFill>
              </a:rPr>
              <a:t>&amp; Verify</a:t>
            </a:r>
            <a:endParaRPr lang="en-US" sz="1100" dirty="0"/>
          </a:p>
        </p:txBody>
      </p:sp>
      <p:sp>
        <p:nvSpPr>
          <p:cNvPr id="13" name="Shape 11"/>
          <p:cNvSpPr/>
          <p:nvPr/>
        </p:nvSpPr>
        <p:spPr>
          <a:xfrm>
            <a:off x="384048" y="2779776"/>
            <a:ext cx="1572768" cy="146304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14" name="Shape 12"/>
          <p:cNvSpPr/>
          <p:nvPr/>
        </p:nvSpPr>
        <p:spPr>
          <a:xfrm>
            <a:off x="384048" y="2779776"/>
            <a:ext cx="1572768" cy="64008"/>
          </a:xfrm>
          <a:prstGeom prst="rect">
            <a:avLst/>
          </a:prstGeom>
          <a:solidFill>
            <a:srgbClr val="4F46E5"/>
          </a:solidFill>
          <a:ln w="12700">
            <a:solidFill>
              <a:srgbClr val="4F46E5"/>
            </a:solidFill>
            <a:prstDash val="solid"/>
          </a:ln>
        </p:spPr>
        <p:txBody>
          <a:bodyPr/>
          <a:lstStyle/>
          <a:p>
            <a:endParaRPr lang="en-US"/>
          </a:p>
        </p:txBody>
      </p:sp>
      <p:sp>
        <p:nvSpPr>
          <p:cNvPr id="15" name="Text 13"/>
          <p:cNvSpPr/>
          <p:nvPr/>
        </p:nvSpPr>
        <p:spPr>
          <a:xfrm>
            <a:off x="475488" y="2907792"/>
            <a:ext cx="1389888" cy="1261872"/>
          </a:xfrm>
          <a:prstGeom prst="rect">
            <a:avLst/>
          </a:prstGeom>
          <a:noFill/>
          <a:ln/>
        </p:spPr>
        <p:txBody>
          <a:bodyPr wrap="square" rtlCol="0" anchor="ctr"/>
          <a:lstStyle/>
          <a:p>
            <a:pPr marL="0" indent="0">
              <a:lnSpc>
                <a:spcPct val="140000"/>
              </a:lnSpc>
              <a:buNone/>
            </a:pPr>
            <a:r>
              <a:rPr lang="en-US" sz="980" dirty="0">
                <a:solidFill>
                  <a:srgbClr val="374151"/>
                </a:solidFill>
              </a:rPr>
              <a:t>Create account → solve CAPTCHA → account activated.</a:t>
            </a:r>
            <a:endParaRPr lang="en-US" sz="980" dirty="0"/>
          </a:p>
        </p:txBody>
      </p:sp>
      <p:sp>
        <p:nvSpPr>
          <p:cNvPr id="16" name="Shape 14"/>
          <p:cNvSpPr/>
          <p:nvPr/>
        </p:nvSpPr>
        <p:spPr>
          <a:xfrm>
            <a:off x="2258568" y="1005840"/>
            <a:ext cx="1207008" cy="1207008"/>
          </a:xfrm>
          <a:prstGeom prst="ellipse">
            <a:avLst/>
          </a:prstGeom>
          <a:solidFill>
            <a:srgbClr val="7C3AED">
              <a:alpha val="12000"/>
            </a:srgbClr>
          </a:solidFill>
          <a:ln w="12700">
            <a:solidFill>
              <a:srgbClr val="7C3AED"/>
            </a:solidFill>
            <a:prstDash val="solid"/>
          </a:ln>
        </p:spPr>
        <p:txBody>
          <a:bodyPr/>
          <a:lstStyle/>
          <a:p>
            <a:endParaRPr lang="en-US"/>
          </a:p>
        </p:txBody>
      </p:sp>
      <p:sp>
        <p:nvSpPr>
          <p:cNvPr id="17" name="Shape 15"/>
          <p:cNvSpPr/>
          <p:nvPr/>
        </p:nvSpPr>
        <p:spPr>
          <a:xfrm>
            <a:off x="2377440" y="1115568"/>
            <a:ext cx="969264" cy="969264"/>
          </a:xfrm>
          <a:prstGeom prst="ellipse">
            <a:avLst/>
          </a:prstGeom>
          <a:solidFill>
            <a:srgbClr val="FFFFFF"/>
          </a:solidFill>
          <a:ln w="31750">
            <a:solidFill>
              <a:srgbClr val="7C3AED"/>
            </a:solidFill>
            <a:prstDash val="solid"/>
          </a:ln>
          <a:effectLst>
            <a:outerShdw blurRad="76200" dist="25400" dir="8100000" algn="bl" rotWithShape="0">
              <a:srgbClr val="000000">
                <a:alpha val="7000"/>
              </a:srgbClr>
            </a:outerShdw>
          </a:effectLst>
        </p:spPr>
        <p:txBody>
          <a:bodyPr/>
          <a:lstStyle/>
          <a:p>
            <a:endParaRPr lang="en-US"/>
          </a:p>
        </p:txBody>
      </p:sp>
      <p:sp>
        <p:nvSpPr>
          <p:cNvPr id="18" name="Text 16"/>
          <p:cNvSpPr/>
          <p:nvPr/>
        </p:nvSpPr>
        <p:spPr>
          <a:xfrm>
            <a:off x="2377440" y="1188720"/>
            <a:ext cx="969264" cy="804672"/>
          </a:xfrm>
          <a:prstGeom prst="rect">
            <a:avLst/>
          </a:prstGeom>
          <a:noFill/>
          <a:ln/>
        </p:spPr>
        <p:txBody>
          <a:bodyPr wrap="square" rtlCol="0" anchor="ctr"/>
          <a:lstStyle/>
          <a:p>
            <a:pPr marL="0" indent="0" algn="ctr">
              <a:buNone/>
            </a:pPr>
            <a:r>
              <a:rPr lang="en-US" sz="3400" b="1" dirty="0">
                <a:solidFill>
                  <a:srgbClr val="7C3AED"/>
                </a:solidFill>
              </a:rPr>
              <a:t>2</a:t>
            </a:r>
            <a:endParaRPr lang="en-US" sz="3400" dirty="0"/>
          </a:p>
        </p:txBody>
      </p:sp>
      <p:sp>
        <p:nvSpPr>
          <p:cNvPr id="19" name="Shape 17"/>
          <p:cNvSpPr/>
          <p:nvPr/>
        </p:nvSpPr>
        <p:spPr>
          <a:xfrm>
            <a:off x="3529584" y="1591056"/>
            <a:ext cx="438912" cy="0"/>
          </a:xfrm>
          <a:prstGeom prst="line">
            <a:avLst/>
          </a:prstGeom>
          <a:noFill/>
          <a:ln w="19050">
            <a:solidFill>
              <a:srgbClr val="C7D2FE"/>
            </a:solidFill>
            <a:prstDash val="solid"/>
          </a:ln>
        </p:spPr>
        <p:txBody>
          <a:bodyPr/>
          <a:lstStyle/>
          <a:p>
            <a:endParaRPr lang="en-US"/>
          </a:p>
        </p:txBody>
      </p:sp>
      <p:sp>
        <p:nvSpPr>
          <p:cNvPr id="20" name="Text 18"/>
          <p:cNvSpPr/>
          <p:nvPr/>
        </p:nvSpPr>
        <p:spPr>
          <a:xfrm>
            <a:off x="3840480" y="1389888"/>
            <a:ext cx="201168" cy="420624"/>
          </a:xfrm>
          <a:prstGeom prst="rect">
            <a:avLst/>
          </a:prstGeom>
          <a:noFill/>
          <a:ln/>
        </p:spPr>
        <p:txBody>
          <a:bodyPr wrap="square" rtlCol="0" anchor="ctr"/>
          <a:lstStyle/>
          <a:p>
            <a:pPr marL="0" indent="0" algn="ctr">
              <a:buNone/>
            </a:pPr>
            <a:r>
              <a:rPr lang="en-US" sz="1800" dirty="0">
                <a:solidFill>
                  <a:srgbClr val="6B7280"/>
                </a:solidFill>
              </a:rPr>
              <a:t>›</a:t>
            </a:r>
            <a:endParaRPr lang="en-US" sz="1800" dirty="0"/>
          </a:p>
        </p:txBody>
      </p:sp>
      <p:sp>
        <p:nvSpPr>
          <p:cNvPr id="21" name="Text 19"/>
          <p:cNvSpPr/>
          <p:nvPr/>
        </p:nvSpPr>
        <p:spPr>
          <a:xfrm>
            <a:off x="2157984" y="2194560"/>
            <a:ext cx="1426464" cy="475488"/>
          </a:xfrm>
          <a:prstGeom prst="rect">
            <a:avLst/>
          </a:prstGeom>
          <a:noFill/>
          <a:ln/>
        </p:spPr>
        <p:txBody>
          <a:bodyPr wrap="square" rtlCol="0" anchor="ctr"/>
          <a:lstStyle/>
          <a:p>
            <a:pPr marL="0" indent="0" algn="ctr">
              <a:buNone/>
            </a:pPr>
            <a:r>
              <a:rPr lang="en-US" sz="1100" b="1" dirty="0">
                <a:solidFill>
                  <a:srgbClr val="7C3AED"/>
                </a:solidFill>
              </a:rPr>
              <a:t>Login</a:t>
            </a:r>
            <a:endParaRPr lang="en-US" sz="1100" dirty="0"/>
          </a:p>
          <a:p>
            <a:pPr marL="0" indent="0" algn="ctr">
              <a:buNone/>
            </a:pPr>
            <a:r>
              <a:rPr lang="en-US" sz="1100" b="1" dirty="0">
                <a:solidFill>
                  <a:srgbClr val="7C3AED"/>
                </a:solidFill>
              </a:rPr>
              <a:t>Securely</a:t>
            </a:r>
            <a:endParaRPr lang="en-US" sz="1100" dirty="0"/>
          </a:p>
        </p:txBody>
      </p:sp>
      <p:sp>
        <p:nvSpPr>
          <p:cNvPr id="22" name="Shape 20"/>
          <p:cNvSpPr/>
          <p:nvPr/>
        </p:nvSpPr>
        <p:spPr>
          <a:xfrm>
            <a:off x="2103120" y="2779776"/>
            <a:ext cx="1572768" cy="146304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23" name="Shape 21"/>
          <p:cNvSpPr/>
          <p:nvPr/>
        </p:nvSpPr>
        <p:spPr>
          <a:xfrm>
            <a:off x="2103120" y="2779776"/>
            <a:ext cx="1572768" cy="64008"/>
          </a:xfrm>
          <a:prstGeom prst="rect">
            <a:avLst/>
          </a:prstGeom>
          <a:solidFill>
            <a:srgbClr val="7C3AED"/>
          </a:solidFill>
          <a:ln w="12700">
            <a:solidFill>
              <a:srgbClr val="7C3AED"/>
            </a:solidFill>
            <a:prstDash val="solid"/>
          </a:ln>
        </p:spPr>
        <p:txBody>
          <a:bodyPr/>
          <a:lstStyle/>
          <a:p>
            <a:endParaRPr lang="en-US"/>
          </a:p>
        </p:txBody>
      </p:sp>
      <p:sp>
        <p:nvSpPr>
          <p:cNvPr id="24" name="Text 22"/>
          <p:cNvSpPr/>
          <p:nvPr/>
        </p:nvSpPr>
        <p:spPr>
          <a:xfrm>
            <a:off x="2194560" y="2907792"/>
            <a:ext cx="1389888" cy="1261872"/>
          </a:xfrm>
          <a:prstGeom prst="rect">
            <a:avLst/>
          </a:prstGeom>
          <a:noFill/>
          <a:ln/>
        </p:spPr>
        <p:txBody>
          <a:bodyPr wrap="square" rtlCol="0" anchor="ctr"/>
          <a:lstStyle/>
          <a:p>
            <a:pPr marL="0" indent="0">
              <a:lnSpc>
                <a:spcPct val="140000"/>
              </a:lnSpc>
              <a:buNone/>
            </a:pPr>
            <a:r>
              <a:rPr lang="en-US" sz="980" dirty="0">
                <a:solidFill>
                  <a:srgbClr val="374151"/>
                </a:solidFill>
              </a:rPr>
              <a:t>Enter credentials → new CAPTCHA → verified login.</a:t>
            </a:r>
            <a:endParaRPr lang="en-US" sz="980" dirty="0"/>
          </a:p>
        </p:txBody>
      </p:sp>
      <p:sp>
        <p:nvSpPr>
          <p:cNvPr id="25" name="Shape 23"/>
          <p:cNvSpPr/>
          <p:nvPr/>
        </p:nvSpPr>
        <p:spPr>
          <a:xfrm>
            <a:off x="3977640" y="1005840"/>
            <a:ext cx="1207008" cy="1207008"/>
          </a:xfrm>
          <a:prstGeom prst="ellipse">
            <a:avLst/>
          </a:prstGeom>
          <a:solidFill>
            <a:srgbClr val="EF4444">
              <a:alpha val="12000"/>
            </a:srgbClr>
          </a:solidFill>
          <a:ln w="12700">
            <a:solidFill>
              <a:srgbClr val="EF4444"/>
            </a:solidFill>
            <a:prstDash val="solid"/>
          </a:ln>
        </p:spPr>
        <p:txBody>
          <a:bodyPr/>
          <a:lstStyle/>
          <a:p>
            <a:endParaRPr lang="en-US"/>
          </a:p>
        </p:txBody>
      </p:sp>
      <p:sp>
        <p:nvSpPr>
          <p:cNvPr id="26" name="Shape 24"/>
          <p:cNvSpPr/>
          <p:nvPr/>
        </p:nvSpPr>
        <p:spPr>
          <a:xfrm>
            <a:off x="4096512" y="1115568"/>
            <a:ext cx="969264" cy="969264"/>
          </a:xfrm>
          <a:prstGeom prst="ellipse">
            <a:avLst/>
          </a:prstGeom>
          <a:solidFill>
            <a:srgbClr val="FFFFFF"/>
          </a:solidFill>
          <a:ln w="31750">
            <a:solidFill>
              <a:srgbClr val="EF4444"/>
            </a:solidFill>
            <a:prstDash val="solid"/>
          </a:ln>
          <a:effectLst>
            <a:outerShdw blurRad="76200" dist="25400" dir="8100000" algn="bl" rotWithShape="0">
              <a:srgbClr val="000000">
                <a:alpha val="7000"/>
              </a:srgbClr>
            </a:outerShdw>
          </a:effectLst>
        </p:spPr>
        <p:txBody>
          <a:bodyPr/>
          <a:lstStyle/>
          <a:p>
            <a:endParaRPr lang="en-US"/>
          </a:p>
        </p:txBody>
      </p:sp>
      <p:sp>
        <p:nvSpPr>
          <p:cNvPr id="27" name="Text 25"/>
          <p:cNvSpPr/>
          <p:nvPr/>
        </p:nvSpPr>
        <p:spPr>
          <a:xfrm>
            <a:off x="4096512" y="1188720"/>
            <a:ext cx="969264" cy="804672"/>
          </a:xfrm>
          <a:prstGeom prst="rect">
            <a:avLst/>
          </a:prstGeom>
          <a:noFill/>
          <a:ln/>
        </p:spPr>
        <p:txBody>
          <a:bodyPr wrap="square" rtlCol="0" anchor="ctr"/>
          <a:lstStyle/>
          <a:p>
            <a:pPr marL="0" indent="0" algn="ctr">
              <a:buNone/>
            </a:pPr>
            <a:r>
              <a:rPr lang="en-US" sz="3400" b="1" dirty="0">
                <a:solidFill>
                  <a:srgbClr val="EF4444"/>
                </a:solidFill>
              </a:rPr>
              <a:t>3</a:t>
            </a:r>
            <a:endParaRPr lang="en-US" sz="3400" dirty="0"/>
          </a:p>
        </p:txBody>
      </p:sp>
      <p:sp>
        <p:nvSpPr>
          <p:cNvPr id="28" name="Shape 26"/>
          <p:cNvSpPr/>
          <p:nvPr/>
        </p:nvSpPr>
        <p:spPr>
          <a:xfrm>
            <a:off x="5248656" y="1591056"/>
            <a:ext cx="438912" cy="0"/>
          </a:xfrm>
          <a:prstGeom prst="line">
            <a:avLst/>
          </a:prstGeom>
          <a:noFill/>
          <a:ln w="19050">
            <a:solidFill>
              <a:srgbClr val="C7D2FE"/>
            </a:solidFill>
            <a:prstDash val="solid"/>
          </a:ln>
        </p:spPr>
        <p:txBody>
          <a:bodyPr/>
          <a:lstStyle/>
          <a:p>
            <a:endParaRPr lang="en-US"/>
          </a:p>
        </p:txBody>
      </p:sp>
      <p:sp>
        <p:nvSpPr>
          <p:cNvPr id="29" name="Text 27"/>
          <p:cNvSpPr/>
          <p:nvPr/>
        </p:nvSpPr>
        <p:spPr>
          <a:xfrm>
            <a:off x="5559552" y="1389888"/>
            <a:ext cx="201168" cy="420624"/>
          </a:xfrm>
          <a:prstGeom prst="rect">
            <a:avLst/>
          </a:prstGeom>
          <a:noFill/>
          <a:ln/>
        </p:spPr>
        <p:txBody>
          <a:bodyPr wrap="square" rtlCol="0" anchor="ctr"/>
          <a:lstStyle/>
          <a:p>
            <a:pPr marL="0" indent="0" algn="ctr">
              <a:buNone/>
            </a:pPr>
            <a:r>
              <a:rPr lang="en-US" sz="1800" dirty="0">
                <a:solidFill>
                  <a:srgbClr val="6B7280"/>
                </a:solidFill>
              </a:rPr>
              <a:t>›</a:t>
            </a:r>
            <a:endParaRPr lang="en-US" sz="1800" dirty="0"/>
          </a:p>
        </p:txBody>
      </p:sp>
      <p:sp>
        <p:nvSpPr>
          <p:cNvPr id="30" name="Text 28"/>
          <p:cNvSpPr/>
          <p:nvPr/>
        </p:nvSpPr>
        <p:spPr>
          <a:xfrm>
            <a:off x="3877056" y="2194560"/>
            <a:ext cx="1426464" cy="475488"/>
          </a:xfrm>
          <a:prstGeom prst="rect">
            <a:avLst/>
          </a:prstGeom>
          <a:noFill/>
          <a:ln/>
        </p:spPr>
        <p:txBody>
          <a:bodyPr wrap="square" rtlCol="0" anchor="ctr"/>
          <a:lstStyle/>
          <a:p>
            <a:pPr marL="0" indent="0" algn="ctr">
              <a:buNone/>
            </a:pPr>
            <a:r>
              <a:rPr lang="en-US" sz="1100" b="1" dirty="0">
                <a:solidFill>
                  <a:srgbClr val="EF4444"/>
                </a:solidFill>
              </a:rPr>
              <a:t>File a</a:t>
            </a:r>
            <a:endParaRPr lang="en-US" sz="1100" dirty="0"/>
          </a:p>
          <a:p>
            <a:pPr marL="0" indent="0" algn="ctr">
              <a:buNone/>
            </a:pPr>
            <a:r>
              <a:rPr lang="en-US" sz="1100" b="1" dirty="0">
                <a:solidFill>
                  <a:srgbClr val="EF4444"/>
                </a:solidFill>
              </a:rPr>
              <a:t>Complaint</a:t>
            </a:r>
            <a:endParaRPr lang="en-US" sz="1100" dirty="0"/>
          </a:p>
        </p:txBody>
      </p:sp>
      <p:sp>
        <p:nvSpPr>
          <p:cNvPr id="31" name="Shape 29"/>
          <p:cNvSpPr/>
          <p:nvPr/>
        </p:nvSpPr>
        <p:spPr>
          <a:xfrm>
            <a:off x="3822192" y="2779776"/>
            <a:ext cx="1572768" cy="146304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32" name="Shape 30"/>
          <p:cNvSpPr/>
          <p:nvPr/>
        </p:nvSpPr>
        <p:spPr>
          <a:xfrm>
            <a:off x="3822192" y="2779776"/>
            <a:ext cx="1572768" cy="64008"/>
          </a:xfrm>
          <a:prstGeom prst="rect">
            <a:avLst/>
          </a:prstGeom>
          <a:solidFill>
            <a:srgbClr val="EF4444"/>
          </a:solidFill>
          <a:ln w="12700">
            <a:solidFill>
              <a:srgbClr val="EF4444"/>
            </a:solidFill>
            <a:prstDash val="solid"/>
          </a:ln>
        </p:spPr>
        <p:txBody>
          <a:bodyPr/>
          <a:lstStyle/>
          <a:p>
            <a:endParaRPr lang="en-US"/>
          </a:p>
        </p:txBody>
      </p:sp>
      <p:sp>
        <p:nvSpPr>
          <p:cNvPr id="33" name="Text 31"/>
          <p:cNvSpPr/>
          <p:nvPr/>
        </p:nvSpPr>
        <p:spPr>
          <a:xfrm>
            <a:off x="3913632" y="2907792"/>
            <a:ext cx="1389888" cy="1261872"/>
          </a:xfrm>
          <a:prstGeom prst="rect">
            <a:avLst/>
          </a:prstGeom>
          <a:noFill/>
          <a:ln/>
        </p:spPr>
        <p:txBody>
          <a:bodyPr wrap="square" rtlCol="0" anchor="ctr"/>
          <a:lstStyle/>
          <a:p>
            <a:pPr marL="0" indent="0">
              <a:lnSpc>
                <a:spcPct val="140000"/>
              </a:lnSpc>
              <a:buNone/>
            </a:pPr>
            <a:r>
              <a:rPr lang="en-US" sz="980" dirty="0">
                <a:solidFill>
                  <a:srgbClr val="374151"/>
                </a:solidFill>
              </a:rPr>
              <a:t>Pick crime type → auto-severity → enter details &amp; upload proof.</a:t>
            </a:r>
            <a:endParaRPr lang="en-US" sz="980" dirty="0"/>
          </a:p>
        </p:txBody>
      </p:sp>
      <p:sp>
        <p:nvSpPr>
          <p:cNvPr id="34" name="Shape 32"/>
          <p:cNvSpPr/>
          <p:nvPr/>
        </p:nvSpPr>
        <p:spPr>
          <a:xfrm>
            <a:off x="5696712" y="1005840"/>
            <a:ext cx="1207008" cy="1207008"/>
          </a:xfrm>
          <a:prstGeom prst="ellipse">
            <a:avLst/>
          </a:prstGeom>
          <a:solidFill>
            <a:srgbClr val="F59E0B">
              <a:alpha val="12000"/>
            </a:srgbClr>
          </a:solidFill>
          <a:ln w="12700">
            <a:solidFill>
              <a:srgbClr val="F59E0B"/>
            </a:solidFill>
            <a:prstDash val="solid"/>
          </a:ln>
        </p:spPr>
        <p:txBody>
          <a:bodyPr/>
          <a:lstStyle/>
          <a:p>
            <a:endParaRPr lang="en-US"/>
          </a:p>
        </p:txBody>
      </p:sp>
      <p:sp>
        <p:nvSpPr>
          <p:cNvPr id="35" name="Shape 33"/>
          <p:cNvSpPr/>
          <p:nvPr/>
        </p:nvSpPr>
        <p:spPr>
          <a:xfrm>
            <a:off x="5815584" y="1115568"/>
            <a:ext cx="969264" cy="969264"/>
          </a:xfrm>
          <a:prstGeom prst="ellipse">
            <a:avLst/>
          </a:prstGeom>
          <a:solidFill>
            <a:srgbClr val="FFFFFF"/>
          </a:solidFill>
          <a:ln w="31750">
            <a:solidFill>
              <a:srgbClr val="F59E0B"/>
            </a:solidFill>
            <a:prstDash val="solid"/>
          </a:ln>
          <a:effectLst>
            <a:outerShdw blurRad="76200" dist="25400" dir="8100000" algn="bl" rotWithShape="0">
              <a:srgbClr val="000000">
                <a:alpha val="7000"/>
              </a:srgbClr>
            </a:outerShdw>
          </a:effectLst>
        </p:spPr>
        <p:txBody>
          <a:bodyPr/>
          <a:lstStyle/>
          <a:p>
            <a:endParaRPr lang="en-US"/>
          </a:p>
        </p:txBody>
      </p:sp>
      <p:sp>
        <p:nvSpPr>
          <p:cNvPr id="36" name="Text 34"/>
          <p:cNvSpPr/>
          <p:nvPr/>
        </p:nvSpPr>
        <p:spPr>
          <a:xfrm>
            <a:off x="5815584" y="1188720"/>
            <a:ext cx="969264" cy="804672"/>
          </a:xfrm>
          <a:prstGeom prst="rect">
            <a:avLst/>
          </a:prstGeom>
          <a:noFill/>
          <a:ln/>
        </p:spPr>
        <p:txBody>
          <a:bodyPr wrap="square" rtlCol="0" anchor="ctr"/>
          <a:lstStyle/>
          <a:p>
            <a:pPr marL="0" indent="0" algn="ctr">
              <a:buNone/>
            </a:pPr>
            <a:r>
              <a:rPr lang="en-US" sz="3400" b="1" dirty="0">
                <a:solidFill>
                  <a:srgbClr val="F59E0B"/>
                </a:solidFill>
              </a:rPr>
              <a:t>4</a:t>
            </a:r>
            <a:endParaRPr lang="en-US" sz="3400" dirty="0"/>
          </a:p>
        </p:txBody>
      </p:sp>
      <p:sp>
        <p:nvSpPr>
          <p:cNvPr id="37" name="Shape 35"/>
          <p:cNvSpPr/>
          <p:nvPr/>
        </p:nvSpPr>
        <p:spPr>
          <a:xfrm>
            <a:off x="6967728" y="1591056"/>
            <a:ext cx="438912" cy="0"/>
          </a:xfrm>
          <a:prstGeom prst="line">
            <a:avLst/>
          </a:prstGeom>
          <a:noFill/>
          <a:ln w="19050">
            <a:solidFill>
              <a:srgbClr val="C7D2FE"/>
            </a:solidFill>
            <a:prstDash val="solid"/>
          </a:ln>
        </p:spPr>
        <p:txBody>
          <a:bodyPr/>
          <a:lstStyle/>
          <a:p>
            <a:endParaRPr lang="en-US"/>
          </a:p>
        </p:txBody>
      </p:sp>
      <p:sp>
        <p:nvSpPr>
          <p:cNvPr id="38" name="Text 36"/>
          <p:cNvSpPr/>
          <p:nvPr/>
        </p:nvSpPr>
        <p:spPr>
          <a:xfrm>
            <a:off x="7278624" y="1389888"/>
            <a:ext cx="201168" cy="420624"/>
          </a:xfrm>
          <a:prstGeom prst="rect">
            <a:avLst/>
          </a:prstGeom>
          <a:noFill/>
          <a:ln/>
        </p:spPr>
        <p:txBody>
          <a:bodyPr wrap="square" rtlCol="0" anchor="ctr"/>
          <a:lstStyle/>
          <a:p>
            <a:pPr marL="0" indent="0" algn="ctr">
              <a:buNone/>
            </a:pPr>
            <a:r>
              <a:rPr lang="en-US" sz="1800" dirty="0">
                <a:solidFill>
                  <a:srgbClr val="6B7280"/>
                </a:solidFill>
              </a:rPr>
              <a:t>›</a:t>
            </a:r>
            <a:endParaRPr lang="en-US" sz="1800" dirty="0"/>
          </a:p>
        </p:txBody>
      </p:sp>
      <p:sp>
        <p:nvSpPr>
          <p:cNvPr id="39" name="Text 37"/>
          <p:cNvSpPr/>
          <p:nvPr/>
        </p:nvSpPr>
        <p:spPr>
          <a:xfrm>
            <a:off x="5596128" y="2194560"/>
            <a:ext cx="1426464" cy="475488"/>
          </a:xfrm>
          <a:prstGeom prst="rect">
            <a:avLst/>
          </a:prstGeom>
          <a:noFill/>
          <a:ln/>
        </p:spPr>
        <p:txBody>
          <a:bodyPr wrap="square" rtlCol="0" anchor="ctr"/>
          <a:lstStyle/>
          <a:p>
            <a:pPr marL="0" indent="0" algn="ctr">
              <a:buNone/>
            </a:pPr>
            <a:r>
              <a:rPr lang="en-US" sz="1100" b="1" dirty="0">
                <a:solidFill>
                  <a:srgbClr val="F59E0B"/>
                </a:solidFill>
              </a:rPr>
              <a:t>Priority</a:t>
            </a:r>
            <a:endParaRPr lang="en-US" sz="1100" dirty="0"/>
          </a:p>
          <a:p>
            <a:pPr marL="0" indent="0" algn="ctr">
              <a:buNone/>
            </a:pPr>
            <a:r>
              <a:rPr lang="en-US" sz="1100" b="1" dirty="0">
                <a:solidFill>
                  <a:srgbClr val="F59E0B"/>
                </a:solidFill>
              </a:rPr>
              <a:t>Scored</a:t>
            </a:r>
            <a:endParaRPr lang="en-US" sz="1100" dirty="0"/>
          </a:p>
        </p:txBody>
      </p:sp>
      <p:sp>
        <p:nvSpPr>
          <p:cNvPr id="40" name="Shape 38"/>
          <p:cNvSpPr/>
          <p:nvPr/>
        </p:nvSpPr>
        <p:spPr>
          <a:xfrm>
            <a:off x="5541264" y="2779776"/>
            <a:ext cx="1572768" cy="146304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41" name="Shape 39"/>
          <p:cNvSpPr/>
          <p:nvPr/>
        </p:nvSpPr>
        <p:spPr>
          <a:xfrm>
            <a:off x="5541264" y="2779776"/>
            <a:ext cx="1572768" cy="64008"/>
          </a:xfrm>
          <a:prstGeom prst="rect">
            <a:avLst/>
          </a:prstGeom>
          <a:solidFill>
            <a:srgbClr val="F59E0B"/>
          </a:solidFill>
          <a:ln w="12700">
            <a:solidFill>
              <a:srgbClr val="F59E0B"/>
            </a:solidFill>
            <a:prstDash val="solid"/>
          </a:ln>
        </p:spPr>
        <p:txBody>
          <a:bodyPr/>
          <a:lstStyle/>
          <a:p>
            <a:endParaRPr lang="en-US"/>
          </a:p>
        </p:txBody>
      </p:sp>
      <p:sp>
        <p:nvSpPr>
          <p:cNvPr id="42" name="Text 40"/>
          <p:cNvSpPr/>
          <p:nvPr/>
        </p:nvSpPr>
        <p:spPr>
          <a:xfrm>
            <a:off x="5632704" y="2907792"/>
            <a:ext cx="1389888" cy="1261872"/>
          </a:xfrm>
          <a:prstGeom prst="rect">
            <a:avLst/>
          </a:prstGeom>
          <a:noFill/>
          <a:ln/>
        </p:spPr>
        <p:txBody>
          <a:bodyPr wrap="square" rtlCol="0" anchor="ctr"/>
          <a:lstStyle/>
          <a:p>
            <a:pPr marL="0" indent="0">
              <a:lnSpc>
                <a:spcPct val="140000"/>
              </a:lnSpc>
              <a:buNone/>
            </a:pPr>
            <a:r>
              <a:rPr lang="en-US" sz="980" dirty="0">
                <a:solidFill>
                  <a:srgbClr val="374151"/>
                </a:solidFill>
              </a:rPr>
              <a:t>System calculates urgency score using 4 weighted factors.</a:t>
            </a:r>
            <a:endParaRPr lang="en-US" sz="980" dirty="0"/>
          </a:p>
        </p:txBody>
      </p:sp>
      <p:sp>
        <p:nvSpPr>
          <p:cNvPr id="43" name="Shape 41"/>
          <p:cNvSpPr/>
          <p:nvPr/>
        </p:nvSpPr>
        <p:spPr>
          <a:xfrm>
            <a:off x="7415784" y="1005840"/>
            <a:ext cx="1207008" cy="1207008"/>
          </a:xfrm>
          <a:prstGeom prst="ellipse">
            <a:avLst/>
          </a:prstGeom>
          <a:solidFill>
            <a:srgbClr val="10B981">
              <a:alpha val="12000"/>
            </a:srgbClr>
          </a:solidFill>
          <a:ln w="12700">
            <a:solidFill>
              <a:srgbClr val="10B981"/>
            </a:solidFill>
            <a:prstDash val="solid"/>
          </a:ln>
        </p:spPr>
        <p:txBody>
          <a:bodyPr/>
          <a:lstStyle/>
          <a:p>
            <a:endParaRPr lang="en-US"/>
          </a:p>
        </p:txBody>
      </p:sp>
      <p:sp>
        <p:nvSpPr>
          <p:cNvPr id="44" name="Shape 42"/>
          <p:cNvSpPr/>
          <p:nvPr/>
        </p:nvSpPr>
        <p:spPr>
          <a:xfrm>
            <a:off x="7534656" y="1115568"/>
            <a:ext cx="969264" cy="969264"/>
          </a:xfrm>
          <a:prstGeom prst="ellipse">
            <a:avLst/>
          </a:prstGeom>
          <a:solidFill>
            <a:srgbClr val="FFFFFF"/>
          </a:solidFill>
          <a:ln w="31750">
            <a:solidFill>
              <a:srgbClr val="10B981"/>
            </a:solidFill>
            <a:prstDash val="solid"/>
          </a:ln>
          <a:effectLst>
            <a:outerShdw blurRad="76200" dist="25400" dir="8100000" algn="bl" rotWithShape="0">
              <a:srgbClr val="000000">
                <a:alpha val="7000"/>
              </a:srgbClr>
            </a:outerShdw>
          </a:effectLst>
        </p:spPr>
        <p:txBody>
          <a:bodyPr/>
          <a:lstStyle/>
          <a:p>
            <a:endParaRPr lang="en-US"/>
          </a:p>
        </p:txBody>
      </p:sp>
      <p:sp>
        <p:nvSpPr>
          <p:cNvPr id="45" name="Text 43"/>
          <p:cNvSpPr/>
          <p:nvPr/>
        </p:nvSpPr>
        <p:spPr>
          <a:xfrm>
            <a:off x="7534656" y="1188720"/>
            <a:ext cx="969264" cy="804672"/>
          </a:xfrm>
          <a:prstGeom prst="rect">
            <a:avLst/>
          </a:prstGeom>
          <a:noFill/>
          <a:ln/>
        </p:spPr>
        <p:txBody>
          <a:bodyPr wrap="square" rtlCol="0" anchor="ctr"/>
          <a:lstStyle/>
          <a:p>
            <a:pPr marL="0" indent="0" algn="ctr">
              <a:buNone/>
            </a:pPr>
            <a:r>
              <a:rPr lang="en-US" sz="3400" b="1" dirty="0">
                <a:solidFill>
                  <a:srgbClr val="10B981"/>
                </a:solidFill>
              </a:rPr>
              <a:t>5</a:t>
            </a:r>
            <a:endParaRPr lang="en-US" sz="3400" dirty="0"/>
          </a:p>
        </p:txBody>
      </p:sp>
      <p:sp>
        <p:nvSpPr>
          <p:cNvPr id="46" name="Text 44"/>
          <p:cNvSpPr/>
          <p:nvPr/>
        </p:nvSpPr>
        <p:spPr>
          <a:xfrm>
            <a:off x="7315200" y="2194560"/>
            <a:ext cx="1426464" cy="475488"/>
          </a:xfrm>
          <a:prstGeom prst="rect">
            <a:avLst/>
          </a:prstGeom>
          <a:noFill/>
          <a:ln/>
        </p:spPr>
        <p:txBody>
          <a:bodyPr wrap="square" rtlCol="0" anchor="ctr"/>
          <a:lstStyle/>
          <a:p>
            <a:pPr marL="0" indent="0" algn="ctr">
              <a:buNone/>
            </a:pPr>
            <a:r>
              <a:rPr lang="en-US" sz="1100" b="1" dirty="0">
                <a:solidFill>
                  <a:srgbClr val="10B981"/>
                </a:solidFill>
              </a:rPr>
              <a:t>Admin</a:t>
            </a:r>
            <a:endParaRPr lang="en-US" sz="1100" dirty="0"/>
          </a:p>
          <a:p>
            <a:pPr marL="0" indent="0" algn="ctr">
              <a:buNone/>
            </a:pPr>
            <a:r>
              <a:rPr lang="en-US" sz="1100" b="1" dirty="0">
                <a:solidFill>
                  <a:srgbClr val="10B981"/>
                </a:solidFill>
              </a:rPr>
              <a:t>Acts</a:t>
            </a:r>
            <a:endParaRPr lang="en-US" sz="1100" dirty="0"/>
          </a:p>
        </p:txBody>
      </p:sp>
      <p:sp>
        <p:nvSpPr>
          <p:cNvPr id="47" name="Shape 45"/>
          <p:cNvSpPr/>
          <p:nvPr/>
        </p:nvSpPr>
        <p:spPr>
          <a:xfrm>
            <a:off x="7260336" y="2779776"/>
            <a:ext cx="1572768" cy="146304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48" name="Shape 46"/>
          <p:cNvSpPr/>
          <p:nvPr/>
        </p:nvSpPr>
        <p:spPr>
          <a:xfrm>
            <a:off x="7260336" y="2779776"/>
            <a:ext cx="1572768" cy="64008"/>
          </a:xfrm>
          <a:prstGeom prst="rect">
            <a:avLst/>
          </a:prstGeom>
          <a:solidFill>
            <a:srgbClr val="10B981"/>
          </a:solidFill>
          <a:ln w="12700">
            <a:solidFill>
              <a:srgbClr val="10B981"/>
            </a:solidFill>
            <a:prstDash val="solid"/>
          </a:ln>
        </p:spPr>
        <p:txBody>
          <a:bodyPr/>
          <a:lstStyle/>
          <a:p>
            <a:endParaRPr lang="en-US"/>
          </a:p>
        </p:txBody>
      </p:sp>
      <p:sp>
        <p:nvSpPr>
          <p:cNvPr id="49" name="Text 47"/>
          <p:cNvSpPr/>
          <p:nvPr/>
        </p:nvSpPr>
        <p:spPr>
          <a:xfrm>
            <a:off x="7351776" y="2907792"/>
            <a:ext cx="1389888" cy="1261872"/>
          </a:xfrm>
          <a:prstGeom prst="rect">
            <a:avLst/>
          </a:prstGeom>
          <a:noFill/>
          <a:ln/>
        </p:spPr>
        <p:txBody>
          <a:bodyPr wrap="square" rtlCol="0" anchor="ctr"/>
          <a:lstStyle/>
          <a:p>
            <a:pPr marL="0" indent="0">
              <a:lnSpc>
                <a:spcPct val="140000"/>
              </a:lnSpc>
              <a:buNone/>
            </a:pPr>
            <a:r>
              <a:rPr lang="en-US" sz="980" dirty="0">
                <a:solidFill>
                  <a:srgbClr val="374151"/>
                </a:solidFill>
              </a:rPr>
              <a:t>Police sorts by score, updates status, assigns Police ID.</a:t>
            </a:r>
            <a:endParaRPr lang="en-US" sz="980" dirty="0"/>
          </a:p>
        </p:txBody>
      </p:sp>
      <p:sp>
        <p:nvSpPr>
          <p:cNvPr id="50" name="Text 48"/>
          <p:cNvSpPr/>
          <p:nvPr/>
        </p:nvSpPr>
        <p:spPr>
          <a:xfrm>
            <a:off x="8778240" y="4919472"/>
            <a:ext cx="320040" cy="201168"/>
          </a:xfrm>
          <a:prstGeom prst="rect">
            <a:avLst/>
          </a:prstGeom>
          <a:noFill/>
          <a:ln/>
        </p:spPr>
        <p:txBody>
          <a:bodyPr wrap="square" rtlCol="0" anchor="ctr"/>
          <a:lstStyle/>
          <a:p>
            <a:pPr marL="0" indent="0" algn="ctr">
              <a:buNone/>
            </a:pPr>
            <a:r>
              <a:rPr lang="en-US" sz="900" dirty="0">
                <a:solidFill>
                  <a:srgbClr val="6B7280"/>
                </a:solidFill>
              </a:rPr>
              <a:t>6</a:t>
            </a:r>
            <a:endParaRPr lang="en-US" sz="900" dirty="0"/>
          </a:p>
        </p:txBody>
      </p:sp>
      <p:pic>
        <p:nvPicPr>
          <p:cNvPr id="51" name="object 16">
            <a:extLst>
              <a:ext uri="{FF2B5EF4-FFF2-40B4-BE49-F238E27FC236}">
                <a16:creationId xmlns:a16="http://schemas.microsoft.com/office/drawing/2014/main" id="{5C646CDD-7A09-B9ED-08E0-49F6AF1C38CC}"/>
              </a:ext>
            </a:extLst>
          </p:cNvPr>
          <p:cNvPicPr/>
          <p:nvPr/>
        </p:nvPicPr>
        <p:blipFill>
          <a:blip r:embed="rId3" cstate="print"/>
          <a:stretch>
            <a:fillRect/>
          </a:stretch>
        </p:blipFill>
        <p:spPr>
          <a:xfrm>
            <a:off x="6604782" y="207147"/>
            <a:ext cx="2454812" cy="6189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4F46E5"/>
          </a:solidFill>
          <a:ln w="12700">
            <a:solidFill>
              <a:srgbClr val="4F46E5"/>
            </a:solidFill>
            <a:prstDash val="solid"/>
          </a:ln>
        </p:spPr>
        <p:txBody>
          <a:bodyPr/>
          <a:lstStyle/>
          <a:p>
            <a:endParaRPr lang="en-US"/>
          </a:p>
        </p:txBody>
      </p:sp>
      <p:sp>
        <p:nvSpPr>
          <p:cNvPr id="5" name="Text 3"/>
          <p:cNvSpPr/>
          <p:nvPr/>
        </p:nvSpPr>
        <p:spPr>
          <a:xfrm>
            <a:off x="320040" y="91440"/>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  Priority Algorithm</a:t>
            </a:r>
            <a:endParaRPr lang="en-US" sz="2200" dirty="0"/>
          </a:p>
        </p:txBody>
      </p:sp>
      <p:sp>
        <p:nvSpPr>
          <p:cNvPr id="6" name="Text 4"/>
          <p:cNvSpPr/>
          <p:nvPr/>
        </p:nvSpPr>
        <p:spPr>
          <a:xfrm>
            <a:off x="347472" y="603504"/>
            <a:ext cx="8046720" cy="320040"/>
          </a:xfrm>
          <a:prstGeom prst="rect">
            <a:avLst/>
          </a:prstGeom>
          <a:noFill/>
          <a:ln/>
        </p:spPr>
        <p:txBody>
          <a:bodyPr wrap="square" lIns="0" tIns="0" rIns="0" bIns="0" rtlCol="0" anchor="ctr"/>
          <a:lstStyle/>
          <a:p>
            <a:pPr marL="0" indent="0">
              <a:buNone/>
            </a:pPr>
            <a:r>
              <a:rPr lang="en-US" sz="1100" i="1" dirty="0">
                <a:solidFill>
                  <a:srgbClr val="C7D2FE"/>
                </a:solidFill>
              </a:rPr>
              <a:t>How the system decides which case needs attention first</a:t>
            </a:r>
            <a:endParaRPr lang="en-US" sz="1100" dirty="0"/>
          </a:p>
        </p:txBody>
      </p:sp>
      <p:sp>
        <p:nvSpPr>
          <p:cNvPr id="7" name="Shape 5"/>
          <p:cNvSpPr/>
          <p:nvPr/>
        </p:nvSpPr>
        <p:spPr>
          <a:xfrm>
            <a:off x="274320" y="1097280"/>
            <a:ext cx="8595360" cy="658368"/>
          </a:xfrm>
          <a:prstGeom prst="rect">
            <a:avLst/>
          </a:prstGeom>
          <a:solidFill>
            <a:srgbClr val="1E1B4B"/>
          </a:solidFill>
          <a:ln w="12700">
            <a:solidFill>
              <a:srgbClr val="1E1B4B"/>
            </a:solidFill>
            <a:prstDash val="solid"/>
          </a:ln>
        </p:spPr>
        <p:txBody>
          <a:bodyPr/>
          <a:lstStyle/>
          <a:p>
            <a:endParaRPr lang="en-US"/>
          </a:p>
        </p:txBody>
      </p:sp>
      <p:sp>
        <p:nvSpPr>
          <p:cNvPr id="8" name="Shape 6"/>
          <p:cNvSpPr/>
          <p:nvPr/>
        </p:nvSpPr>
        <p:spPr>
          <a:xfrm>
            <a:off x="274320" y="1097280"/>
            <a:ext cx="109728" cy="658368"/>
          </a:xfrm>
          <a:prstGeom prst="rect">
            <a:avLst/>
          </a:prstGeom>
          <a:solidFill>
            <a:srgbClr val="F59E0B"/>
          </a:solidFill>
          <a:ln w="12700">
            <a:solidFill>
              <a:srgbClr val="F59E0B"/>
            </a:solidFill>
            <a:prstDash val="solid"/>
          </a:ln>
        </p:spPr>
        <p:txBody>
          <a:bodyPr/>
          <a:lstStyle/>
          <a:p>
            <a:endParaRPr lang="en-US"/>
          </a:p>
        </p:txBody>
      </p:sp>
      <p:sp>
        <p:nvSpPr>
          <p:cNvPr id="9" name="Text 7"/>
          <p:cNvSpPr/>
          <p:nvPr/>
        </p:nvSpPr>
        <p:spPr>
          <a:xfrm>
            <a:off x="502920" y="1133856"/>
            <a:ext cx="8321040" cy="585216"/>
          </a:xfrm>
          <a:prstGeom prst="rect">
            <a:avLst/>
          </a:prstGeom>
          <a:noFill/>
          <a:ln/>
        </p:spPr>
        <p:txBody>
          <a:bodyPr wrap="square" rtlCol="0" anchor="ctr"/>
          <a:lstStyle/>
          <a:p>
            <a:pPr marL="0" indent="0" algn="ctr">
              <a:buNone/>
            </a:pPr>
            <a:r>
              <a:rPr lang="en-US" sz="1350" b="1" dirty="0">
                <a:solidFill>
                  <a:srgbClr val="F59E0B"/>
                </a:solidFill>
                <a:latin typeface="Consolas" pitchFamily="34" charset="0"/>
                <a:ea typeface="Consolas" pitchFamily="34" charset="-122"/>
                <a:cs typeface="Consolas" pitchFamily="34" charset="-120"/>
              </a:rPr>
              <a:t>Priority  =  (Severity × 0.4)  +  (Evidence × 0.3)  +  (Time × 0.2)  +  (Loss × 0.1)</a:t>
            </a:r>
            <a:endParaRPr lang="en-US" sz="1350" dirty="0"/>
          </a:p>
        </p:txBody>
      </p:sp>
      <p:sp>
        <p:nvSpPr>
          <p:cNvPr id="10" name="Shape 8"/>
          <p:cNvSpPr/>
          <p:nvPr/>
        </p:nvSpPr>
        <p:spPr>
          <a:xfrm>
            <a:off x="274320" y="1901952"/>
            <a:ext cx="2029968" cy="301752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11" name="Shape 9"/>
          <p:cNvSpPr/>
          <p:nvPr/>
        </p:nvSpPr>
        <p:spPr>
          <a:xfrm>
            <a:off x="274320" y="1901952"/>
            <a:ext cx="2029968" cy="566928"/>
          </a:xfrm>
          <a:prstGeom prst="rect">
            <a:avLst/>
          </a:prstGeom>
          <a:solidFill>
            <a:srgbClr val="EF4444"/>
          </a:solidFill>
          <a:ln w="12700">
            <a:solidFill>
              <a:srgbClr val="EF4444"/>
            </a:solidFill>
            <a:prstDash val="solid"/>
          </a:ln>
        </p:spPr>
        <p:txBody>
          <a:bodyPr/>
          <a:lstStyle/>
          <a:p>
            <a:endParaRPr lang="en-US"/>
          </a:p>
        </p:txBody>
      </p:sp>
      <p:sp>
        <p:nvSpPr>
          <p:cNvPr id="12" name="Text 10"/>
          <p:cNvSpPr/>
          <p:nvPr/>
        </p:nvSpPr>
        <p:spPr>
          <a:xfrm>
            <a:off x="274320" y="1920240"/>
            <a:ext cx="2029968" cy="365760"/>
          </a:xfrm>
          <a:prstGeom prst="rect">
            <a:avLst/>
          </a:prstGeom>
          <a:noFill/>
          <a:ln/>
        </p:spPr>
        <p:txBody>
          <a:bodyPr wrap="square" rtlCol="0" anchor="ctr"/>
          <a:lstStyle/>
          <a:p>
            <a:pPr marL="0" indent="0" algn="ctr">
              <a:buNone/>
            </a:pPr>
            <a:r>
              <a:rPr lang="en-US" sz="2400" b="1" dirty="0">
                <a:solidFill>
                  <a:srgbClr val="FFFFFF"/>
                </a:solidFill>
              </a:rPr>
              <a:t>40%</a:t>
            </a:r>
            <a:endParaRPr lang="en-US" sz="2400" dirty="0"/>
          </a:p>
        </p:txBody>
      </p:sp>
      <p:sp>
        <p:nvSpPr>
          <p:cNvPr id="13" name="Text 11"/>
          <p:cNvSpPr/>
          <p:nvPr/>
        </p:nvSpPr>
        <p:spPr>
          <a:xfrm>
            <a:off x="274320" y="2276856"/>
            <a:ext cx="2029968" cy="182880"/>
          </a:xfrm>
          <a:prstGeom prst="rect">
            <a:avLst/>
          </a:prstGeom>
          <a:noFill/>
          <a:ln/>
        </p:spPr>
        <p:txBody>
          <a:bodyPr wrap="square" rtlCol="0" anchor="ctr"/>
          <a:lstStyle/>
          <a:p>
            <a:pPr marL="0" indent="0" algn="ctr">
              <a:buNone/>
            </a:pPr>
            <a:r>
              <a:rPr lang="en-US" sz="900" i="1" dirty="0">
                <a:solidFill>
                  <a:srgbClr val="FFFFFF"/>
                </a:solidFill>
              </a:rPr>
              <a:t>weight</a:t>
            </a:r>
            <a:endParaRPr lang="en-US" sz="900" dirty="0"/>
          </a:p>
        </p:txBody>
      </p:sp>
      <p:sp>
        <p:nvSpPr>
          <p:cNvPr id="14" name="Text 12"/>
          <p:cNvSpPr/>
          <p:nvPr/>
        </p:nvSpPr>
        <p:spPr>
          <a:xfrm>
            <a:off x="365760" y="2523744"/>
            <a:ext cx="1847088" cy="365760"/>
          </a:xfrm>
          <a:prstGeom prst="rect">
            <a:avLst/>
          </a:prstGeom>
          <a:noFill/>
          <a:ln/>
        </p:spPr>
        <p:txBody>
          <a:bodyPr wrap="square" rtlCol="0" anchor="ctr"/>
          <a:lstStyle/>
          <a:p>
            <a:pPr marL="0" indent="0" algn="ctr">
              <a:buNone/>
            </a:pPr>
            <a:r>
              <a:rPr lang="en-US" sz="1300" b="1" dirty="0">
                <a:solidFill>
                  <a:srgbClr val="1E1B4B"/>
                </a:solidFill>
              </a:rPr>
              <a:t>Severity</a:t>
            </a:r>
            <a:endParaRPr lang="en-US" sz="1300" dirty="0"/>
          </a:p>
        </p:txBody>
      </p:sp>
      <p:sp>
        <p:nvSpPr>
          <p:cNvPr id="15" name="Shape 13"/>
          <p:cNvSpPr/>
          <p:nvPr/>
        </p:nvSpPr>
        <p:spPr>
          <a:xfrm>
            <a:off x="438912" y="2962656"/>
            <a:ext cx="1700784" cy="164592"/>
          </a:xfrm>
          <a:prstGeom prst="rect">
            <a:avLst/>
          </a:prstGeom>
          <a:solidFill>
            <a:srgbClr val="EEF2FF"/>
          </a:solidFill>
          <a:ln w="12700">
            <a:solidFill>
              <a:srgbClr val="C7D2FE"/>
            </a:solidFill>
            <a:prstDash val="solid"/>
          </a:ln>
        </p:spPr>
        <p:txBody>
          <a:bodyPr/>
          <a:lstStyle/>
          <a:p>
            <a:endParaRPr lang="en-US"/>
          </a:p>
        </p:txBody>
      </p:sp>
      <p:sp>
        <p:nvSpPr>
          <p:cNvPr id="16" name="Shape 14"/>
          <p:cNvSpPr/>
          <p:nvPr/>
        </p:nvSpPr>
        <p:spPr>
          <a:xfrm>
            <a:off x="438912" y="2962656"/>
            <a:ext cx="1700784" cy="164592"/>
          </a:xfrm>
          <a:prstGeom prst="rect">
            <a:avLst/>
          </a:prstGeom>
          <a:solidFill>
            <a:srgbClr val="EF4444"/>
          </a:solidFill>
          <a:ln w="12700">
            <a:solidFill>
              <a:srgbClr val="EF4444"/>
            </a:solidFill>
            <a:prstDash val="solid"/>
          </a:ln>
        </p:spPr>
        <p:txBody>
          <a:bodyPr/>
          <a:lstStyle/>
          <a:p>
            <a:endParaRPr lang="en-US"/>
          </a:p>
        </p:txBody>
      </p:sp>
      <p:sp>
        <p:nvSpPr>
          <p:cNvPr id="17" name="Text 15"/>
          <p:cNvSpPr/>
          <p:nvPr/>
        </p:nvSpPr>
        <p:spPr>
          <a:xfrm>
            <a:off x="365760" y="3218688"/>
            <a:ext cx="1847088" cy="1554480"/>
          </a:xfrm>
          <a:prstGeom prst="rect">
            <a:avLst/>
          </a:prstGeom>
          <a:noFill/>
          <a:ln/>
        </p:spPr>
        <p:txBody>
          <a:bodyPr wrap="square" rtlCol="0" anchor="ctr"/>
          <a:lstStyle/>
          <a:p>
            <a:pPr marL="0" indent="0" algn="ctr">
              <a:lnSpc>
                <a:spcPct val="140000"/>
              </a:lnSpc>
              <a:buNone/>
            </a:pPr>
            <a:r>
              <a:rPr lang="en-US" sz="1050" dirty="0">
                <a:solidFill>
                  <a:srgbClr val="374151"/>
                </a:solidFill>
              </a:rPr>
              <a:t>Auto-assigned by crime type.</a:t>
            </a:r>
            <a:endParaRPr lang="en-US" sz="1050" dirty="0"/>
          </a:p>
          <a:p>
            <a:pPr marL="0" indent="0" algn="ctr">
              <a:lnSpc>
                <a:spcPct val="140000"/>
              </a:lnSpc>
              <a:buNone/>
            </a:pPr>
            <a:r>
              <a:rPr lang="en-US" sz="1050" dirty="0">
                <a:solidFill>
                  <a:srgbClr val="374151"/>
                </a:solidFill>
              </a:rPr>
              <a:t>Data Breach = 10, Phishing = 7.</a:t>
            </a:r>
            <a:endParaRPr lang="en-US" sz="1050" dirty="0"/>
          </a:p>
        </p:txBody>
      </p:sp>
      <p:sp>
        <p:nvSpPr>
          <p:cNvPr id="18" name="Shape 16"/>
          <p:cNvSpPr/>
          <p:nvPr/>
        </p:nvSpPr>
        <p:spPr>
          <a:xfrm>
            <a:off x="2450592" y="1901952"/>
            <a:ext cx="2029968" cy="301752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19" name="Shape 17"/>
          <p:cNvSpPr/>
          <p:nvPr/>
        </p:nvSpPr>
        <p:spPr>
          <a:xfrm>
            <a:off x="2450592" y="1901952"/>
            <a:ext cx="2029968" cy="566928"/>
          </a:xfrm>
          <a:prstGeom prst="rect">
            <a:avLst/>
          </a:prstGeom>
          <a:solidFill>
            <a:srgbClr val="4F46E5"/>
          </a:solidFill>
          <a:ln w="12700">
            <a:solidFill>
              <a:srgbClr val="4F46E5"/>
            </a:solidFill>
            <a:prstDash val="solid"/>
          </a:ln>
        </p:spPr>
        <p:txBody>
          <a:bodyPr/>
          <a:lstStyle/>
          <a:p>
            <a:endParaRPr lang="en-US"/>
          </a:p>
        </p:txBody>
      </p:sp>
      <p:sp>
        <p:nvSpPr>
          <p:cNvPr id="20" name="Text 18"/>
          <p:cNvSpPr/>
          <p:nvPr/>
        </p:nvSpPr>
        <p:spPr>
          <a:xfrm>
            <a:off x="2450592" y="1920240"/>
            <a:ext cx="2029968" cy="365760"/>
          </a:xfrm>
          <a:prstGeom prst="rect">
            <a:avLst/>
          </a:prstGeom>
          <a:noFill/>
          <a:ln/>
        </p:spPr>
        <p:txBody>
          <a:bodyPr wrap="square" rtlCol="0" anchor="ctr"/>
          <a:lstStyle/>
          <a:p>
            <a:pPr marL="0" indent="0" algn="ctr">
              <a:buNone/>
            </a:pPr>
            <a:r>
              <a:rPr lang="en-US" sz="2400" b="1" dirty="0">
                <a:solidFill>
                  <a:srgbClr val="FFFFFF"/>
                </a:solidFill>
              </a:rPr>
              <a:t>30%</a:t>
            </a:r>
            <a:endParaRPr lang="en-US" sz="2400" dirty="0"/>
          </a:p>
        </p:txBody>
      </p:sp>
      <p:sp>
        <p:nvSpPr>
          <p:cNvPr id="21" name="Text 19"/>
          <p:cNvSpPr/>
          <p:nvPr/>
        </p:nvSpPr>
        <p:spPr>
          <a:xfrm>
            <a:off x="2450592" y="2276856"/>
            <a:ext cx="2029968" cy="182880"/>
          </a:xfrm>
          <a:prstGeom prst="rect">
            <a:avLst/>
          </a:prstGeom>
          <a:noFill/>
          <a:ln/>
        </p:spPr>
        <p:txBody>
          <a:bodyPr wrap="square" rtlCol="0" anchor="ctr"/>
          <a:lstStyle/>
          <a:p>
            <a:pPr marL="0" indent="0" algn="ctr">
              <a:buNone/>
            </a:pPr>
            <a:r>
              <a:rPr lang="en-US" sz="900" i="1" dirty="0">
                <a:solidFill>
                  <a:srgbClr val="FFFFFF"/>
                </a:solidFill>
              </a:rPr>
              <a:t>weight</a:t>
            </a:r>
            <a:endParaRPr lang="en-US" sz="900" dirty="0"/>
          </a:p>
        </p:txBody>
      </p:sp>
      <p:sp>
        <p:nvSpPr>
          <p:cNvPr id="22" name="Text 20"/>
          <p:cNvSpPr/>
          <p:nvPr/>
        </p:nvSpPr>
        <p:spPr>
          <a:xfrm>
            <a:off x="2542032" y="2523744"/>
            <a:ext cx="1847088" cy="365760"/>
          </a:xfrm>
          <a:prstGeom prst="rect">
            <a:avLst/>
          </a:prstGeom>
          <a:noFill/>
          <a:ln/>
        </p:spPr>
        <p:txBody>
          <a:bodyPr wrap="square" rtlCol="0" anchor="ctr"/>
          <a:lstStyle/>
          <a:p>
            <a:pPr marL="0" indent="0" algn="ctr">
              <a:buNone/>
            </a:pPr>
            <a:r>
              <a:rPr lang="en-US" sz="1300" b="1" dirty="0">
                <a:solidFill>
                  <a:srgbClr val="1E1B4B"/>
                </a:solidFill>
              </a:rPr>
              <a:t>Evidence</a:t>
            </a:r>
            <a:endParaRPr lang="en-US" sz="1300" dirty="0"/>
          </a:p>
        </p:txBody>
      </p:sp>
      <p:sp>
        <p:nvSpPr>
          <p:cNvPr id="23" name="Shape 21"/>
          <p:cNvSpPr/>
          <p:nvPr/>
        </p:nvSpPr>
        <p:spPr>
          <a:xfrm>
            <a:off x="2615184" y="2962656"/>
            <a:ext cx="1700784" cy="164592"/>
          </a:xfrm>
          <a:prstGeom prst="rect">
            <a:avLst/>
          </a:prstGeom>
          <a:solidFill>
            <a:srgbClr val="EEF2FF"/>
          </a:solidFill>
          <a:ln w="12700">
            <a:solidFill>
              <a:srgbClr val="C7D2FE"/>
            </a:solidFill>
            <a:prstDash val="solid"/>
          </a:ln>
        </p:spPr>
        <p:txBody>
          <a:bodyPr/>
          <a:lstStyle/>
          <a:p>
            <a:endParaRPr lang="en-US"/>
          </a:p>
        </p:txBody>
      </p:sp>
      <p:sp>
        <p:nvSpPr>
          <p:cNvPr id="24" name="Shape 22"/>
          <p:cNvSpPr/>
          <p:nvPr/>
        </p:nvSpPr>
        <p:spPr>
          <a:xfrm>
            <a:off x="2615184" y="2962656"/>
            <a:ext cx="1275588" cy="164592"/>
          </a:xfrm>
          <a:prstGeom prst="rect">
            <a:avLst/>
          </a:prstGeom>
          <a:solidFill>
            <a:srgbClr val="4F46E5"/>
          </a:solidFill>
          <a:ln w="12700">
            <a:solidFill>
              <a:srgbClr val="4F46E5"/>
            </a:solidFill>
            <a:prstDash val="solid"/>
          </a:ln>
        </p:spPr>
        <p:txBody>
          <a:bodyPr/>
          <a:lstStyle/>
          <a:p>
            <a:endParaRPr lang="en-US"/>
          </a:p>
        </p:txBody>
      </p:sp>
      <p:sp>
        <p:nvSpPr>
          <p:cNvPr id="25" name="Text 23"/>
          <p:cNvSpPr/>
          <p:nvPr/>
        </p:nvSpPr>
        <p:spPr>
          <a:xfrm>
            <a:off x="2542032" y="3218688"/>
            <a:ext cx="1847088" cy="1554480"/>
          </a:xfrm>
          <a:prstGeom prst="rect">
            <a:avLst/>
          </a:prstGeom>
          <a:noFill/>
          <a:ln/>
        </p:spPr>
        <p:txBody>
          <a:bodyPr wrap="square" rtlCol="0" anchor="ctr"/>
          <a:lstStyle/>
          <a:p>
            <a:pPr marL="0" indent="0" algn="ctr">
              <a:lnSpc>
                <a:spcPct val="140000"/>
              </a:lnSpc>
              <a:buNone/>
            </a:pPr>
            <a:r>
              <a:rPr lang="en-US" sz="1050" dirty="0">
                <a:solidFill>
                  <a:srgbClr val="374151"/>
                </a:solidFill>
              </a:rPr>
              <a:t>More uploaded files =</a:t>
            </a:r>
            <a:endParaRPr lang="en-US" sz="1050" dirty="0"/>
          </a:p>
          <a:p>
            <a:pPr marL="0" indent="0" algn="ctr">
              <a:lnSpc>
                <a:spcPct val="140000"/>
              </a:lnSpc>
              <a:buNone/>
            </a:pPr>
            <a:r>
              <a:rPr lang="en-US" sz="1050" dirty="0">
                <a:solidFill>
                  <a:srgbClr val="374151"/>
                </a:solidFill>
              </a:rPr>
              <a:t>higher score (2 pts per file).</a:t>
            </a:r>
            <a:endParaRPr lang="en-US" sz="1050" dirty="0"/>
          </a:p>
        </p:txBody>
      </p:sp>
      <p:sp>
        <p:nvSpPr>
          <p:cNvPr id="26" name="Shape 24"/>
          <p:cNvSpPr/>
          <p:nvPr/>
        </p:nvSpPr>
        <p:spPr>
          <a:xfrm>
            <a:off x="4626864" y="1901952"/>
            <a:ext cx="2029968" cy="301752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27" name="Shape 25"/>
          <p:cNvSpPr/>
          <p:nvPr/>
        </p:nvSpPr>
        <p:spPr>
          <a:xfrm>
            <a:off x="4626864" y="1901952"/>
            <a:ext cx="2029968" cy="566928"/>
          </a:xfrm>
          <a:prstGeom prst="rect">
            <a:avLst/>
          </a:prstGeom>
          <a:solidFill>
            <a:srgbClr val="F59E0B"/>
          </a:solidFill>
          <a:ln w="12700">
            <a:solidFill>
              <a:srgbClr val="F59E0B"/>
            </a:solidFill>
            <a:prstDash val="solid"/>
          </a:ln>
        </p:spPr>
        <p:txBody>
          <a:bodyPr/>
          <a:lstStyle/>
          <a:p>
            <a:endParaRPr lang="en-US"/>
          </a:p>
        </p:txBody>
      </p:sp>
      <p:sp>
        <p:nvSpPr>
          <p:cNvPr id="28" name="Text 26"/>
          <p:cNvSpPr/>
          <p:nvPr/>
        </p:nvSpPr>
        <p:spPr>
          <a:xfrm>
            <a:off x="4626864" y="1920240"/>
            <a:ext cx="2029968" cy="365760"/>
          </a:xfrm>
          <a:prstGeom prst="rect">
            <a:avLst/>
          </a:prstGeom>
          <a:noFill/>
          <a:ln/>
        </p:spPr>
        <p:txBody>
          <a:bodyPr wrap="square" rtlCol="0" anchor="ctr"/>
          <a:lstStyle/>
          <a:p>
            <a:pPr marL="0" indent="0" algn="ctr">
              <a:buNone/>
            </a:pPr>
            <a:r>
              <a:rPr lang="en-US" sz="2400" b="1" dirty="0">
                <a:solidFill>
                  <a:srgbClr val="FFFFFF"/>
                </a:solidFill>
              </a:rPr>
              <a:t>20%</a:t>
            </a:r>
            <a:endParaRPr lang="en-US" sz="2400" dirty="0"/>
          </a:p>
        </p:txBody>
      </p:sp>
      <p:sp>
        <p:nvSpPr>
          <p:cNvPr id="29" name="Text 27"/>
          <p:cNvSpPr/>
          <p:nvPr/>
        </p:nvSpPr>
        <p:spPr>
          <a:xfrm>
            <a:off x="4626864" y="2276856"/>
            <a:ext cx="2029968" cy="182880"/>
          </a:xfrm>
          <a:prstGeom prst="rect">
            <a:avLst/>
          </a:prstGeom>
          <a:noFill/>
          <a:ln/>
        </p:spPr>
        <p:txBody>
          <a:bodyPr wrap="square" rtlCol="0" anchor="ctr"/>
          <a:lstStyle/>
          <a:p>
            <a:pPr marL="0" indent="0" algn="ctr">
              <a:buNone/>
            </a:pPr>
            <a:r>
              <a:rPr lang="en-US" sz="900" i="1" dirty="0">
                <a:solidFill>
                  <a:srgbClr val="FFFFFF"/>
                </a:solidFill>
              </a:rPr>
              <a:t>weight</a:t>
            </a:r>
            <a:endParaRPr lang="en-US" sz="900" dirty="0"/>
          </a:p>
        </p:txBody>
      </p:sp>
      <p:sp>
        <p:nvSpPr>
          <p:cNvPr id="30" name="Text 28"/>
          <p:cNvSpPr/>
          <p:nvPr/>
        </p:nvSpPr>
        <p:spPr>
          <a:xfrm>
            <a:off x="4718304" y="2523744"/>
            <a:ext cx="1847088" cy="365760"/>
          </a:xfrm>
          <a:prstGeom prst="rect">
            <a:avLst/>
          </a:prstGeom>
          <a:noFill/>
          <a:ln/>
        </p:spPr>
        <p:txBody>
          <a:bodyPr wrap="square" rtlCol="0" anchor="ctr"/>
          <a:lstStyle/>
          <a:p>
            <a:pPr marL="0" indent="0" algn="ctr">
              <a:buNone/>
            </a:pPr>
            <a:r>
              <a:rPr lang="en-US" sz="1300" b="1" dirty="0">
                <a:solidFill>
                  <a:srgbClr val="1E1B4B"/>
                </a:solidFill>
              </a:rPr>
              <a:t>Days Pending</a:t>
            </a:r>
            <a:endParaRPr lang="en-US" sz="1300" dirty="0"/>
          </a:p>
        </p:txBody>
      </p:sp>
      <p:sp>
        <p:nvSpPr>
          <p:cNvPr id="31" name="Shape 29"/>
          <p:cNvSpPr/>
          <p:nvPr/>
        </p:nvSpPr>
        <p:spPr>
          <a:xfrm>
            <a:off x="4791456" y="2962656"/>
            <a:ext cx="1700784" cy="164592"/>
          </a:xfrm>
          <a:prstGeom prst="rect">
            <a:avLst/>
          </a:prstGeom>
          <a:solidFill>
            <a:srgbClr val="EEF2FF"/>
          </a:solidFill>
          <a:ln w="12700">
            <a:solidFill>
              <a:srgbClr val="C7D2FE"/>
            </a:solidFill>
            <a:prstDash val="solid"/>
          </a:ln>
        </p:spPr>
        <p:txBody>
          <a:bodyPr/>
          <a:lstStyle/>
          <a:p>
            <a:endParaRPr lang="en-US"/>
          </a:p>
        </p:txBody>
      </p:sp>
      <p:sp>
        <p:nvSpPr>
          <p:cNvPr id="32" name="Shape 30"/>
          <p:cNvSpPr/>
          <p:nvPr/>
        </p:nvSpPr>
        <p:spPr>
          <a:xfrm>
            <a:off x="4791456" y="2962656"/>
            <a:ext cx="850392" cy="164592"/>
          </a:xfrm>
          <a:prstGeom prst="rect">
            <a:avLst/>
          </a:prstGeom>
          <a:solidFill>
            <a:srgbClr val="F59E0B"/>
          </a:solidFill>
          <a:ln w="12700">
            <a:solidFill>
              <a:srgbClr val="F59E0B"/>
            </a:solidFill>
            <a:prstDash val="solid"/>
          </a:ln>
        </p:spPr>
        <p:txBody>
          <a:bodyPr/>
          <a:lstStyle/>
          <a:p>
            <a:endParaRPr lang="en-US"/>
          </a:p>
        </p:txBody>
      </p:sp>
      <p:sp>
        <p:nvSpPr>
          <p:cNvPr id="33" name="Text 31"/>
          <p:cNvSpPr/>
          <p:nvPr/>
        </p:nvSpPr>
        <p:spPr>
          <a:xfrm>
            <a:off x="4718304" y="3218688"/>
            <a:ext cx="1847088" cy="1554480"/>
          </a:xfrm>
          <a:prstGeom prst="rect">
            <a:avLst/>
          </a:prstGeom>
          <a:noFill/>
          <a:ln/>
        </p:spPr>
        <p:txBody>
          <a:bodyPr wrap="square" rtlCol="0" anchor="ctr"/>
          <a:lstStyle/>
          <a:p>
            <a:pPr marL="0" indent="0" algn="ctr">
              <a:lnSpc>
                <a:spcPct val="140000"/>
              </a:lnSpc>
              <a:buNone/>
            </a:pPr>
            <a:r>
              <a:rPr lang="en-US" sz="1050" dirty="0">
                <a:solidFill>
                  <a:srgbClr val="374151"/>
                </a:solidFill>
              </a:rPr>
              <a:t>Older cases gain urgency.</a:t>
            </a:r>
            <a:endParaRPr lang="en-US" sz="1050" dirty="0"/>
          </a:p>
          <a:p>
            <a:pPr marL="0" indent="0" algn="ctr">
              <a:lnSpc>
                <a:spcPct val="140000"/>
              </a:lnSpc>
              <a:buNone/>
            </a:pPr>
            <a:r>
              <a:rPr lang="en-US" sz="1050" dirty="0">
                <a:solidFill>
                  <a:srgbClr val="374151"/>
                </a:solidFill>
              </a:rPr>
              <a:t>Every 3 days adds to score.</a:t>
            </a:r>
            <a:endParaRPr lang="en-US" sz="1050" dirty="0"/>
          </a:p>
        </p:txBody>
      </p:sp>
      <p:sp>
        <p:nvSpPr>
          <p:cNvPr id="34" name="Shape 32"/>
          <p:cNvSpPr/>
          <p:nvPr/>
        </p:nvSpPr>
        <p:spPr>
          <a:xfrm>
            <a:off x="6803136" y="1901952"/>
            <a:ext cx="2029968" cy="301752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35" name="Shape 33"/>
          <p:cNvSpPr/>
          <p:nvPr/>
        </p:nvSpPr>
        <p:spPr>
          <a:xfrm>
            <a:off x="6803136" y="1901952"/>
            <a:ext cx="2029968" cy="566928"/>
          </a:xfrm>
          <a:prstGeom prst="rect">
            <a:avLst/>
          </a:prstGeom>
          <a:solidFill>
            <a:srgbClr val="10B981"/>
          </a:solidFill>
          <a:ln w="12700">
            <a:solidFill>
              <a:srgbClr val="10B981"/>
            </a:solidFill>
            <a:prstDash val="solid"/>
          </a:ln>
        </p:spPr>
        <p:txBody>
          <a:bodyPr/>
          <a:lstStyle/>
          <a:p>
            <a:endParaRPr lang="en-US"/>
          </a:p>
        </p:txBody>
      </p:sp>
      <p:sp>
        <p:nvSpPr>
          <p:cNvPr id="36" name="Text 34"/>
          <p:cNvSpPr/>
          <p:nvPr/>
        </p:nvSpPr>
        <p:spPr>
          <a:xfrm>
            <a:off x="6803136" y="1920240"/>
            <a:ext cx="2029968" cy="365760"/>
          </a:xfrm>
          <a:prstGeom prst="rect">
            <a:avLst/>
          </a:prstGeom>
          <a:noFill/>
          <a:ln/>
        </p:spPr>
        <p:txBody>
          <a:bodyPr wrap="square" rtlCol="0" anchor="ctr"/>
          <a:lstStyle/>
          <a:p>
            <a:pPr marL="0" indent="0" algn="ctr">
              <a:buNone/>
            </a:pPr>
            <a:r>
              <a:rPr lang="en-US" sz="2400" b="1" dirty="0">
                <a:solidFill>
                  <a:srgbClr val="FFFFFF"/>
                </a:solidFill>
              </a:rPr>
              <a:t>10%</a:t>
            </a:r>
            <a:endParaRPr lang="en-US" sz="2400" dirty="0"/>
          </a:p>
        </p:txBody>
      </p:sp>
      <p:sp>
        <p:nvSpPr>
          <p:cNvPr id="37" name="Text 35"/>
          <p:cNvSpPr/>
          <p:nvPr/>
        </p:nvSpPr>
        <p:spPr>
          <a:xfrm>
            <a:off x="6803136" y="2276856"/>
            <a:ext cx="2029968" cy="182880"/>
          </a:xfrm>
          <a:prstGeom prst="rect">
            <a:avLst/>
          </a:prstGeom>
          <a:noFill/>
          <a:ln/>
        </p:spPr>
        <p:txBody>
          <a:bodyPr wrap="square" rtlCol="0" anchor="ctr"/>
          <a:lstStyle/>
          <a:p>
            <a:pPr marL="0" indent="0" algn="ctr">
              <a:buNone/>
            </a:pPr>
            <a:r>
              <a:rPr lang="en-US" sz="900" i="1" dirty="0">
                <a:solidFill>
                  <a:srgbClr val="FFFFFF"/>
                </a:solidFill>
              </a:rPr>
              <a:t>weight</a:t>
            </a:r>
            <a:endParaRPr lang="en-US" sz="900" dirty="0"/>
          </a:p>
        </p:txBody>
      </p:sp>
      <p:sp>
        <p:nvSpPr>
          <p:cNvPr id="38" name="Text 36"/>
          <p:cNvSpPr/>
          <p:nvPr/>
        </p:nvSpPr>
        <p:spPr>
          <a:xfrm>
            <a:off x="6894576" y="2523744"/>
            <a:ext cx="1847088" cy="365760"/>
          </a:xfrm>
          <a:prstGeom prst="rect">
            <a:avLst/>
          </a:prstGeom>
          <a:noFill/>
          <a:ln/>
        </p:spPr>
        <p:txBody>
          <a:bodyPr wrap="square" rtlCol="0" anchor="ctr"/>
          <a:lstStyle/>
          <a:p>
            <a:pPr marL="0" indent="0" algn="ctr">
              <a:buNone/>
            </a:pPr>
            <a:r>
              <a:rPr lang="en-US" sz="1300" b="1" dirty="0">
                <a:solidFill>
                  <a:srgbClr val="1E1B4B"/>
                </a:solidFill>
              </a:rPr>
              <a:t>Financial Loss</a:t>
            </a:r>
            <a:endParaRPr lang="en-US" sz="1300" dirty="0"/>
          </a:p>
        </p:txBody>
      </p:sp>
      <p:sp>
        <p:nvSpPr>
          <p:cNvPr id="39" name="Shape 37"/>
          <p:cNvSpPr/>
          <p:nvPr/>
        </p:nvSpPr>
        <p:spPr>
          <a:xfrm>
            <a:off x="6967728" y="2962656"/>
            <a:ext cx="1700784" cy="164592"/>
          </a:xfrm>
          <a:prstGeom prst="rect">
            <a:avLst/>
          </a:prstGeom>
          <a:solidFill>
            <a:srgbClr val="EEF2FF"/>
          </a:solidFill>
          <a:ln w="12700">
            <a:solidFill>
              <a:srgbClr val="C7D2FE"/>
            </a:solidFill>
            <a:prstDash val="solid"/>
          </a:ln>
        </p:spPr>
        <p:txBody>
          <a:bodyPr/>
          <a:lstStyle/>
          <a:p>
            <a:endParaRPr lang="en-US"/>
          </a:p>
        </p:txBody>
      </p:sp>
      <p:sp>
        <p:nvSpPr>
          <p:cNvPr id="40" name="Shape 38"/>
          <p:cNvSpPr/>
          <p:nvPr/>
        </p:nvSpPr>
        <p:spPr>
          <a:xfrm>
            <a:off x="6967728" y="2962656"/>
            <a:ext cx="425196" cy="164592"/>
          </a:xfrm>
          <a:prstGeom prst="rect">
            <a:avLst/>
          </a:prstGeom>
          <a:solidFill>
            <a:srgbClr val="10B981"/>
          </a:solidFill>
          <a:ln w="12700">
            <a:solidFill>
              <a:srgbClr val="10B981"/>
            </a:solidFill>
            <a:prstDash val="solid"/>
          </a:ln>
        </p:spPr>
        <p:txBody>
          <a:bodyPr/>
          <a:lstStyle/>
          <a:p>
            <a:endParaRPr lang="en-US"/>
          </a:p>
        </p:txBody>
      </p:sp>
      <p:sp>
        <p:nvSpPr>
          <p:cNvPr id="41" name="Text 39"/>
          <p:cNvSpPr/>
          <p:nvPr/>
        </p:nvSpPr>
        <p:spPr>
          <a:xfrm>
            <a:off x="6894576" y="3218688"/>
            <a:ext cx="1847088" cy="1554480"/>
          </a:xfrm>
          <a:prstGeom prst="rect">
            <a:avLst/>
          </a:prstGeom>
          <a:noFill/>
          <a:ln/>
        </p:spPr>
        <p:txBody>
          <a:bodyPr wrap="square" rtlCol="0" anchor="ctr"/>
          <a:lstStyle/>
          <a:p>
            <a:pPr marL="0" indent="0" algn="ctr">
              <a:lnSpc>
                <a:spcPct val="140000"/>
              </a:lnSpc>
              <a:buNone/>
            </a:pPr>
            <a:r>
              <a:rPr lang="en-US" sz="1050" dirty="0">
                <a:solidFill>
                  <a:srgbClr val="374151"/>
                </a:solidFill>
              </a:rPr>
              <a:t>₹ loss ÷ 1,00,000.</a:t>
            </a:r>
            <a:endParaRPr lang="en-US" sz="1050" dirty="0"/>
          </a:p>
          <a:p>
            <a:pPr marL="0" indent="0" algn="ctr">
              <a:lnSpc>
                <a:spcPct val="140000"/>
              </a:lnSpc>
              <a:buNone/>
            </a:pPr>
            <a:r>
              <a:rPr lang="en-US" sz="1050" dirty="0">
                <a:solidFill>
                  <a:srgbClr val="374151"/>
                </a:solidFill>
              </a:rPr>
              <a:t>Capped at 10 points.</a:t>
            </a:r>
            <a:endParaRPr lang="en-US" sz="1050" dirty="0"/>
          </a:p>
        </p:txBody>
      </p:sp>
      <p:sp>
        <p:nvSpPr>
          <p:cNvPr id="42" name="Shape 40"/>
          <p:cNvSpPr/>
          <p:nvPr/>
        </p:nvSpPr>
        <p:spPr>
          <a:xfrm>
            <a:off x="274320" y="4873752"/>
            <a:ext cx="8595360" cy="228600"/>
          </a:xfrm>
          <a:prstGeom prst="rect">
            <a:avLst/>
          </a:prstGeom>
          <a:solidFill>
            <a:srgbClr val="1E1B4B"/>
          </a:solidFill>
          <a:ln w="12700">
            <a:solidFill>
              <a:srgbClr val="1E1B4B"/>
            </a:solidFill>
            <a:prstDash val="solid"/>
          </a:ln>
        </p:spPr>
        <p:txBody>
          <a:bodyPr/>
          <a:lstStyle/>
          <a:p>
            <a:endParaRPr lang="en-US"/>
          </a:p>
        </p:txBody>
      </p:sp>
      <p:sp>
        <p:nvSpPr>
          <p:cNvPr id="43" name="Text 41"/>
          <p:cNvSpPr/>
          <p:nvPr/>
        </p:nvSpPr>
        <p:spPr>
          <a:xfrm>
            <a:off x="502920" y="4882896"/>
            <a:ext cx="2011680" cy="201168"/>
          </a:xfrm>
          <a:prstGeom prst="rect">
            <a:avLst/>
          </a:prstGeom>
          <a:noFill/>
          <a:ln/>
        </p:spPr>
        <p:txBody>
          <a:bodyPr wrap="square" rtlCol="0" anchor="ctr"/>
          <a:lstStyle/>
          <a:p>
            <a:pPr marL="0" indent="0" algn="ctr">
              <a:buNone/>
            </a:pPr>
            <a:r>
              <a:rPr lang="en-US" sz="950" dirty="0">
                <a:solidFill>
                  <a:srgbClr val="FFFFFF"/>
                </a:solidFill>
              </a:rPr>
              <a:t>🔴 CRITICAL   Score ≥ 8</a:t>
            </a:r>
            <a:endParaRPr lang="en-US" sz="950" dirty="0"/>
          </a:p>
        </p:txBody>
      </p:sp>
      <p:sp>
        <p:nvSpPr>
          <p:cNvPr id="44" name="Text 42"/>
          <p:cNvSpPr/>
          <p:nvPr/>
        </p:nvSpPr>
        <p:spPr>
          <a:xfrm>
            <a:off x="2651760" y="4882896"/>
            <a:ext cx="2011680" cy="201168"/>
          </a:xfrm>
          <a:prstGeom prst="rect">
            <a:avLst/>
          </a:prstGeom>
          <a:noFill/>
          <a:ln/>
        </p:spPr>
        <p:txBody>
          <a:bodyPr wrap="square" rtlCol="0" anchor="ctr"/>
          <a:lstStyle/>
          <a:p>
            <a:pPr marL="0" indent="0" algn="ctr">
              <a:buNone/>
            </a:pPr>
            <a:r>
              <a:rPr lang="en-US" sz="950" dirty="0">
                <a:solidFill>
                  <a:srgbClr val="FFFFFF"/>
                </a:solidFill>
              </a:rPr>
              <a:t>🟠 HIGH   Score ≥ 6</a:t>
            </a:r>
            <a:endParaRPr lang="en-US" sz="950" dirty="0"/>
          </a:p>
        </p:txBody>
      </p:sp>
      <p:sp>
        <p:nvSpPr>
          <p:cNvPr id="45" name="Text 43"/>
          <p:cNvSpPr/>
          <p:nvPr/>
        </p:nvSpPr>
        <p:spPr>
          <a:xfrm>
            <a:off x="4800600" y="4882896"/>
            <a:ext cx="2011680" cy="201168"/>
          </a:xfrm>
          <a:prstGeom prst="rect">
            <a:avLst/>
          </a:prstGeom>
          <a:noFill/>
          <a:ln/>
        </p:spPr>
        <p:txBody>
          <a:bodyPr wrap="square" rtlCol="0" anchor="ctr"/>
          <a:lstStyle/>
          <a:p>
            <a:pPr marL="0" indent="0" algn="ctr">
              <a:buNone/>
            </a:pPr>
            <a:r>
              <a:rPr lang="en-US" sz="950" dirty="0">
                <a:solidFill>
                  <a:srgbClr val="FFFFFF"/>
                </a:solidFill>
              </a:rPr>
              <a:t>🟡 MEDIUM   Score ≥ 4</a:t>
            </a:r>
            <a:endParaRPr lang="en-US" sz="950" dirty="0"/>
          </a:p>
        </p:txBody>
      </p:sp>
      <p:sp>
        <p:nvSpPr>
          <p:cNvPr id="46" name="Text 44"/>
          <p:cNvSpPr/>
          <p:nvPr/>
        </p:nvSpPr>
        <p:spPr>
          <a:xfrm>
            <a:off x="6949440" y="4882896"/>
            <a:ext cx="2011680" cy="201168"/>
          </a:xfrm>
          <a:prstGeom prst="rect">
            <a:avLst/>
          </a:prstGeom>
          <a:noFill/>
          <a:ln/>
        </p:spPr>
        <p:txBody>
          <a:bodyPr wrap="square" rtlCol="0" anchor="ctr"/>
          <a:lstStyle/>
          <a:p>
            <a:pPr marL="0" indent="0" algn="ctr">
              <a:buNone/>
            </a:pPr>
            <a:r>
              <a:rPr lang="en-US" sz="950" dirty="0">
                <a:solidFill>
                  <a:srgbClr val="FFFFFF"/>
                </a:solidFill>
              </a:rPr>
              <a:t>🟢 LOW   Score &lt; 4</a:t>
            </a:r>
            <a:endParaRPr lang="en-US" sz="950" dirty="0"/>
          </a:p>
        </p:txBody>
      </p:sp>
      <p:sp>
        <p:nvSpPr>
          <p:cNvPr id="47" name="Text 45"/>
          <p:cNvSpPr/>
          <p:nvPr/>
        </p:nvSpPr>
        <p:spPr>
          <a:xfrm>
            <a:off x="8778240" y="4919472"/>
            <a:ext cx="320040" cy="201168"/>
          </a:xfrm>
          <a:prstGeom prst="rect">
            <a:avLst/>
          </a:prstGeom>
          <a:noFill/>
          <a:ln/>
        </p:spPr>
        <p:txBody>
          <a:bodyPr wrap="square" rtlCol="0" anchor="ctr"/>
          <a:lstStyle/>
          <a:p>
            <a:pPr marL="0" indent="0" algn="ctr">
              <a:buNone/>
            </a:pPr>
            <a:r>
              <a:rPr lang="en-US" sz="900" dirty="0">
                <a:solidFill>
                  <a:srgbClr val="6B7280"/>
                </a:solidFill>
              </a:rPr>
              <a:t>7</a:t>
            </a:r>
            <a:endParaRPr lang="en-US" sz="900" dirty="0"/>
          </a:p>
        </p:txBody>
      </p:sp>
      <p:pic>
        <p:nvPicPr>
          <p:cNvPr id="48" name="object 16">
            <a:extLst>
              <a:ext uri="{FF2B5EF4-FFF2-40B4-BE49-F238E27FC236}">
                <a16:creationId xmlns:a16="http://schemas.microsoft.com/office/drawing/2014/main" id="{10749D8F-744F-697D-706E-E203A61E1B3F}"/>
              </a:ext>
            </a:extLst>
          </p:cNvPr>
          <p:cNvPicPr/>
          <p:nvPr/>
        </p:nvPicPr>
        <p:blipFill>
          <a:blip r:embed="rId3" cstate="print"/>
          <a:stretch>
            <a:fillRect/>
          </a:stretch>
        </p:blipFill>
        <p:spPr>
          <a:xfrm>
            <a:off x="6604782" y="207147"/>
            <a:ext cx="2454812" cy="6189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4F46E5"/>
          </a:solidFill>
          <a:ln w="12700">
            <a:solidFill>
              <a:srgbClr val="4F46E5"/>
            </a:solidFill>
            <a:prstDash val="solid"/>
          </a:ln>
        </p:spPr>
        <p:txBody>
          <a:bodyPr/>
          <a:lstStyle/>
          <a:p>
            <a:endParaRPr lang="en-US"/>
          </a:p>
        </p:txBody>
      </p:sp>
      <p:sp>
        <p:nvSpPr>
          <p:cNvPr id="5" name="Text 3"/>
          <p:cNvSpPr/>
          <p:nvPr/>
        </p:nvSpPr>
        <p:spPr>
          <a:xfrm>
            <a:off x="320040" y="91440"/>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  Security Features</a:t>
            </a:r>
            <a:endParaRPr lang="en-US" sz="2200" dirty="0"/>
          </a:p>
        </p:txBody>
      </p:sp>
      <p:sp>
        <p:nvSpPr>
          <p:cNvPr id="6" name="Text 4"/>
          <p:cNvSpPr/>
          <p:nvPr/>
        </p:nvSpPr>
        <p:spPr>
          <a:xfrm>
            <a:off x="347472" y="603504"/>
            <a:ext cx="8046720" cy="320040"/>
          </a:xfrm>
          <a:prstGeom prst="rect">
            <a:avLst/>
          </a:prstGeom>
          <a:noFill/>
          <a:ln/>
        </p:spPr>
        <p:txBody>
          <a:bodyPr wrap="square" lIns="0" tIns="0" rIns="0" bIns="0" rtlCol="0" anchor="ctr"/>
          <a:lstStyle/>
          <a:p>
            <a:pPr marL="0" indent="0">
              <a:buNone/>
            </a:pPr>
            <a:r>
              <a:rPr lang="en-US" sz="1100" i="1" dirty="0">
                <a:solidFill>
                  <a:srgbClr val="C7D2FE"/>
                </a:solidFill>
              </a:rPr>
              <a:t>How every user, account &amp; data record is protected</a:t>
            </a:r>
            <a:endParaRPr lang="en-US" sz="1100" dirty="0"/>
          </a:p>
        </p:txBody>
      </p:sp>
      <p:sp>
        <p:nvSpPr>
          <p:cNvPr id="7" name="Shape 5"/>
          <p:cNvSpPr/>
          <p:nvPr/>
        </p:nvSpPr>
        <p:spPr>
          <a:xfrm>
            <a:off x="256032" y="1078992"/>
            <a:ext cx="4206240" cy="3931920"/>
          </a:xfrm>
          <a:prstGeom prst="rect">
            <a:avLst/>
          </a:prstGeom>
          <a:solidFill>
            <a:srgbClr val="FFFFFF"/>
          </a:solidFill>
          <a:ln w="15240">
            <a:solidFill>
              <a:srgbClr val="C7D2FE"/>
            </a:solidFill>
            <a:prstDash val="solid"/>
          </a:ln>
          <a:effectLst>
            <a:outerShdw blurRad="152400" dist="50800" dir="8100000" algn="bl" rotWithShape="0">
              <a:srgbClr val="818CF8">
                <a:alpha val="13000"/>
              </a:srgbClr>
            </a:outerShdw>
          </a:effectLst>
        </p:spPr>
        <p:txBody>
          <a:bodyPr/>
          <a:lstStyle/>
          <a:p>
            <a:endParaRPr lang="en-US"/>
          </a:p>
        </p:txBody>
      </p:sp>
      <p:sp>
        <p:nvSpPr>
          <p:cNvPr id="8" name="Shape 6"/>
          <p:cNvSpPr/>
          <p:nvPr/>
        </p:nvSpPr>
        <p:spPr>
          <a:xfrm>
            <a:off x="256032" y="1078992"/>
            <a:ext cx="4206240" cy="420624"/>
          </a:xfrm>
          <a:prstGeom prst="rect">
            <a:avLst/>
          </a:prstGeom>
          <a:solidFill>
            <a:srgbClr val="4F46E5"/>
          </a:solidFill>
          <a:ln w="12700">
            <a:solidFill>
              <a:srgbClr val="4F46E5"/>
            </a:solidFill>
            <a:prstDash val="solid"/>
          </a:ln>
        </p:spPr>
        <p:txBody>
          <a:bodyPr/>
          <a:lstStyle/>
          <a:p>
            <a:endParaRPr lang="en-US"/>
          </a:p>
        </p:txBody>
      </p:sp>
      <p:sp>
        <p:nvSpPr>
          <p:cNvPr id="9" name="Text 7"/>
          <p:cNvSpPr/>
          <p:nvPr/>
        </p:nvSpPr>
        <p:spPr>
          <a:xfrm>
            <a:off x="347472" y="1106424"/>
            <a:ext cx="3931920" cy="365760"/>
          </a:xfrm>
          <a:prstGeom prst="rect">
            <a:avLst/>
          </a:prstGeom>
          <a:noFill/>
          <a:ln/>
        </p:spPr>
        <p:txBody>
          <a:bodyPr wrap="square" lIns="0" tIns="0" rIns="0" bIns="0" rtlCol="0" anchor="ctr"/>
          <a:lstStyle/>
          <a:p>
            <a:pPr marL="0" indent="0">
              <a:buNone/>
            </a:pPr>
            <a:r>
              <a:rPr lang="en-US" sz="1400" b="1" dirty="0">
                <a:solidFill>
                  <a:srgbClr val="FFFFFF"/>
                </a:solidFill>
              </a:rPr>
              <a:t>🔡  CAPTCHA System</a:t>
            </a:r>
            <a:endParaRPr lang="en-US" sz="1400" dirty="0"/>
          </a:p>
        </p:txBody>
      </p:sp>
      <p:sp>
        <p:nvSpPr>
          <p:cNvPr id="10" name="Shape 8"/>
          <p:cNvSpPr/>
          <p:nvPr/>
        </p:nvSpPr>
        <p:spPr>
          <a:xfrm>
            <a:off x="502920" y="1591056"/>
            <a:ext cx="3703320" cy="841248"/>
          </a:xfrm>
          <a:prstGeom prst="rect">
            <a:avLst/>
          </a:prstGeom>
          <a:solidFill>
            <a:srgbClr val="1E1B4B"/>
          </a:solidFill>
          <a:ln w="19050">
            <a:solidFill>
              <a:srgbClr val="F59E0B"/>
            </a:solidFill>
            <a:prstDash val="solid"/>
          </a:ln>
        </p:spPr>
        <p:txBody>
          <a:bodyPr/>
          <a:lstStyle/>
          <a:p>
            <a:endParaRPr lang="en-US"/>
          </a:p>
        </p:txBody>
      </p:sp>
      <p:sp>
        <p:nvSpPr>
          <p:cNvPr id="11" name="Text 9"/>
          <p:cNvSpPr/>
          <p:nvPr/>
        </p:nvSpPr>
        <p:spPr>
          <a:xfrm>
            <a:off x="502920" y="1609344"/>
            <a:ext cx="3703320" cy="804672"/>
          </a:xfrm>
          <a:prstGeom prst="rect">
            <a:avLst/>
          </a:prstGeom>
          <a:noFill/>
          <a:ln/>
        </p:spPr>
        <p:txBody>
          <a:bodyPr wrap="square" rtlCol="0" anchor="ctr"/>
          <a:lstStyle/>
          <a:p>
            <a:pPr marL="0" indent="0" algn="ctr">
              <a:buNone/>
            </a:pPr>
            <a:r>
              <a:rPr lang="en-US" sz="3200" b="1" kern="0" spc="500" dirty="0">
                <a:solidFill>
                  <a:srgbClr val="F59E0B"/>
                </a:solidFill>
                <a:latin typeface="Consolas" pitchFamily="34" charset="0"/>
                <a:ea typeface="Consolas" pitchFamily="34" charset="-122"/>
                <a:cs typeface="Consolas" pitchFamily="34" charset="-120"/>
              </a:rPr>
              <a:t>K 7  M 2  P 9</a:t>
            </a:r>
            <a:endParaRPr lang="en-US" sz="3200" dirty="0"/>
          </a:p>
        </p:txBody>
      </p:sp>
      <p:sp>
        <p:nvSpPr>
          <p:cNvPr id="12" name="Text 10"/>
          <p:cNvSpPr/>
          <p:nvPr/>
        </p:nvSpPr>
        <p:spPr>
          <a:xfrm>
            <a:off x="502920" y="2459736"/>
            <a:ext cx="3703320" cy="237744"/>
          </a:xfrm>
          <a:prstGeom prst="rect">
            <a:avLst/>
          </a:prstGeom>
          <a:noFill/>
          <a:ln/>
        </p:spPr>
        <p:txBody>
          <a:bodyPr wrap="square" rtlCol="0" anchor="ctr"/>
          <a:lstStyle/>
          <a:p>
            <a:pPr marL="0" indent="0" algn="ctr">
              <a:buNone/>
            </a:pPr>
            <a:r>
              <a:rPr lang="en-US" sz="900" i="1" dirty="0">
                <a:solidFill>
                  <a:srgbClr val="6B7280"/>
                </a:solidFill>
              </a:rPr>
              <a:t>← Sample CAPTCHA displayed on screen</a:t>
            </a:r>
            <a:endParaRPr lang="en-US" sz="900" dirty="0"/>
          </a:p>
        </p:txBody>
      </p:sp>
      <p:sp>
        <p:nvSpPr>
          <p:cNvPr id="13" name="Shape 11"/>
          <p:cNvSpPr/>
          <p:nvPr/>
        </p:nvSpPr>
        <p:spPr>
          <a:xfrm>
            <a:off x="347472" y="2798064"/>
            <a:ext cx="64008" cy="475488"/>
          </a:xfrm>
          <a:prstGeom prst="rect">
            <a:avLst/>
          </a:prstGeom>
          <a:solidFill>
            <a:srgbClr val="4F46E5"/>
          </a:solidFill>
          <a:ln w="12700">
            <a:solidFill>
              <a:srgbClr val="4F46E5"/>
            </a:solidFill>
            <a:prstDash val="solid"/>
          </a:ln>
        </p:spPr>
        <p:txBody>
          <a:bodyPr/>
          <a:lstStyle/>
          <a:p>
            <a:endParaRPr lang="en-US"/>
          </a:p>
        </p:txBody>
      </p:sp>
      <p:sp>
        <p:nvSpPr>
          <p:cNvPr id="14" name="Text 12"/>
          <p:cNvSpPr/>
          <p:nvPr/>
        </p:nvSpPr>
        <p:spPr>
          <a:xfrm>
            <a:off x="512064" y="2798064"/>
            <a:ext cx="3794760" cy="274320"/>
          </a:xfrm>
          <a:prstGeom prst="rect">
            <a:avLst/>
          </a:prstGeom>
          <a:noFill/>
          <a:ln/>
        </p:spPr>
        <p:txBody>
          <a:bodyPr wrap="square" lIns="0" tIns="0" rIns="0" bIns="0" rtlCol="0" anchor="ctr"/>
          <a:lstStyle/>
          <a:p>
            <a:pPr marL="0" indent="0">
              <a:buNone/>
            </a:pPr>
            <a:r>
              <a:rPr lang="en-US" sz="1150" b="1" dirty="0">
                <a:solidFill>
                  <a:srgbClr val="1E1B4B"/>
                </a:solidFill>
              </a:rPr>
              <a:t>🔢  6-char Alphanumeric</a:t>
            </a:r>
            <a:endParaRPr lang="en-US" sz="1150" dirty="0"/>
          </a:p>
        </p:txBody>
      </p:sp>
      <p:sp>
        <p:nvSpPr>
          <p:cNvPr id="15" name="Text 13"/>
          <p:cNvSpPr/>
          <p:nvPr/>
        </p:nvSpPr>
        <p:spPr>
          <a:xfrm>
            <a:off x="512064" y="3054096"/>
            <a:ext cx="3794760" cy="347472"/>
          </a:xfrm>
          <a:prstGeom prst="rect">
            <a:avLst/>
          </a:prstGeom>
          <a:noFill/>
          <a:ln/>
        </p:spPr>
        <p:txBody>
          <a:bodyPr wrap="square" lIns="0" tIns="0" rIns="0" bIns="0" rtlCol="0" anchor="ctr"/>
          <a:lstStyle/>
          <a:p>
            <a:pPr marL="0" indent="0">
              <a:buNone/>
            </a:pPr>
            <a:r>
              <a:rPr lang="en-US" sz="1000" dirty="0">
                <a:solidFill>
                  <a:srgbClr val="374151"/>
                </a:solidFill>
              </a:rPr>
              <a:t>A–Z and 0–9 gives 2.17 billion possible combinations.</a:t>
            </a:r>
            <a:endParaRPr lang="en-US" sz="1000" dirty="0"/>
          </a:p>
        </p:txBody>
      </p:sp>
      <p:sp>
        <p:nvSpPr>
          <p:cNvPr id="16" name="Shape 14"/>
          <p:cNvSpPr/>
          <p:nvPr/>
        </p:nvSpPr>
        <p:spPr>
          <a:xfrm>
            <a:off x="347472" y="3474720"/>
            <a:ext cx="64008" cy="475488"/>
          </a:xfrm>
          <a:prstGeom prst="rect">
            <a:avLst/>
          </a:prstGeom>
          <a:solidFill>
            <a:srgbClr val="4F46E5"/>
          </a:solidFill>
          <a:ln w="12700">
            <a:solidFill>
              <a:srgbClr val="4F46E5"/>
            </a:solidFill>
            <a:prstDash val="solid"/>
          </a:ln>
        </p:spPr>
        <p:txBody>
          <a:bodyPr/>
          <a:lstStyle/>
          <a:p>
            <a:endParaRPr lang="en-US"/>
          </a:p>
        </p:txBody>
      </p:sp>
      <p:sp>
        <p:nvSpPr>
          <p:cNvPr id="17" name="Text 15"/>
          <p:cNvSpPr/>
          <p:nvPr/>
        </p:nvSpPr>
        <p:spPr>
          <a:xfrm>
            <a:off x="512064" y="3474720"/>
            <a:ext cx="3794760" cy="274320"/>
          </a:xfrm>
          <a:prstGeom prst="rect">
            <a:avLst/>
          </a:prstGeom>
          <a:noFill/>
          <a:ln/>
        </p:spPr>
        <p:txBody>
          <a:bodyPr wrap="square" lIns="0" tIns="0" rIns="0" bIns="0" rtlCol="0" anchor="ctr"/>
          <a:lstStyle/>
          <a:p>
            <a:pPr marL="0" indent="0">
              <a:buNone/>
            </a:pPr>
            <a:r>
              <a:rPr lang="en-US" sz="1150" b="1" dirty="0">
                <a:solidFill>
                  <a:srgbClr val="1E1B4B"/>
                </a:solidFill>
              </a:rPr>
              <a:t>⏱️  Expires in 5 Minutes</a:t>
            </a:r>
            <a:endParaRPr lang="en-US" sz="1150" dirty="0"/>
          </a:p>
        </p:txBody>
      </p:sp>
      <p:sp>
        <p:nvSpPr>
          <p:cNvPr id="18" name="Text 16"/>
          <p:cNvSpPr/>
          <p:nvPr/>
        </p:nvSpPr>
        <p:spPr>
          <a:xfrm>
            <a:off x="512064" y="3730752"/>
            <a:ext cx="3794760" cy="347472"/>
          </a:xfrm>
          <a:prstGeom prst="rect">
            <a:avLst/>
          </a:prstGeom>
          <a:noFill/>
          <a:ln/>
        </p:spPr>
        <p:txBody>
          <a:bodyPr wrap="square" lIns="0" tIns="0" rIns="0" bIns="0" rtlCol="0" anchor="ctr"/>
          <a:lstStyle/>
          <a:p>
            <a:pPr marL="0" indent="0">
              <a:buNone/>
            </a:pPr>
            <a:r>
              <a:rPr lang="en-US" sz="1000" dirty="0">
                <a:solidFill>
                  <a:srgbClr val="374151"/>
                </a:solidFill>
              </a:rPr>
              <a:t>Auto-invalidated; user clicks Refresh to get a new one.</a:t>
            </a:r>
            <a:endParaRPr lang="en-US" sz="1000" dirty="0"/>
          </a:p>
        </p:txBody>
      </p:sp>
      <p:sp>
        <p:nvSpPr>
          <p:cNvPr id="19" name="Shape 17"/>
          <p:cNvSpPr/>
          <p:nvPr/>
        </p:nvSpPr>
        <p:spPr>
          <a:xfrm>
            <a:off x="347472" y="4151376"/>
            <a:ext cx="64008" cy="475488"/>
          </a:xfrm>
          <a:prstGeom prst="rect">
            <a:avLst/>
          </a:prstGeom>
          <a:solidFill>
            <a:srgbClr val="4F46E5"/>
          </a:solidFill>
          <a:ln w="12700">
            <a:solidFill>
              <a:srgbClr val="4F46E5"/>
            </a:solidFill>
            <a:prstDash val="solid"/>
          </a:ln>
        </p:spPr>
        <p:txBody>
          <a:bodyPr/>
          <a:lstStyle/>
          <a:p>
            <a:endParaRPr lang="en-US"/>
          </a:p>
        </p:txBody>
      </p:sp>
      <p:sp>
        <p:nvSpPr>
          <p:cNvPr id="20" name="Text 18"/>
          <p:cNvSpPr/>
          <p:nvPr/>
        </p:nvSpPr>
        <p:spPr>
          <a:xfrm>
            <a:off x="512064" y="4151376"/>
            <a:ext cx="3794760" cy="274320"/>
          </a:xfrm>
          <a:prstGeom prst="rect">
            <a:avLst/>
          </a:prstGeom>
          <a:noFill/>
          <a:ln/>
        </p:spPr>
        <p:txBody>
          <a:bodyPr wrap="square" lIns="0" tIns="0" rIns="0" bIns="0" rtlCol="0" anchor="ctr"/>
          <a:lstStyle/>
          <a:p>
            <a:pPr marL="0" indent="0">
              <a:buNone/>
            </a:pPr>
            <a:r>
              <a:rPr lang="en-US" sz="1150" b="1" dirty="0">
                <a:solidFill>
                  <a:srgbClr val="1E1B4B"/>
                </a:solidFill>
              </a:rPr>
              <a:t>🔄  Required at 3 Points</a:t>
            </a:r>
            <a:endParaRPr lang="en-US" sz="1150" dirty="0"/>
          </a:p>
        </p:txBody>
      </p:sp>
      <p:sp>
        <p:nvSpPr>
          <p:cNvPr id="21" name="Text 19"/>
          <p:cNvSpPr/>
          <p:nvPr/>
        </p:nvSpPr>
        <p:spPr>
          <a:xfrm>
            <a:off x="512064" y="4407408"/>
            <a:ext cx="3794760" cy="347472"/>
          </a:xfrm>
          <a:prstGeom prst="rect">
            <a:avLst/>
          </a:prstGeom>
          <a:noFill/>
          <a:ln/>
        </p:spPr>
        <p:txBody>
          <a:bodyPr wrap="square" lIns="0" tIns="0" rIns="0" bIns="0" rtlCol="0" anchor="ctr"/>
          <a:lstStyle/>
          <a:p>
            <a:pPr marL="0" indent="0">
              <a:buNone/>
            </a:pPr>
            <a:r>
              <a:rPr lang="en-US" sz="1000" dirty="0">
                <a:solidFill>
                  <a:srgbClr val="374151"/>
                </a:solidFill>
              </a:rPr>
              <a:t>Login, Registration, and Forgot Password — all protected.</a:t>
            </a:r>
            <a:endParaRPr lang="en-US" sz="1000" dirty="0"/>
          </a:p>
        </p:txBody>
      </p:sp>
      <p:sp>
        <p:nvSpPr>
          <p:cNvPr id="22" name="Shape 20"/>
          <p:cNvSpPr/>
          <p:nvPr/>
        </p:nvSpPr>
        <p:spPr>
          <a:xfrm>
            <a:off x="4700016" y="1078992"/>
            <a:ext cx="4206240" cy="3931920"/>
          </a:xfrm>
          <a:prstGeom prst="rect">
            <a:avLst/>
          </a:prstGeom>
          <a:solidFill>
            <a:srgbClr val="FFFFFF"/>
          </a:solidFill>
          <a:ln w="15240">
            <a:solidFill>
              <a:srgbClr val="C7D2FE"/>
            </a:solidFill>
            <a:prstDash val="solid"/>
          </a:ln>
          <a:effectLst>
            <a:outerShdw blurRad="152400" dist="50800" dir="8100000" algn="bl" rotWithShape="0">
              <a:srgbClr val="818CF8">
                <a:alpha val="13000"/>
              </a:srgbClr>
            </a:outerShdw>
          </a:effectLst>
        </p:spPr>
        <p:txBody>
          <a:bodyPr/>
          <a:lstStyle/>
          <a:p>
            <a:endParaRPr lang="en-US"/>
          </a:p>
        </p:txBody>
      </p:sp>
      <p:sp>
        <p:nvSpPr>
          <p:cNvPr id="23" name="Shape 21"/>
          <p:cNvSpPr/>
          <p:nvPr/>
        </p:nvSpPr>
        <p:spPr>
          <a:xfrm>
            <a:off x="4700016" y="1078992"/>
            <a:ext cx="4206240" cy="420624"/>
          </a:xfrm>
          <a:prstGeom prst="rect">
            <a:avLst/>
          </a:prstGeom>
          <a:solidFill>
            <a:srgbClr val="7C3AED"/>
          </a:solidFill>
          <a:ln w="12700">
            <a:solidFill>
              <a:srgbClr val="7C3AED"/>
            </a:solidFill>
            <a:prstDash val="solid"/>
          </a:ln>
        </p:spPr>
        <p:txBody>
          <a:bodyPr/>
          <a:lstStyle/>
          <a:p>
            <a:endParaRPr lang="en-US"/>
          </a:p>
        </p:txBody>
      </p:sp>
      <p:sp>
        <p:nvSpPr>
          <p:cNvPr id="24" name="Text 22"/>
          <p:cNvSpPr/>
          <p:nvPr/>
        </p:nvSpPr>
        <p:spPr>
          <a:xfrm>
            <a:off x="4791456" y="1106424"/>
            <a:ext cx="3931920" cy="365760"/>
          </a:xfrm>
          <a:prstGeom prst="rect">
            <a:avLst/>
          </a:prstGeom>
          <a:noFill/>
          <a:ln/>
        </p:spPr>
        <p:txBody>
          <a:bodyPr wrap="square" lIns="0" tIns="0" rIns="0" bIns="0" rtlCol="0" anchor="ctr"/>
          <a:lstStyle/>
          <a:p>
            <a:pPr marL="0" indent="0">
              <a:buNone/>
            </a:pPr>
            <a:r>
              <a:rPr lang="en-US" sz="1400" b="1" dirty="0">
                <a:solidFill>
                  <a:srgbClr val="FFFFFF"/>
                </a:solidFill>
              </a:rPr>
              <a:t>🔑  Password &amp; Data Security</a:t>
            </a:r>
            <a:endParaRPr lang="en-US" sz="1400" dirty="0"/>
          </a:p>
        </p:txBody>
      </p:sp>
      <p:sp>
        <p:nvSpPr>
          <p:cNvPr id="25" name="Text 23"/>
          <p:cNvSpPr/>
          <p:nvPr/>
        </p:nvSpPr>
        <p:spPr>
          <a:xfrm>
            <a:off x="4828032" y="1572768"/>
            <a:ext cx="3840480" cy="310896"/>
          </a:xfrm>
          <a:prstGeom prst="rect">
            <a:avLst/>
          </a:prstGeom>
          <a:noFill/>
          <a:ln/>
        </p:spPr>
        <p:txBody>
          <a:bodyPr wrap="square" lIns="0" tIns="0" rIns="0" bIns="0" rtlCol="0" anchor="ctr"/>
          <a:lstStyle/>
          <a:p>
            <a:pPr marL="0" indent="0">
              <a:buNone/>
            </a:pPr>
            <a:r>
              <a:rPr lang="en-US" sz="1150" b="1" dirty="0">
                <a:solidFill>
                  <a:srgbClr val="7C3AED"/>
                </a:solidFill>
              </a:rPr>
              <a:t>🔒  SHA-256 Hashing</a:t>
            </a:r>
            <a:endParaRPr lang="en-US" sz="1150" dirty="0"/>
          </a:p>
        </p:txBody>
      </p:sp>
      <p:sp>
        <p:nvSpPr>
          <p:cNvPr id="26" name="Text 24"/>
          <p:cNvSpPr/>
          <p:nvPr/>
        </p:nvSpPr>
        <p:spPr>
          <a:xfrm>
            <a:off x="4919472" y="1865376"/>
            <a:ext cx="3730752" cy="457200"/>
          </a:xfrm>
          <a:prstGeom prst="rect">
            <a:avLst/>
          </a:prstGeom>
          <a:noFill/>
          <a:ln/>
        </p:spPr>
        <p:txBody>
          <a:bodyPr wrap="square" lIns="0" tIns="0" rIns="0" bIns="0" rtlCol="0" anchor="ctr"/>
          <a:lstStyle/>
          <a:p>
            <a:pPr marL="0" indent="0">
              <a:lnSpc>
                <a:spcPct val="130000"/>
              </a:lnSpc>
              <a:buNone/>
            </a:pPr>
            <a:r>
              <a:rPr lang="en-US" sz="1000" dirty="0">
                <a:solidFill>
                  <a:srgbClr val="374151"/>
                </a:solidFill>
              </a:rPr>
              <a:t>Passwords become a 64-char encrypted hash. Even opening the file reveals nothing readable.</a:t>
            </a:r>
            <a:endParaRPr lang="en-US" sz="1000" dirty="0"/>
          </a:p>
        </p:txBody>
      </p:sp>
      <p:sp>
        <p:nvSpPr>
          <p:cNvPr id="27" name="Shape 25"/>
          <p:cNvSpPr/>
          <p:nvPr/>
        </p:nvSpPr>
        <p:spPr>
          <a:xfrm>
            <a:off x="4791456" y="2395728"/>
            <a:ext cx="3931920" cy="0"/>
          </a:xfrm>
          <a:prstGeom prst="line">
            <a:avLst/>
          </a:prstGeom>
          <a:noFill/>
          <a:ln w="7620">
            <a:solidFill>
              <a:srgbClr val="C7D2FE"/>
            </a:solidFill>
            <a:prstDash val="solid"/>
          </a:ln>
        </p:spPr>
        <p:txBody>
          <a:bodyPr/>
          <a:lstStyle/>
          <a:p>
            <a:endParaRPr lang="en-US"/>
          </a:p>
        </p:txBody>
      </p:sp>
      <p:sp>
        <p:nvSpPr>
          <p:cNvPr id="28" name="Text 26"/>
          <p:cNvSpPr/>
          <p:nvPr/>
        </p:nvSpPr>
        <p:spPr>
          <a:xfrm>
            <a:off x="4828032" y="2432304"/>
            <a:ext cx="3840480" cy="310896"/>
          </a:xfrm>
          <a:prstGeom prst="rect">
            <a:avLst/>
          </a:prstGeom>
          <a:noFill/>
          <a:ln/>
        </p:spPr>
        <p:txBody>
          <a:bodyPr wrap="square" lIns="0" tIns="0" rIns="0" bIns="0" rtlCol="0" anchor="ctr"/>
          <a:lstStyle/>
          <a:p>
            <a:pPr marL="0" indent="0">
              <a:buNone/>
            </a:pPr>
            <a:r>
              <a:rPr lang="en-US" sz="1150" b="1" dirty="0">
                <a:solidFill>
                  <a:srgbClr val="7C3AED"/>
                </a:solidFill>
              </a:rPr>
              <a:t>📋  Strong Password Rules</a:t>
            </a:r>
            <a:endParaRPr lang="en-US" sz="1150" dirty="0"/>
          </a:p>
        </p:txBody>
      </p:sp>
      <p:sp>
        <p:nvSpPr>
          <p:cNvPr id="29" name="Text 27"/>
          <p:cNvSpPr/>
          <p:nvPr/>
        </p:nvSpPr>
        <p:spPr>
          <a:xfrm>
            <a:off x="4919472" y="2724912"/>
            <a:ext cx="3730752" cy="457200"/>
          </a:xfrm>
          <a:prstGeom prst="rect">
            <a:avLst/>
          </a:prstGeom>
          <a:noFill/>
          <a:ln/>
        </p:spPr>
        <p:txBody>
          <a:bodyPr wrap="square" lIns="0" tIns="0" rIns="0" bIns="0" rtlCol="0" anchor="ctr"/>
          <a:lstStyle/>
          <a:p>
            <a:pPr marL="0" indent="0">
              <a:lnSpc>
                <a:spcPct val="130000"/>
              </a:lnSpc>
              <a:buNone/>
            </a:pPr>
            <a:r>
              <a:rPr lang="en-US" sz="1000" dirty="0">
                <a:solidFill>
                  <a:srgbClr val="374151"/>
                </a:solidFill>
              </a:rPr>
              <a:t>Min 8 chars, 1 uppercase, 1 number, 1 special character — enforced on every account.</a:t>
            </a:r>
            <a:endParaRPr lang="en-US" sz="1000" dirty="0"/>
          </a:p>
        </p:txBody>
      </p:sp>
      <p:sp>
        <p:nvSpPr>
          <p:cNvPr id="30" name="Shape 28"/>
          <p:cNvSpPr/>
          <p:nvPr/>
        </p:nvSpPr>
        <p:spPr>
          <a:xfrm>
            <a:off x="4791456" y="3255264"/>
            <a:ext cx="3931920" cy="0"/>
          </a:xfrm>
          <a:prstGeom prst="line">
            <a:avLst/>
          </a:prstGeom>
          <a:noFill/>
          <a:ln w="7620">
            <a:solidFill>
              <a:srgbClr val="C7D2FE"/>
            </a:solidFill>
            <a:prstDash val="solid"/>
          </a:ln>
        </p:spPr>
        <p:txBody>
          <a:bodyPr/>
          <a:lstStyle/>
          <a:p>
            <a:endParaRPr lang="en-US"/>
          </a:p>
        </p:txBody>
      </p:sp>
      <p:sp>
        <p:nvSpPr>
          <p:cNvPr id="31" name="Text 29"/>
          <p:cNvSpPr/>
          <p:nvPr/>
        </p:nvSpPr>
        <p:spPr>
          <a:xfrm>
            <a:off x="4828032" y="3291840"/>
            <a:ext cx="3840480" cy="310896"/>
          </a:xfrm>
          <a:prstGeom prst="rect">
            <a:avLst/>
          </a:prstGeom>
          <a:noFill/>
          <a:ln/>
        </p:spPr>
        <p:txBody>
          <a:bodyPr wrap="square" lIns="0" tIns="0" rIns="0" bIns="0" rtlCol="0" anchor="ctr"/>
          <a:lstStyle/>
          <a:p>
            <a:pPr marL="0" indent="0">
              <a:buNone/>
            </a:pPr>
            <a:r>
              <a:rPr lang="en-US" sz="1150" b="1" dirty="0">
                <a:solidFill>
                  <a:srgbClr val="7C3AED"/>
                </a:solidFill>
              </a:rPr>
              <a:t>📧  Email Regex Check</a:t>
            </a:r>
            <a:endParaRPr lang="en-US" sz="1150" dirty="0"/>
          </a:p>
        </p:txBody>
      </p:sp>
      <p:sp>
        <p:nvSpPr>
          <p:cNvPr id="32" name="Text 30"/>
          <p:cNvSpPr/>
          <p:nvPr/>
        </p:nvSpPr>
        <p:spPr>
          <a:xfrm>
            <a:off x="4919472" y="3584448"/>
            <a:ext cx="3730752" cy="457200"/>
          </a:xfrm>
          <a:prstGeom prst="rect">
            <a:avLst/>
          </a:prstGeom>
          <a:noFill/>
          <a:ln/>
        </p:spPr>
        <p:txBody>
          <a:bodyPr wrap="square" lIns="0" tIns="0" rIns="0" bIns="0" rtlCol="0" anchor="ctr"/>
          <a:lstStyle/>
          <a:p>
            <a:pPr marL="0" indent="0">
              <a:lnSpc>
                <a:spcPct val="130000"/>
              </a:lnSpc>
              <a:buNone/>
            </a:pPr>
            <a:r>
              <a:rPr lang="en-US" sz="1000" dirty="0">
                <a:solidFill>
                  <a:srgbClr val="374151"/>
                </a:solidFill>
              </a:rPr>
              <a:t>Email format is validated with Regex before any account is saved in the system.</a:t>
            </a:r>
            <a:endParaRPr lang="en-US" sz="1000" dirty="0"/>
          </a:p>
        </p:txBody>
      </p:sp>
      <p:sp>
        <p:nvSpPr>
          <p:cNvPr id="33" name="Shape 31"/>
          <p:cNvSpPr/>
          <p:nvPr/>
        </p:nvSpPr>
        <p:spPr>
          <a:xfrm>
            <a:off x="4791456" y="4114800"/>
            <a:ext cx="3931920" cy="0"/>
          </a:xfrm>
          <a:prstGeom prst="line">
            <a:avLst/>
          </a:prstGeom>
          <a:noFill/>
          <a:ln w="7620">
            <a:solidFill>
              <a:srgbClr val="C7D2FE"/>
            </a:solidFill>
            <a:prstDash val="solid"/>
          </a:ln>
        </p:spPr>
        <p:txBody>
          <a:bodyPr/>
          <a:lstStyle/>
          <a:p>
            <a:endParaRPr lang="en-US"/>
          </a:p>
        </p:txBody>
      </p:sp>
      <p:sp>
        <p:nvSpPr>
          <p:cNvPr id="34" name="Text 32"/>
          <p:cNvSpPr/>
          <p:nvPr/>
        </p:nvSpPr>
        <p:spPr>
          <a:xfrm>
            <a:off x="4828032" y="4151376"/>
            <a:ext cx="3840480" cy="310896"/>
          </a:xfrm>
          <a:prstGeom prst="rect">
            <a:avLst/>
          </a:prstGeom>
          <a:noFill/>
          <a:ln/>
        </p:spPr>
        <p:txBody>
          <a:bodyPr wrap="square" lIns="0" tIns="0" rIns="0" bIns="0" rtlCol="0" anchor="ctr"/>
          <a:lstStyle/>
          <a:p>
            <a:pPr marL="0" indent="0">
              <a:buNone/>
            </a:pPr>
            <a:r>
              <a:rPr lang="en-US" sz="1150" b="1" dirty="0">
                <a:solidFill>
                  <a:srgbClr val="7C3AED"/>
                </a:solidFill>
              </a:rPr>
              <a:t>👮  Police ID Auto-Gen</a:t>
            </a:r>
            <a:endParaRPr lang="en-US" sz="1150" dirty="0"/>
          </a:p>
        </p:txBody>
      </p:sp>
      <p:sp>
        <p:nvSpPr>
          <p:cNvPr id="35" name="Text 33"/>
          <p:cNvSpPr/>
          <p:nvPr/>
        </p:nvSpPr>
        <p:spPr>
          <a:xfrm>
            <a:off x="4919472" y="4443984"/>
            <a:ext cx="3730752" cy="457200"/>
          </a:xfrm>
          <a:prstGeom prst="rect">
            <a:avLst/>
          </a:prstGeom>
          <a:noFill/>
          <a:ln/>
        </p:spPr>
        <p:txBody>
          <a:bodyPr wrap="square" lIns="0" tIns="0" rIns="0" bIns="0" rtlCol="0" anchor="ctr"/>
          <a:lstStyle/>
          <a:p>
            <a:pPr marL="0" indent="0">
              <a:lnSpc>
                <a:spcPct val="130000"/>
              </a:lnSpc>
              <a:buNone/>
            </a:pPr>
            <a:r>
              <a:rPr lang="en-US" sz="1000" dirty="0">
                <a:solidFill>
                  <a:srgbClr val="374151"/>
                </a:solidFill>
              </a:rPr>
              <a:t>Admins get a unique POL-XXXXX via random.randrange() — attached to every case update.</a:t>
            </a:r>
            <a:endParaRPr lang="en-US" sz="1000" dirty="0"/>
          </a:p>
        </p:txBody>
      </p:sp>
      <p:sp>
        <p:nvSpPr>
          <p:cNvPr id="36" name="Text 34"/>
          <p:cNvSpPr/>
          <p:nvPr/>
        </p:nvSpPr>
        <p:spPr>
          <a:xfrm>
            <a:off x="8778240" y="4919472"/>
            <a:ext cx="320040" cy="201168"/>
          </a:xfrm>
          <a:prstGeom prst="rect">
            <a:avLst/>
          </a:prstGeom>
          <a:noFill/>
          <a:ln/>
        </p:spPr>
        <p:txBody>
          <a:bodyPr wrap="square" rtlCol="0" anchor="ctr"/>
          <a:lstStyle/>
          <a:p>
            <a:pPr marL="0" indent="0" algn="ctr">
              <a:buNone/>
            </a:pPr>
            <a:r>
              <a:rPr lang="en-US" sz="900" dirty="0">
                <a:solidFill>
                  <a:srgbClr val="6B7280"/>
                </a:solidFill>
              </a:rPr>
              <a:t>8</a:t>
            </a:r>
            <a:endParaRPr lang="en-US" sz="900" dirty="0"/>
          </a:p>
        </p:txBody>
      </p:sp>
      <p:pic>
        <p:nvPicPr>
          <p:cNvPr id="37" name="object 16">
            <a:extLst>
              <a:ext uri="{FF2B5EF4-FFF2-40B4-BE49-F238E27FC236}">
                <a16:creationId xmlns:a16="http://schemas.microsoft.com/office/drawing/2014/main" id="{0661AE07-763A-8953-B9E6-A19D0B4B3BA2}"/>
              </a:ext>
            </a:extLst>
          </p:cNvPr>
          <p:cNvPicPr/>
          <p:nvPr/>
        </p:nvPicPr>
        <p:blipFill>
          <a:blip r:embed="rId3" cstate="print"/>
          <a:stretch>
            <a:fillRect/>
          </a:stretch>
        </p:blipFill>
        <p:spPr>
          <a:xfrm>
            <a:off x="6604782" y="207147"/>
            <a:ext cx="2454812" cy="61897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4F46E5"/>
          </a:solidFill>
          <a:ln w="12700">
            <a:solidFill>
              <a:srgbClr val="4F46E5"/>
            </a:solidFill>
            <a:prstDash val="solid"/>
          </a:ln>
        </p:spPr>
        <p:txBody>
          <a:bodyPr/>
          <a:lstStyle/>
          <a:p>
            <a:endParaRPr lang="en-US"/>
          </a:p>
        </p:txBody>
      </p:sp>
      <p:sp>
        <p:nvSpPr>
          <p:cNvPr id="5" name="Text 3"/>
          <p:cNvSpPr/>
          <p:nvPr/>
        </p:nvSpPr>
        <p:spPr>
          <a:xfrm>
            <a:off x="320040" y="91440"/>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  Crime Types &amp; Severity Levels</a:t>
            </a:r>
            <a:endParaRPr lang="en-US" sz="2200" dirty="0"/>
          </a:p>
        </p:txBody>
      </p:sp>
      <p:sp>
        <p:nvSpPr>
          <p:cNvPr id="6" name="Text 4"/>
          <p:cNvSpPr/>
          <p:nvPr/>
        </p:nvSpPr>
        <p:spPr>
          <a:xfrm>
            <a:off x="347472" y="603504"/>
            <a:ext cx="8046720" cy="320040"/>
          </a:xfrm>
          <a:prstGeom prst="rect">
            <a:avLst/>
          </a:prstGeom>
          <a:noFill/>
          <a:ln/>
        </p:spPr>
        <p:txBody>
          <a:bodyPr wrap="square" lIns="0" tIns="0" rIns="0" bIns="0" rtlCol="0" anchor="ctr"/>
          <a:lstStyle/>
          <a:p>
            <a:pPr marL="0" indent="0">
              <a:buNone/>
            </a:pPr>
            <a:r>
              <a:rPr lang="en-US" sz="1100" i="1" dirty="0">
                <a:solidFill>
                  <a:srgbClr val="C7D2FE"/>
                </a:solidFill>
              </a:rPr>
              <a:t>Auto-assigned the moment a crime type is selected — no manual entry</a:t>
            </a:r>
            <a:endParaRPr lang="en-US" sz="1100" dirty="0"/>
          </a:p>
        </p:txBody>
      </p:sp>
      <p:sp>
        <p:nvSpPr>
          <p:cNvPr id="7" name="Shape 5"/>
          <p:cNvSpPr/>
          <p:nvPr/>
        </p:nvSpPr>
        <p:spPr>
          <a:xfrm>
            <a:off x="256032" y="1115568"/>
            <a:ext cx="4251960" cy="896112"/>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8" name="Shape 6"/>
          <p:cNvSpPr/>
          <p:nvPr/>
        </p:nvSpPr>
        <p:spPr>
          <a:xfrm>
            <a:off x="256032" y="1115568"/>
            <a:ext cx="82296" cy="896112"/>
          </a:xfrm>
          <a:prstGeom prst="rect">
            <a:avLst/>
          </a:prstGeom>
          <a:solidFill>
            <a:srgbClr val="EF4444"/>
          </a:solidFill>
          <a:ln w="12700">
            <a:solidFill>
              <a:srgbClr val="EF4444"/>
            </a:solidFill>
            <a:prstDash val="solid"/>
          </a:ln>
        </p:spPr>
        <p:txBody>
          <a:bodyPr/>
          <a:lstStyle/>
          <a:p>
            <a:endParaRPr lang="en-US"/>
          </a:p>
        </p:txBody>
      </p:sp>
      <p:sp>
        <p:nvSpPr>
          <p:cNvPr id="9" name="Text 7"/>
          <p:cNvSpPr/>
          <p:nvPr/>
        </p:nvSpPr>
        <p:spPr>
          <a:xfrm>
            <a:off x="438912" y="1188720"/>
            <a:ext cx="2468880" cy="310896"/>
          </a:xfrm>
          <a:prstGeom prst="rect">
            <a:avLst/>
          </a:prstGeom>
          <a:noFill/>
          <a:ln/>
        </p:spPr>
        <p:txBody>
          <a:bodyPr wrap="square" lIns="0" tIns="0" rIns="0" bIns="0" rtlCol="0" anchor="ctr"/>
          <a:lstStyle/>
          <a:p>
            <a:pPr marL="0" indent="0">
              <a:buNone/>
            </a:pPr>
            <a:r>
              <a:rPr lang="en-US" sz="1250" b="1" dirty="0">
                <a:solidFill>
                  <a:srgbClr val="1E1B4B"/>
                </a:solidFill>
              </a:rPr>
              <a:t>Data Breach</a:t>
            </a:r>
            <a:endParaRPr lang="en-US" sz="1250" dirty="0"/>
          </a:p>
        </p:txBody>
      </p:sp>
      <p:sp>
        <p:nvSpPr>
          <p:cNvPr id="10" name="Shape 8"/>
          <p:cNvSpPr/>
          <p:nvPr/>
        </p:nvSpPr>
        <p:spPr>
          <a:xfrm>
            <a:off x="3456432" y="1207008"/>
            <a:ext cx="960120" cy="256032"/>
          </a:xfrm>
          <a:prstGeom prst="rect">
            <a:avLst/>
          </a:prstGeom>
          <a:solidFill>
            <a:srgbClr val="EF4444"/>
          </a:solidFill>
          <a:ln w="12700">
            <a:solidFill>
              <a:srgbClr val="EF4444"/>
            </a:solidFill>
            <a:prstDash val="solid"/>
          </a:ln>
        </p:spPr>
        <p:txBody>
          <a:bodyPr/>
          <a:lstStyle/>
          <a:p>
            <a:endParaRPr lang="en-US"/>
          </a:p>
        </p:txBody>
      </p:sp>
      <p:sp>
        <p:nvSpPr>
          <p:cNvPr id="11" name="Text 9"/>
          <p:cNvSpPr/>
          <p:nvPr/>
        </p:nvSpPr>
        <p:spPr>
          <a:xfrm>
            <a:off x="3456432" y="1207008"/>
            <a:ext cx="960120" cy="256032"/>
          </a:xfrm>
          <a:prstGeom prst="rect">
            <a:avLst/>
          </a:prstGeom>
          <a:noFill/>
          <a:ln/>
        </p:spPr>
        <p:txBody>
          <a:bodyPr wrap="square" rtlCol="0" anchor="ctr"/>
          <a:lstStyle/>
          <a:p>
            <a:pPr marL="0" indent="0" algn="ctr">
              <a:buNone/>
            </a:pPr>
            <a:r>
              <a:rPr lang="en-US" sz="850" b="1" dirty="0">
                <a:solidFill>
                  <a:srgbClr val="FFFFFF"/>
                </a:solidFill>
              </a:rPr>
              <a:t>CRITICAL</a:t>
            </a:r>
            <a:endParaRPr lang="en-US" sz="850" dirty="0"/>
          </a:p>
        </p:txBody>
      </p:sp>
      <p:sp>
        <p:nvSpPr>
          <p:cNvPr id="12" name="Shape 10"/>
          <p:cNvSpPr/>
          <p:nvPr/>
        </p:nvSpPr>
        <p:spPr>
          <a:xfrm>
            <a:off x="438912" y="1554480"/>
            <a:ext cx="2651760" cy="137160"/>
          </a:xfrm>
          <a:prstGeom prst="rect">
            <a:avLst/>
          </a:prstGeom>
          <a:solidFill>
            <a:srgbClr val="EEF2FF"/>
          </a:solidFill>
          <a:ln w="12700">
            <a:solidFill>
              <a:srgbClr val="C7D2FE"/>
            </a:solidFill>
            <a:prstDash val="solid"/>
          </a:ln>
        </p:spPr>
        <p:txBody>
          <a:bodyPr/>
          <a:lstStyle/>
          <a:p>
            <a:endParaRPr lang="en-US"/>
          </a:p>
        </p:txBody>
      </p:sp>
      <p:sp>
        <p:nvSpPr>
          <p:cNvPr id="13" name="Shape 11"/>
          <p:cNvSpPr/>
          <p:nvPr/>
        </p:nvSpPr>
        <p:spPr>
          <a:xfrm>
            <a:off x="438912" y="1554480"/>
            <a:ext cx="2651760" cy="137160"/>
          </a:xfrm>
          <a:prstGeom prst="rect">
            <a:avLst/>
          </a:prstGeom>
          <a:solidFill>
            <a:srgbClr val="EF4444"/>
          </a:solidFill>
          <a:ln w="12700">
            <a:solidFill>
              <a:srgbClr val="EF4444"/>
            </a:solidFill>
            <a:prstDash val="solid"/>
          </a:ln>
        </p:spPr>
        <p:txBody>
          <a:bodyPr/>
          <a:lstStyle/>
          <a:p>
            <a:endParaRPr lang="en-US"/>
          </a:p>
        </p:txBody>
      </p:sp>
      <p:sp>
        <p:nvSpPr>
          <p:cNvPr id="14" name="Text 12"/>
          <p:cNvSpPr/>
          <p:nvPr/>
        </p:nvSpPr>
        <p:spPr>
          <a:xfrm>
            <a:off x="3182112" y="1499616"/>
            <a:ext cx="685800" cy="256032"/>
          </a:xfrm>
          <a:prstGeom prst="rect">
            <a:avLst/>
          </a:prstGeom>
          <a:noFill/>
          <a:ln/>
        </p:spPr>
        <p:txBody>
          <a:bodyPr wrap="square" rtlCol="0" anchor="ctr"/>
          <a:lstStyle/>
          <a:p>
            <a:pPr marL="0" indent="0" algn="r">
              <a:buNone/>
            </a:pPr>
            <a:r>
              <a:rPr lang="en-US" sz="1300" b="1" dirty="0">
                <a:solidFill>
                  <a:srgbClr val="EF4444"/>
                </a:solidFill>
              </a:rPr>
              <a:t>10/10</a:t>
            </a:r>
            <a:endParaRPr lang="en-US" sz="1300" dirty="0"/>
          </a:p>
        </p:txBody>
      </p:sp>
      <p:sp>
        <p:nvSpPr>
          <p:cNvPr id="15" name="Text 13"/>
          <p:cNvSpPr/>
          <p:nvPr/>
        </p:nvSpPr>
        <p:spPr>
          <a:xfrm>
            <a:off x="438912" y="1737360"/>
            <a:ext cx="3977640" cy="237744"/>
          </a:xfrm>
          <a:prstGeom prst="rect">
            <a:avLst/>
          </a:prstGeom>
          <a:noFill/>
          <a:ln/>
        </p:spPr>
        <p:txBody>
          <a:bodyPr wrap="square" lIns="0" tIns="0" rIns="0" bIns="0" rtlCol="0" anchor="ctr"/>
          <a:lstStyle/>
          <a:p>
            <a:pPr marL="0" indent="0">
              <a:buNone/>
            </a:pPr>
            <a:r>
              <a:rPr lang="en-US" sz="950" dirty="0">
                <a:solidFill>
                  <a:srgbClr val="6B7280"/>
                </a:solidFill>
              </a:rPr>
              <a:t>Unauthorised access to private databases.</a:t>
            </a:r>
            <a:endParaRPr lang="en-US" sz="950" dirty="0"/>
          </a:p>
        </p:txBody>
      </p:sp>
      <p:sp>
        <p:nvSpPr>
          <p:cNvPr id="16" name="Shape 14"/>
          <p:cNvSpPr/>
          <p:nvPr/>
        </p:nvSpPr>
        <p:spPr>
          <a:xfrm>
            <a:off x="256032" y="2103120"/>
            <a:ext cx="4251960" cy="896112"/>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17" name="Shape 15"/>
          <p:cNvSpPr/>
          <p:nvPr/>
        </p:nvSpPr>
        <p:spPr>
          <a:xfrm>
            <a:off x="256032" y="2103120"/>
            <a:ext cx="82296" cy="896112"/>
          </a:xfrm>
          <a:prstGeom prst="rect">
            <a:avLst/>
          </a:prstGeom>
          <a:solidFill>
            <a:srgbClr val="EF4444"/>
          </a:solidFill>
          <a:ln w="12700">
            <a:solidFill>
              <a:srgbClr val="EF4444"/>
            </a:solidFill>
            <a:prstDash val="solid"/>
          </a:ln>
        </p:spPr>
        <p:txBody>
          <a:bodyPr/>
          <a:lstStyle/>
          <a:p>
            <a:endParaRPr lang="en-US"/>
          </a:p>
        </p:txBody>
      </p:sp>
      <p:sp>
        <p:nvSpPr>
          <p:cNvPr id="18" name="Text 16"/>
          <p:cNvSpPr/>
          <p:nvPr/>
        </p:nvSpPr>
        <p:spPr>
          <a:xfrm>
            <a:off x="438912" y="2176272"/>
            <a:ext cx="2468880" cy="310896"/>
          </a:xfrm>
          <a:prstGeom prst="rect">
            <a:avLst/>
          </a:prstGeom>
          <a:noFill/>
          <a:ln/>
        </p:spPr>
        <p:txBody>
          <a:bodyPr wrap="square" lIns="0" tIns="0" rIns="0" bIns="0" rtlCol="0" anchor="ctr"/>
          <a:lstStyle/>
          <a:p>
            <a:pPr marL="0" indent="0">
              <a:buNone/>
            </a:pPr>
            <a:r>
              <a:rPr lang="en-US" sz="1250" b="1" dirty="0">
                <a:solidFill>
                  <a:srgbClr val="1E1B4B"/>
                </a:solidFill>
              </a:rPr>
              <a:t>Ransomware</a:t>
            </a:r>
            <a:endParaRPr lang="en-US" sz="1250" dirty="0"/>
          </a:p>
        </p:txBody>
      </p:sp>
      <p:sp>
        <p:nvSpPr>
          <p:cNvPr id="19" name="Shape 17"/>
          <p:cNvSpPr/>
          <p:nvPr/>
        </p:nvSpPr>
        <p:spPr>
          <a:xfrm>
            <a:off x="3456432" y="2194560"/>
            <a:ext cx="960120" cy="256032"/>
          </a:xfrm>
          <a:prstGeom prst="rect">
            <a:avLst/>
          </a:prstGeom>
          <a:solidFill>
            <a:srgbClr val="EF4444"/>
          </a:solidFill>
          <a:ln w="12700">
            <a:solidFill>
              <a:srgbClr val="EF4444"/>
            </a:solidFill>
            <a:prstDash val="solid"/>
          </a:ln>
        </p:spPr>
        <p:txBody>
          <a:bodyPr/>
          <a:lstStyle/>
          <a:p>
            <a:endParaRPr lang="en-US"/>
          </a:p>
        </p:txBody>
      </p:sp>
      <p:sp>
        <p:nvSpPr>
          <p:cNvPr id="20" name="Text 18"/>
          <p:cNvSpPr/>
          <p:nvPr/>
        </p:nvSpPr>
        <p:spPr>
          <a:xfrm>
            <a:off x="3456432" y="2194560"/>
            <a:ext cx="960120" cy="256032"/>
          </a:xfrm>
          <a:prstGeom prst="rect">
            <a:avLst/>
          </a:prstGeom>
          <a:noFill/>
          <a:ln/>
        </p:spPr>
        <p:txBody>
          <a:bodyPr wrap="square" rtlCol="0" anchor="ctr"/>
          <a:lstStyle/>
          <a:p>
            <a:pPr marL="0" indent="0" algn="ctr">
              <a:buNone/>
            </a:pPr>
            <a:r>
              <a:rPr lang="en-US" sz="850" b="1" dirty="0">
                <a:solidFill>
                  <a:srgbClr val="FFFFFF"/>
                </a:solidFill>
              </a:rPr>
              <a:t>CRITICAL</a:t>
            </a:r>
            <a:endParaRPr lang="en-US" sz="850" dirty="0"/>
          </a:p>
        </p:txBody>
      </p:sp>
      <p:sp>
        <p:nvSpPr>
          <p:cNvPr id="21" name="Shape 19"/>
          <p:cNvSpPr/>
          <p:nvPr/>
        </p:nvSpPr>
        <p:spPr>
          <a:xfrm>
            <a:off x="438912" y="2542032"/>
            <a:ext cx="2651760" cy="137160"/>
          </a:xfrm>
          <a:prstGeom prst="rect">
            <a:avLst/>
          </a:prstGeom>
          <a:solidFill>
            <a:srgbClr val="EEF2FF"/>
          </a:solidFill>
          <a:ln w="12700">
            <a:solidFill>
              <a:srgbClr val="C7D2FE"/>
            </a:solidFill>
            <a:prstDash val="solid"/>
          </a:ln>
        </p:spPr>
        <p:txBody>
          <a:bodyPr/>
          <a:lstStyle/>
          <a:p>
            <a:endParaRPr lang="en-US"/>
          </a:p>
        </p:txBody>
      </p:sp>
      <p:sp>
        <p:nvSpPr>
          <p:cNvPr id="22" name="Shape 20"/>
          <p:cNvSpPr/>
          <p:nvPr/>
        </p:nvSpPr>
        <p:spPr>
          <a:xfrm>
            <a:off x="438912" y="2542032"/>
            <a:ext cx="2651760" cy="137160"/>
          </a:xfrm>
          <a:prstGeom prst="rect">
            <a:avLst/>
          </a:prstGeom>
          <a:solidFill>
            <a:srgbClr val="EF4444"/>
          </a:solidFill>
          <a:ln w="12700">
            <a:solidFill>
              <a:srgbClr val="EF4444"/>
            </a:solidFill>
            <a:prstDash val="solid"/>
          </a:ln>
        </p:spPr>
        <p:txBody>
          <a:bodyPr/>
          <a:lstStyle/>
          <a:p>
            <a:endParaRPr lang="en-US"/>
          </a:p>
        </p:txBody>
      </p:sp>
      <p:sp>
        <p:nvSpPr>
          <p:cNvPr id="23" name="Text 21"/>
          <p:cNvSpPr/>
          <p:nvPr/>
        </p:nvSpPr>
        <p:spPr>
          <a:xfrm>
            <a:off x="3182112" y="2487168"/>
            <a:ext cx="685800" cy="256032"/>
          </a:xfrm>
          <a:prstGeom prst="rect">
            <a:avLst/>
          </a:prstGeom>
          <a:noFill/>
          <a:ln/>
        </p:spPr>
        <p:txBody>
          <a:bodyPr wrap="square" rtlCol="0" anchor="ctr"/>
          <a:lstStyle/>
          <a:p>
            <a:pPr marL="0" indent="0" algn="r">
              <a:buNone/>
            </a:pPr>
            <a:r>
              <a:rPr lang="en-US" sz="1300" b="1" dirty="0">
                <a:solidFill>
                  <a:srgbClr val="EF4444"/>
                </a:solidFill>
              </a:rPr>
              <a:t>10/10</a:t>
            </a:r>
            <a:endParaRPr lang="en-US" sz="1300" dirty="0"/>
          </a:p>
        </p:txBody>
      </p:sp>
      <p:sp>
        <p:nvSpPr>
          <p:cNvPr id="24" name="Text 22"/>
          <p:cNvSpPr/>
          <p:nvPr/>
        </p:nvSpPr>
        <p:spPr>
          <a:xfrm>
            <a:off x="438912" y="2724912"/>
            <a:ext cx="3977640" cy="237744"/>
          </a:xfrm>
          <a:prstGeom prst="rect">
            <a:avLst/>
          </a:prstGeom>
          <a:noFill/>
          <a:ln/>
        </p:spPr>
        <p:txBody>
          <a:bodyPr wrap="square" lIns="0" tIns="0" rIns="0" bIns="0" rtlCol="0" anchor="ctr"/>
          <a:lstStyle/>
          <a:p>
            <a:pPr marL="0" indent="0">
              <a:buNone/>
            </a:pPr>
            <a:r>
              <a:rPr lang="en-US" sz="950" dirty="0">
                <a:solidFill>
                  <a:srgbClr val="6B7280"/>
                </a:solidFill>
              </a:rPr>
              <a:t>Malware locks files and demands payment.</a:t>
            </a:r>
            <a:endParaRPr lang="en-US" sz="950" dirty="0"/>
          </a:p>
        </p:txBody>
      </p:sp>
      <p:sp>
        <p:nvSpPr>
          <p:cNvPr id="25" name="Shape 23"/>
          <p:cNvSpPr/>
          <p:nvPr/>
        </p:nvSpPr>
        <p:spPr>
          <a:xfrm>
            <a:off x="256032" y="3090672"/>
            <a:ext cx="4251960" cy="896112"/>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26" name="Shape 24"/>
          <p:cNvSpPr/>
          <p:nvPr/>
        </p:nvSpPr>
        <p:spPr>
          <a:xfrm>
            <a:off x="256032" y="3090672"/>
            <a:ext cx="82296" cy="896112"/>
          </a:xfrm>
          <a:prstGeom prst="rect">
            <a:avLst/>
          </a:prstGeom>
          <a:solidFill>
            <a:srgbClr val="F97316"/>
          </a:solidFill>
          <a:ln w="12700">
            <a:solidFill>
              <a:srgbClr val="F97316"/>
            </a:solidFill>
            <a:prstDash val="solid"/>
          </a:ln>
        </p:spPr>
        <p:txBody>
          <a:bodyPr/>
          <a:lstStyle/>
          <a:p>
            <a:endParaRPr lang="en-US"/>
          </a:p>
        </p:txBody>
      </p:sp>
      <p:sp>
        <p:nvSpPr>
          <p:cNvPr id="27" name="Text 25"/>
          <p:cNvSpPr/>
          <p:nvPr/>
        </p:nvSpPr>
        <p:spPr>
          <a:xfrm>
            <a:off x="438912" y="3163824"/>
            <a:ext cx="2468880" cy="310896"/>
          </a:xfrm>
          <a:prstGeom prst="rect">
            <a:avLst/>
          </a:prstGeom>
          <a:noFill/>
          <a:ln/>
        </p:spPr>
        <p:txBody>
          <a:bodyPr wrap="square" lIns="0" tIns="0" rIns="0" bIns="0" rtlCol="0" anchor="ctr"/>
          <a:lstStyle/>
          <a:p>
            <a:pPr marL="0" indent="0">
              <a:buNone/>
            </a:pPr>
            <a:r>
              <a:rPr lang="en-US" sz="1250" b="1" dirty="0">
                <a:solidFill>
                  <a:srgbClr val="1E1B4B"/>
                </a:solidFill>
              </a:rPr>
              <a:t>Hacking</a:t>
            </a:r>
            <a:endParaRPr lang="en-US" sz="1250" dirty="0"/>
          </a:p>
        </p:txBody>
      </p:sp>
      <p:sp>
        <p:nvSpPr>
          <p:cNvPr id="28" name="Shape 26"/>
          <p:cNvSpPr/>
          <p:nvPr/>
        </p:nvSpPr>
        <p:spPr>
          <a:xfrm>
            <a:off x="3456432" y="3182112"/>
            <a:ext cx="960120" cy="256032"/>
          </a:xfrm>
          <a:prstGeom prst="rect">
            <a:avLst/>
          </a:prstGeom>
          <a:solidFill>
            <a:srgbClr val="F97316"/>
          </a:solidFill>
          <a:ln w="12700">
            <a:solidFill>
              <a:srgbClr val="F97316"/>
            </a:solidFill>
            <a:prstDash val="solid"/>
          </a:ln>
        </p:spPr>
        <p:txBody>
          <a:bodyPr/>
          <a:lstStyle/>
          <a:p>
            <a:endParaRPr lang="en-US"/>
          </a:p>
        </p:txBody>
      </p:sp>
      <p:sp>
        <p:nvSpPr>
          <p:cNvPr id="29" name="Text 27"/>
          <p:cNvSpPr/>
          <p:nvPr/>
        </p:nvSpPr>
        <p:spPr>
          <a:xfrm>
            <a:off x="3456432" y="3182112"/>
            <a:ext cx="960120" cy="256032"/>
          </a:xfrm>
          <a:prstGeom prst="rect">
            <a:avLst/>
          </a:prstGeom>
          <a:noFill/>
          <a:ln/>
        </p:spPr>
        <p:txBody>
          <a:bodyPr wrap="square" rtlCol="0" anchor="ctr"/>
          <a:lstStyle/>
          <a:p>
            <a:pPr marL="0" indent="0" algn="ctr">
              <a:buNone/>
            </a:pPr>
            <a:r>
              <a:rPr lang="en-US" sz="850" b="1" dirty="0">
                <a:solidFill>
                  <a:srgbClr val="FFFFFF"/>
                </a:solidFill>
              </a:rPr>
              <a:t>CRITICAL</a:t>
            </a:r>
            <a:endParaRPr lang="en-US" sz="850" dirty="0"/>
          </a:p>
        </p:txBody>
      </p:sp>
      <p:sp>
        <p:nvSpPr>
          <p:cNvPr id="30" name="Shape 28"/>
          <p:cNvSpPr/>
          <p:nvPr/>
        </p:nvSpPr>
        <p:spPr>
          <a:xfrm>
            <a:off x="438912" y="3529584"/>
            <a:ext cx="2651760" cy="137160"/>
          </a:xfrm>
          <a:prstGeom prst="rect">
            <a:avLst/>
          </a:prstGeom>
          <a:solidFill>
            <a:srgbClr val="EEF2FF"/>
          </a:solidFill>
          <a:ln w="12700">
            <a:solidFill>
              <a:srgbClr val="C7D2FE"/>
            </a:solidFill>
            <a:prstDash val="solid"/>
          </a:ln>
        </p:spPr>
        <p:txBody>
          <a:bodyPr/>
          <a:lstStyle/>
          <a:p>
            <a:endParaRPr lang="en-US"/>
          </a:p>
        </p:txBody>
      </p:sp>
      <p:sp>
        <p:nvSpPr>
          <p:cNvPr id="31" name="Shape 29"/>
          <p:cNvSpPr/>
          <p:nvPr/>
        </p:nvSpPr>
        <p:spPr>
          <a:xfrm>
            <a:off x="438912" y="3529584"/>
            <a:ext cx="2386584" cy="137160"/>
          </a:xfrm>
          <a:prstGeom prst="rect">
            <a:avLst/>
          </a:prstGeom>
          <a:solidFill>
            <a:srgbClr val="F97316"/>
          </a:solidFill>
          <a:ln w="12700">
            <a:solidFill>
              <a:srgbClr val="F97316"/>
            </a:solidFill>
            <a:prstDash val="solid"/>
          </a:ln>
        </p:spPr>
        <p:txBody>
          <a:bodyPr/>
          <a:lstStyle/>
          <a:p>
            <a:endParaRPr lang="en-US"/>
          </a:p>
        </p:txBody>
      </p:sp>
      <p:sp>
        <p:nvSpPr>
          <p:cNvPr id="32" name="Text 30"/>
          <p:cNvSpPr/>
          <p:nvPr/>
        </p:nvSpPr>
        <p:spPr>
          <a:xfrm>
            <a:off x="3182112" y="3474720"/>
            <a:ext cx="685800" cy="256032"/>
          </a:xfrm>
          <a:prstGeom prst="rect">
            <a:avLst/>
          </a:prstGeom>
          <a:noFill/>
          <a:ln/>
        </p:spPr>
        <p:txBody>
          <a:bodyPr wrap="square" rtlCol="0" anchor="ctr"/>
          <a:lstStyle/>
          <a:p>
            <a:pPr marL="0" indent="0" algn="r">
              <a:buNone/>
            </a:pPr>
            <a:r>
              <a:rPr lang="en-US" sz="1300" b="1" dirty="0">
                <a:solidFill>
                  <a:srgbClr val="F97316"/>
                </a:solidFill>
              </a:rPr>
              <a:t>9/10</a:t>
            </a:r>
            <a:endParaRPr lang="en-US" sz="1300" dirty="0"/>
          </a:p>
        </p:txBody>
      </p:sp>
      <p:sp>
        <p:nvSpPr>
          <p:cNvPr id="33" name="Text 31"/>
          <p:cNvSpPr/>
          <p:nvPr/>
        </p:nvSpPr>
        <p:spPr>
          <a:xfrm>
            <a:off x="438912" y="3712464"/>
            <a:ext cx="3977640" cy="237744"/>
          </a:xfrm>
          <a:prstGeom prst="rect">
            <a:avLst/>
          </a:prstGeom>
          <a:noFill/>
          <a:ln/>
        </p:spPr>
        <p:txBody>
          <a:bodyPr wrap="square" lIns="0" tIns="0" rIns="0" bIns="0" rtlCol="0" anchor="ctr"/>
          <a:lstStyle/>
          <a:p>
            <a:pPr marL="0" indent="0">
              <a:buNone/>
            </a:pPr>
            <a:r>
              <a:rPr lang="en-US" sz="950" dirty="0">
                <a:solidFill>
                  <a:srgbClr val="6B7280"/>
                </a:solidFill>
              </a:rPr>
              <a:t>Illegal access to systems or accounts.</a:t>
            </a:r>
            <a:endParaRPr lang="en-US" sz="950" dirty="0"/>
          </a:p>
        </p:txBody>
      </p:sp>
      <p:sp>
        <p:nvSpPr>
          <p:cNvPr id="34" name="Shape 32"/>
          <p:cNvSpPr/>
          <p:nvPr/>
        </p:nvSpPr>
        <p:spPr>
          <a:xfrm>
            <a:off x="256032" y="4078224"/>
            <a:ext cx="4251960" cy="896112"/>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35" name="Shape 33"/>
          <p:cNvSpPr/>
          <p:nvPr/>
        </p:nvSpPr>
        <p:spPr>
          <a:xfrm>
            <a:off x="256032" y="4078224"/>
            <a:ext cx="82296" cy="896112"/>
          </a:xfrm>
          <a:prstGeom prst="rect">
            <a:avLst/>
          </a:prstGeom>
          <a:solidFill>
            <a:srgbClr val="F97316"/>
          </a:solidFill>
          <a:ln w="12700">
            <a:solidFill>
              <a:srgbClr val="F97316"/>
            </a:solidFill>
            <a:prstDash val="solid"/>
          </a:ln>
        </p:spPr>
        <p:txBody>
          <a:bodyPr/>
          <a:lstStyle/>
          <a:p>
            <a:endParaRPr lang="en-US"/>
          </a:p>
        </p:txBody>
      </p:sp>
      <p:sp>
        <p:nvSpPr>
          <p:cNvPr id="36" name="Text 34"/>
          <p:cNvSpPr/>
          <p:nvPr/>
        </p:nvSpPr>
        <p:spPr>
          <a:xfrm>
            <a:off x="438912" y="4151376"/>
            <a:ext cx="2468880" cy="310896"/>
          </a:xfrm>
          <a:prstGeom prst="rect">
            <a:avLst/>
          </a:prstGeom>
          <a:noFill/>
          <a:ln/>
        </p:spPr>
        <p:txBody>
          <a:bodyPr wrap="square" lIns="0" tIns="0" rIns="0" bIns="0" rtlCol="0" anchor="ctr"/>
          <a:lstStyle/>
          <a:p>
            <a:pPr marL="0" indent="0">
              <a:buNone/>
            </a:pPr>
            <a:r>
              <a:rPr lang="en-US" sz="1250" b="1" dirty="0">
                <a:solidFill>
                  <a:srgbClr val="1E1B4B"/>
                </a:solidFill>
              </a:rPr>
              <a:t>Identity Theft</a:t>
            </a:r>
            <a:endParaRPr lang="en-US" sz="1250" dirty="0"/>
          </a:p>
        </p:txBody>
      </p:sp>
      <p:sp>
        <p:nvSpPr>
          <p:cNvPr id="37" name="Shape 35"/>
          <p:cNvSpPr/>
          <p:nvPr/>
        </p:nvSpPr>
        <p:spPr>
          <a:xfrm>
            <a:off x="3456432" y="4169664"/>
            <a:ext cx="960120" cy="256032"/>
          </a:xfrm>
          <a:prstGeom prst="rect">
            <a:avLst/>
          </a:prstGeom>
          <a:solidFill>
            <a:srgbClr val="F97316"/>
          </a:solidFill>
          <a:ln w="12700">
            <a:solidFill>
              <a:srgbClr val="F97316"/>
            </a:solidFill>
            <a:prstDash val="solid"/>
          </a:ln>
        </p:spPr>
        <p:txBody>
          <a:bodyPr/>
          <a:lstStyle/>
          <a:p>
            <a:endParaRPr lang="en-US"/>
          </a:p>
        </p:txBody>
      </p:sp>
      <p:sp>
        <p:nvSpPr>
          <p:cNvPr id="38" name="Text 36"/>
          <p:cNvSpPr/>
          <p:nvPr/>
        </p:nvSpPr>
        <p:spPr>
          <a:xfrm>
            <a:off x="3456432" y="4169664"/>
            <a:ext cx="960120" cy="256032"/>
          </a:xfrm>
          <a:prstGeom prst="rect">
            <a:avLst/>
          </a:prstGeom>
          <a:noFill/>
          <a:ln/>
        </p:spPr>
        <p:txBody>
          <a:bodyPr wrap="square" rtlCol="0" anchor="ctr"/>
          <a:lstStyle/>
          <a:p>
            <a:pPr marL="0" indent="0" algn="ctr">
              <a:buNone/>
            </a:pPr>
            <a:r>
              <a:rPr lang="en-US" sz="850" b="1" dirty="0">
                <a:solidFill>
                  <a:srgbClr val="FFFFFF"/>
                </a:solidFill>
              </a:rPr>
              <a:t>CRITICAL</a:t>
            </a:r>
            <a:endParaRPr lang="en-US" sz="850" dirty="0"/>
          </a:p>
        </p:txBody>
      </p:sp>
      <p:sp>
        <p:nvSpPr>
          <p:cNvPr id="39" name="Shape 37"/>
          <p:cNvSpPr/>
          <p:nvPr/>
        </p:nvSpPr>
        <p:spPr>
          <a:xfrm>
            <a:off x="438912" y="4517136"/>
            <a:ext cx="2651760" cy="137160"/>
          </a:xfrm>
          <a:prstGeom prst="rect">
            <a:avLst/>
          </a:prstGeom>
          <a:solidFill>
            <a:srgbClr val="EEF2FF"/>
          </a:solidFill>
          <a:ln w="12700">
            <a:solidFill>
              <a:srgbClr val="C7D2FE"/>
            </a:solidFill>
            <a:prstDash val="solid"/>
          </a:ln>
        </p:spPr>
        <p:txBody>
          <a:bodyPr/>
          <a:lstStyle/>
          <a:p>
            <a:endParaRPr lang="en-US"/>
          </a:p>
        </p:txBody>
      </p:sp>
      <p:sp>
        <p:nvSpPr>
          <p:cNvPr id="40" name="Shape 38"/>
          <p:cNvSpPr/>
          <p:nvPr/>
        </p:nvSpPr>
        <p:spPr>
          <a:xfrm>
            <a:off x="438912" y="4517136"/>
            <a:ext cx="2386584" cy="137160"/>
          </a:xfrm>
          <a:prstGeom prst="rect">
            <a:avLst/>
          </a:prstGeom>
          <a:solidFill>
            <a:srgbClr val="F97316"/>
          </a:solidFill>
          <a:ln w="12700">
            <a:solidFill>
              <a:srgbClr val="F97316"/>
            </a:solidFill>
            <a:prstDash val="solid"/>
          </a:ln>
        </p:spPr>
        <p:txBody>
          <a:bodyPr/>
          <a:lstStyle/>
          <a:p>
            <a:endParaRPr lang="en-US"/>
          </a:p>
        </p:txBody>
      </p:sp>
      <p:sp>
        <p:nvSpPr>
          <p:cNvPr id="41" name="Text 39"/>
          <p:cNvSpPr/>
          <p:nvPr/>
        </p:nvSpPr>
        <p:spPr>
          <a:xfrm>
            <a:off x="3182112" y="4462272"/>
            <a:ext cx="685800" cy="256032"/>
          </a:xfrm>
          <a:prstGeom prst="rect">
            <a:avLst/>
          </a:prstGeom>
          <a:noFill/>
          <a:ln/>
        </p:spPr>
        <p:txBody>
          <a:bodyPr wrap="square" rtlCol="0" anchor="ctr"/>
          <a:lstStyle/>
          <a:p>
            <a:pPr marL="0" indent="0" algn="r">
              <a:buNone/>
            </a:pPr>
            <a:r>
              <a:rPr lang="en-US" sz="1300" b="1" dirty="0">
                <a:solidFill>
                  <a:srgbClr val="F97316"/>
                </a:solidFill>
              </a:rPr>
              <a:t>9/10</a:t>
            </a:r>
            <a:endParaRPr lang="en-US" sz="1300" dirty="0"/>
          </a:p>
        </p:txBody>
      </p:sp>
      <p:sp>
        <p:nvSpPr>
          <p:cNvPr id="42" name="Text 40"/>
          <p:cNvSpPr/>
          <p:nvPr/>
        </p:nvSpPr>
        <p:spPr>
          <a:xfrm>
            <a:off x="438912" y="4700016"/>
            <a:ext cx="3977640" cy="237744"/>
          </a:xfrm>
          <a:prstGeom prst="rect">
            <a:avLst/>
          </a:prstGeom>
          <a:noFill/>
          <a:ln/>
        </p:spPr>
        <p:txBody>
          <a:bodyPr wrap="square" lIns="0" tIns="0" rIns="0" bIns="0" rtlCol="0" anchor="ctr"/>
          <a:lstStyle/>
          <a:p>
            <a:pPr marL="0" indent="0">
              <a:buNone/>
            </a:pPr>
            <a:r>
              <a:rPr lang="en-US" sz="950" dirty="0">
                <a:solidFill>
                  <a:srgbClr val="6B7280"/>
                </a:solidFill>
              </a:rPr>
              <a:t>Stealing personal info to impersonate.</a:t>
            </a:r>
            <a:endParaRPr lang="en-US" sz="950" dirty="0"/>
          </a:p>
        </p:txBody>
      </p:sp>
      <p:sp>
        <p:nvSpPr>
          <p:cNvPr id="43" name="Shape 41"/>
          <p:cNvSpPr/>
          <p:nvPr/>
        </p:nvSpPr>
        <p:spPr>
          <a:xfrm>
            <a:off x="4663440" y="1115568"/>
            <a:ext cx="4251960" cy="896112"/>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44" name="Shape 42"/>
          <p:cNvSpPr/>
          <p:nvPr/>
        </p:nvSpPr>
        <p:spPr>
          <a:xfrm>
            <a:off x="4663440" y="1115568"/>
            <a:ext cx="82296" cy="896112"/>
          </a:xfrm>
          <a:prstGeom prst="rect">
            <a:avLst/>
          </a:prstGeom>
          <a:solidFill>
            <a:srgbClr val="EAB308"/>
          </a:solidFill>
          <a:ln w="12700">
            <a:solidFill>
              <a:srgbClr val="EAB308"/>
            </a:solidFill>
            <a:prstDash val="solid"/>
          </a:ln>
        </p:spPr>
        <p:txBody>
          <a:bodyPr/>
          <a:lstStyle/>
          <a:p>
            <a:endParaRPr lang="en-US"/>
          </a:p>
        </p:txBody>
      </p:sp>
      <p:sp>
        <p:nvSpPr>
          <p:cNvPr id="45" name="Text 43"/>
          <p:cNvSpPr/>
          <p:nvPr/>
        </p:nvSpPr>
        <p:spPr>
          <a:xfrm>
            <a:off x="4846320" y="1188720"/>
            <a:ext cx="2468880" cy="310896"/>
          </a:xfrm>
          <a:prstGeom prst="rect">
            <a:avLst/>
          </a:prstGeom>
          <a:noFill/>
          <a:ln/>
        </p:spPr>
        <p:txBody>
          <a:bodyPr wrap="square" lIns="0" tIns="0" rIns="0" bIns="0" rtlCol="0" anchor="ctr"/>
          <a:lstStyle/>
          <a:p>
            <a:pPr marL="0" indent="0">
              <a:buNone/>
            </a:pPr>
            <a:r>
              <a:rPr lang="en-US" sz="1250" b="1" dirty="0">
                <a:solidFill>
                  <a:srgbClr val="1E1B4B"/>
                </a:solidFill>
              </a:rPr>
              <a:t>Online Fraud</a:t>
            </a:r>
            <a:endParaRPr lang="en-US" sz="1250" dirty="0"/>
          </a:p>
        </p:txBody>
      </p:sp>
      <p:sp>
        <p:nvSpPr>
          <p:cNvPr id="46" name="Shape 44"/>
          <p:cNvSpPr/>
          <p:nvPr/>
        </p:nvSpPr>
        <p:spPr>
          <a:xfrm>
            <a:off x="7863840" y="1207008"/>
            <a:ext cx="960120" cy="256032"/>
          </a:xfrm>
          <a:prstGeom prst="rect">
            <a:avLst/>
          </a:prstGeom>
          <a:solidFill>
            <a:srgbClr val="EAB308"/>
          </a:solidFill>
          <a:ln w="12700">
            <a:solidFill>
              <a:srgbClr val="EAB308"/>
            </a:solidFill>
            <a:prstDash val="solid"/>
          </a:ln>
        </p:spPr>
        <p:txBody>
          <a:bodyPr/>
          <a:lstStyle/>
          <a:p>
            <a:endParaRPr lang="en-US"/>
          </a:p>
        </p:txBody>
      </p:sp>
      <p:sp>
        <p:nvSpPr>
          <p:cNvPr id="47" name="Text 45"/>
          <p:cNvSpPr/>
          <p:nvPr/>
        </p:nvSpPr>
        <p:spPr>
          <a:xfrm>
            <a:off x="7863840" y="1207008"/>
            <a:ext cx="960120" cy="256032"/>
          </a:xfrm>
          <a:prstGeom prst="rect">
            <a:avLst/>
          </a:prstGeom>
          <a:noFill/>
          <a:ln/>
        </p:spPr>
        <p:txBody>
          <a:bodyPr wrap="square" rtlCol="0" anchor="ctr"/>
          <a:lstStyle/>
          <a:p>
            <a:pPr marL="0" indent="0" algn="ctr">
              <a:buNone/>
            </a:pPr>
            <a:r>
              <a:rPr lang="en-US" sz="850" b="1" dirty="0">
                <a:solidFill>
                  <a:srgbClr val="FFFFFF"/>
                </a:solidFill>
              </a:rPr>
              <a:t>HIGH</a:t>
            </a:r>
            <a:endParaRPr lang="en-US" sz="850" dirty="0"/>
          </a:p>
        </p:txBody>
      </p:sp>
      <p:sp>
        <p:nvSpPr>
          <p:cNvPr id="48" name="Shape 46"/>
          <p:cNvSpPr/>
          <p:nvPr/>
        </p:nvSpPr>
        <p:spPr>
          <a:xfrm>
            <a:off x="4846320" y="1554480"/>
            <a:ext cx="2651760" cy="137160"/>
          </a:xfrm>
          <a:prstGeom prst="rect">
            <a:avLst/>
          </a:prstGeom>
          <a:solidFill>
            <a:srgbClr val="EEF2FF"/>
          </a:solidFill>
          <a:ln w="12700">
            <a:solidFill>
              <a:srgbClr val="C7D2FE"/>
            </a:solidFill>
            <a:prstDash val="solid"/>
          </a:ln>
        </p:spPr>
        <p:txBody>
          <a:bodyPr/>
          <a:lstStyle/>
          <a:p>
            <a:endParaRPr lang="en-US"/>
          </a:p>
        </p:txBody>
      </p:sp>
      <p:sp>
        <p:nvSpPr>
          <p:cNvPr id="49" name="Shape 47"/>
          <p:cNvSpPr/>
          <p:nvPr/>
        </p:nvSpPr>
        <p:spPr>
          <a:xfrm>
            <a:off x="4846320" y="1554480"/>
            <a:ext cx="2121408" cy="137160"/>
          </a:xfrm>
          <a:prstGeom prst="rect">
            <a:avLst/>
          </a:prstGeom>
          <a:solidFill>
            <a:srgbClr val="EAB308"/>
          </a:solidFill>
          <a:ln w="12700">
            <a:solidFill>
              <a:srgbClr val="EAB308"/>
            </a:solidFill>
            <a:prstDash val="solid"/>
          </a:ln>
        </p:spPr>
        <p:txBody>
          <a:bodyPr/>
          <a:lstStyle/>
          <a:p>
            <a:endParaRPr lang="en-US"/>
          </a:p>
        </p:txBody>
      </p:sp>
      <p:sp>
        <p:nvSpPr>
          <p:cNvPr id="50" name="Text 48"/>
          <p:cNvSpPr/>
          <p:nvPr/>
        </p:nvSpPr>
        <p:spPr>
          <a:xfrm>
            <a:off x="7589520" y="1499616"/>
            <a:ext cx="685800" cy="256032"/>
          </a:xfrm>
          <a:prstGeom prst="rect">
            <a:avLst/>
          </a:prstGeom>
          <a:noFill/>
          <a:ln/>
        </p:spPr>
        <p:txBody>
          <a:bodyPr wrap="square" rtlCol="0" anchor="ctr"/>
          <a:lstStyle/>
          <a:p>
            <a:pPr marL="0" indent="0" algn="r">
              <a:buNone/>
            </a:pPr>
            <a:r>
              <a:rPr lang="en-US" sz="1300" b="1" dirty="0">
                <a:solidFill>
                  <a:srgbClr val="EAB308"/>
                </a:solidFill>
              </a:rPr>
              <a:t>8/10</a:t>
            </a:r>
            <a:endParaRPr lang="en-US" sz="1300" dirty="0"/>
          </a:p>
        </p:txBody>
      </p:sp>
      <p:sp>
        <p:nvSpPr>
          <p:cNvPr id="51" name="Text 49"/>
          <p:cNvSpPr/>
          <p:nvPr/>
        </p:nvSpPr>
        <p:spPr>
          <a:xfrm>
            <a:off x="4846320" y="1737360"/>
            <a:ext cx="3977640" cy="237744"/>
          </a:xfrm>
          <a:prstGeom prst="rect">
            <a:avLst/>
          </a:prstGeom>
          <a:noFill/>
          <a:ln/>
        </p:spPr>
        <p:txBody>
          <a:bodyPr wrap="square" lIns="0" tIns="0" rIns="0" bIns="0" rtlCol="0" anchor="ctr"/>
          <a:lstStyle/>
          <a:p>
            <a:pPr marL="0" indent="0">
              <a:buNone/>
            </a:pPr>
            <a:r>
              <a:rPr lang="en-US" sz="950" dirty="0">
                <a:solidFill>
                  <a:srgbClr val="6B7280"/>
                </a:solidFill>
              </a:rPr>
              <a:t>Fake sites/UPI scams to steal money.</a:t>
            </a:r>
            <a:endParaRPr lang="en-US" sz="950" dirty="0"/>
          </a:p>
        </p:txBody>
      </p:sp>
      <p:sp>
        <p:nvSpPr>
          <p:cNvPr id="52" name="Shape 50"/>
          <p:cNvSpPr/>
          <p:nvPr/>
        </p:nvSpPr>
        <p:spPr>
          <a:xfrm>
            <a:off x="4663440" y="2103120"/>
            <a:ext cx="4251960" cy="896112"/>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53" name="Shape 51"/>
          <p:cNvSpPr/>
          <p:nvPr/>
        </p:nvSpPr>
        <p:spPr>
          <a:xfrm>
            <a:off x="4663440" y="2103120"/>
            <a:ext cx="82296" cy="896112"/>
          </a:xfrm>
          <a:prstGeom prst="rect">
            <a:avLst/>
          </a:prstGeom>
          <a:solidFill>
            <a:srgbClr val="EAB308"/>
          </a:solidFill>
          <a:ln w="12700">
            <a:solidFill>
              <a:srgbClr val="EAB308"/>
            </a:solidFill>
            <a:prstDash val="solid"/>
          </a:ln>
        </p:spPr>
        <p:txBody>
          <a:bodyPr/>
          <a:lstStyle/>
          <a:p>
            <a:endParaRPr lang="en-US"/>
          </a:p>
        </p:txBody>
      </p:sp>
      <p:sp>
        <p:nvSpPr>
          <p:cNvPr id="54" name="Text 52"/>
          <p:cNvSpPr/>
          <p:nvPr/>
        </p:nvSpPr>
        <p:spPr>
          <a:xfrm>
            <a:off x="4846320" y="2176272"/>
            <a:ext cx="2468880" cy="310896"/>
          </a:xfrm>
          <a:prstGeom prst="rect">
            <a:avLst/>
          </a:prstGeom>
          <a:noFill/>
          <a:ln/>
        </p:spPr>
        <p:txBody>
          <a:bodyPr wrap="square" lIns="0" tIns="0" rIns="0" bIns="0" rtlCol="0" anchor="ctr"/>
          <a:lstStyle/>
          <a:p>
            <a:pPr marL="0" indent="0">
              <a:buNone/>
            </a:pPr>
            <a:r>
              <a:rPr lang="en-US" sz="1250" b="1" dirty="0">
                <a:solidFill>
                  <a:srgbClr val="1E1B4B"/>
                </a:solidFill>
              </a:rPr>
              <a:t>Phishing</a:t>
            </a:r>
            <a:endParaRPr lang="en-US" sz="1250" dirty="0"/>
          </a:p>
        </p:txBody>
      </p:sp>
      <p:sp>
        <p:nvSpPr>
          <p:cNvPr id="55" name="Shape 53"/>
          <p:cNvSpPr/>
          <p:nvPr/>
        </p:nvSpPr>
        <p:spPr>
          <a:xfrm>
            <a:off x="7863840" y="2194560"/>
            <a:ext cx="960120" cy="256032"/>
          </a:xfrm>
          <a:prstGeom prst="rect">
            <a:avLst/>
          </a:prstGeom>
          <a:solidFill>
            <a:srgbClr val="EAB308"/>
          </a:solidFill>
          <a:ln w="12700">
            <a:solidFill>
              <a:srgbClr val="EAB308"/>
            </a:solidFill>
            <a:prstDash val="solid"/>
          </a:ln>
        </p:spPr>
        <p:txBody>
          <a:bodyPr/>
          <a:lstStyle/>
          <a:p>
            <a:endParaRPr lang="en-US"/>
          </a:p>
        </p:txBody>
      </p:sp>
      <p:sp>
        <p:nvSpPr>
          <p:cNvPr id="56" name="Text 54"/>
          <p:cNvSpPr/>
          <p:nvPr/>
        </p:nvSpPr>
        <p:spPr>
          <a:xfrm>
            <a:off x="7863840" y="2194560"/>
            <a:ext cx="960120" cy="256032"/>
          </a:xfrm>
          <a:prstGeom prst="rect">
            <a:avLst/>
          </a:prstGeom>
          <a:noFill/>
          <a:ln/>
        </p:spPr>
        <p:txBody>
          <a:bodyPr wrap="square" rtlCol="0" anchor="ctr"/>
          <a:lstStyle/>
          <a:p>
            <a:pPr marL="0" indent="0" algn="ctr">
              <a:buNone/>
            </a:pPr>
            <a:r>
              <a:rPr lang="en-US" sz="850" b="1" dirty="0">
                <a:solidFill>
                  <a:srgbClr val="FFFFFF"/>
                </a:solidFill>
              </a:rPr>
              <a:t>HIGH</a:t>
            </a:r>
            <a:endParaRPr lang="en-US" sz="850" dirty="0"/>
          </a:p>
        </p:txBody>
      </p:sp>
      <p:sp>
        <p:nvSpPr>
          <p:cNvPr id="57" name="Shape 55"/>
          <p:cNvSpPr/>
          <p:nvPr/>
        </p:nvSpPr>
        <p:spPr>
          <a:xfrm>
            <a:off x="4846320" y="2542032"/>
            <a:ext cx="2651760" cy="137160"/>
          </a:xfrm>
          <a:prstGeom prst="rect">
            <a:avLst/>
          </a:prstGeom>
          <a:solidFill>
            <a:srgbClr val="EEF2FF"/>
          </a:solidFill>
          <a:ln w="12700">
            <a:solidFill>
              <a:srgbClr val="C7D2FE"/>
            </a:solidFill>
            <a:prstDash val="solid"/>
          </a:ln>
        </p:spPr>
        <p:txBody>
          <a:bodyPr/>
          <a:lstStyle/>
          <a:p>
            <a:endParaRPr lang="en-US"/>
          </a:p>
        </p:txBody>
      </p:sp>
      <p:sp>
        <p:nvSpPr>
          <p:cNvPr id="58" name="Shape 56"/>
          <p:cNvSpPr/>
          <p:nvPr/>
        </p:nvSpPr>
        <p:spPr>
          <a:xfrm>
            <a:off x="4846320" y="2542032"/>
            <a:ext cx="1856232" cy="137160"/>
          </a:xfrm>
          <a:prstGeom prst="rect">
            <a:avLst/>
          </a:prstGeom>
          <a:solidFill>
            <a:srgbClr val="EAB308"/>
          </a:solidFill>
          <a:ln w="12700">
            <a:solidFill>
              <a:srgbClr val="EAB308"/>
            </a:solidFill>
            <a:prstDash val="solid"/>
          </a:ln>
        </p:spPr>
        <p:txBody>
          <a:bodyPr/>
          <a:lstStyle/>
          <a:p>
            <a:endParaRPr lang="en-US"/>
          </a:p>
        </p:txBody>
      </p:sp>
      <p:sp>
        <p:nvSpPr>
          <p:cNvPr id="59" name="Text 57"/>
          <p:cNvSpPr/>
          <p:nvPr/>
        </p:nvSpPr>
        <p:spPr>
          <a:xfrm>
            <a:off x="7589520" y="2487168"/>
            <a:ext cx="685800" cy="256032"/>
          </a:xfrm>
          <a:prstGeom prst="rect">
            <a:avLst/>
          </a:prstGeom>
          <a:noFill/>
          <a:ln/>
        </p:spPr>
        <p:txBody>
          <a:bodyPr wrap="square" rtlCol="0" anchor="ctr"/>
          <a:lstStyle/>
          <a:p>
            <a:pPr marL="0" indent="0" algn="r">
              <a:buNone/>
            </a:pPr>
            <a:r>
              <a:rPr lang="en-US" sz="1300" b="1" dirty="0">
                <a:solidFill>
                  <a:srgbClr val="EAB308"/>
                </a:solidFill>
              </a:rPr>
              <a:t>7/10</a:t>
            </a:r>
            <a:endParaRPr lang="en-US" sz="1300" dirty="0"/>
          </a:p>
        </p:txBody>
      </p:sp>
      <p:sp>
        <p:nvSpPr>
          <p:cNvPr id="60" name="Text 58"/>
          <p:cNvSpPr/>
          <p:nvPr/>
        </p:nvSpPr>
        <p:spPr>
          <a:xfrm>
            <a:off x="4846320" y="2724912"/>
            <a:ext cx="3977640" cy="237744"/>
          </a:xfrm>
          <a:prstGeom prst="rect">
            <a:avLst/>
          </a:prstGeom>
          <a:noFill/>
          <a:ln/>
        </p:spPr>
        <p:txBody>
          <a:bodyPr wrap="square" lIns="0" tIns="0" rIns="0" bIns="0" rtlCol="0" anchor="ctr"/>
          <a:lstStyle/>
          <a:p>
            <a:pPr marL="0" indent="0">
              <a:buNone/>
            </a:pPr>
            <a:r>
              <a:rPr lang="en-US" sz="950" dirty="0">
                <a:solidFill>
                  <a:srgbClr val="6B7280"/>
                </a:solidFill>
              </a:rPr>
              <a:t>Fake emails/SMS stealing credentials.</a:t>
            </a:r>
            <a:endParaRPr lang="en-US" sz="950" dirty="0"/>
          </a:p>
        </p:txBody>
      </p:sp>
      <p:sp>
        <p:nvSpPr>
          <p:cNvPr id="61" name="Shape 59"/>
          <p:cNvSpPr/>
          <p:nvPr/>
        </p:nvSpPr>
        <p:spPr>
          <a:xfrm>
            <a:off x="4663440" y="3090672"/>
            <a:ext cx="4251960" cy="896112"/>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62" name="Shape 60"/>
          <p:cNvSpPr/>
          <p:nvPr/>
        </p:nvSpPr>
        <p:spPr>
          <a:xfrm>
            <a:off x="4663440" y="3090672"/>
            <a:ext cx="82296" cy="896112"/>
          </a:xfrm>
          <a:prstGeom prst="rect">
            <a:avLst/>
          </a:prstGeom>
          <a:solidFill>
            <a:srgbClr val="10B981"/>
          </a:solidFill>
          <a:ln w="12700">
            <a:solidFill>
              <a:srgbClr val="10B981"/>
            </a:solidFill>
            <a:prstDash val="solid"/>
          </a:ln>
        </p:spPr>
        <p:txBody>
          <a:bodyPr/>
          <a:lstStyle/>
          <a:p>
            <a:endParaRPr lang="en-US"/>
          </a:p>
        </p:txBody>
      </p:sp>
      <p:sp>
        <p:nvSpPr>
          <p:cNvPr id="63" name="Text 61"/>
          <p:cNvSpPr/>
          <p:nvPr/>
        </p:nvSpPr>
        <p:spPr>
          <a:xfrm>
            <a:off x="4846320" y="3163824"/>
            <a:ext cx="2468880" cy="310896"/>
          </a:xfrm>
          <a:prstGeom prst="rect">
            <a:avLst/>
          </a:prstGeom>
          <a:noFill/>
          <a:ln/>
        </p:spPr>
        <p:txBody>
          <a:bodyPr wrap="square" lIns="0" tIns="0" rIns="0" bIns="0" rtlCol="0" anchor="ctr"/>
          <a:lstStyle/>
          <a:p>
            <a:pPr marL="0" indent="0">
              <a:buNone/>
            </a:pPr>
            <a:r>
              <a:rPr lang="en-US" sz="1250" b="1" dirty="0">
                <a:solidFill>
                  <a:srgbClr val="1E1B4B"/>
                </a:solidFill>
              </a:rPr>
              <a:t>Cyberbullying</a:t>
            </a:r>
            <a:endParaRPr lang="en-US" sz="1250" dirty="0"/>
          </a:p>
        </p:txBody>
      </p:sp>
      <p:sp>
        <p:nvSpPr>
          <p:cNvPr id="64" name="Shape 62"/>
          <p:cNvSpPr/>
          <p:nvPr/>
        </p:nvSpPr>
        <p:spPr>
          <a:xfrm>
            <a:off x="7863840" y="3182112"/>
            <a:ext cx="960120" cy="256032"/>
          </a:xfrm>
          <a:prstGeom prst="rect">
            <a:avLst/>
          </a:prstGeom>
          <a:solidFill>
            <a:srgbClr val="10B981"/>
          </a:solidFill>
          <a:ln w="12700">
            <a:solidFill>
              <a:srgbClr val="10B981"/>
            </a:solidFill>
            <a:prstDash val="solid"/>
          </a:ln>
        </p:spPr>
        <p:txBody>
          <a:bodyPr/>
          <a:lstStyle/>
          <a:p>
            <a:endParaRPr lang="en-US"/>
          </a:p>
        </p:txBody>
      </p:sp>
      <p:sp>
        <p:nvSpPr>
          <p:cNvPr id="65" name="Text 63"/>
          <p:cNvSpPr/>
          <p:nvPr/>
        </p:nvSpPr>
        <p:spPr>
          <a:xfrm>
            <a:off x="7863840" y="3182112"/>
            <a:ext cx="960120" cy="256032"/>
          </a:xfrm>
          <a:prstGeom prst="rect">
            <a:avLst/>
          </a:prstGeom>
          <a:noFill/>
          <a:ln/>
        </p:spPr>
        <p:txBody>
          <a:bodyPr wrap="square" rtlCol="0" anchor="ctr"/>
          <a:lstStyle/>
          <a:p>
            <a:pPr marL="0" indent="0" algn="ctr">
              <a:buNone/>
            </a:pPr>
            <a:r>
              <a:rPr lang="en-US" sz="850" b="1" dirty="0">
                <a:solidFill>
                  <a:srgbClr val="FFFFFF"/>
                </a:solidFill>
              </a:rPr>
              <a:t>MEDIUM</a:t>
            </a:r>
            <a:endParaRPr lang="en-US" sz="850" dirty="0"/>
          </a:p>
        </p:txBody>
      </p:sp>
      <p:sp>
        <p:nvSpPr>
          <p:cNvPr id="66" name="Shape 64"/>
          <p:cNvSpPr/>
          <p:nvPr/>
        </p:nvSpPr>
        <p:spPr>
          <a:xfrm>
            <a:off x="4846320" y="3529584"/>
            <a:ext cx="2651760" cy="137160"/>
          </a:xfrm>
          <a:prstGeom prst="rect">
            <a:avLst/>
          </a:prstGeom>
          <a:solidFill>
            <a:srgbClr val="EEF2FF"/>
          </a:solidFill>
          <a:ln w="12700">
            <a:solidFill>
              <a:srgbClr val="C7D2FE"/>
            </a:solidFill>
            <a:prstDash val="solid"/>
          </a:ln>
        </p:spPr>
        <p:txBody>
          <a:bodyPr/>
          <a:lstStyle/>
          <a:p>
            <a:endParaRPr lang="en-US"/>
          </a:p>
        </p:txBody>
      </p:sp>
      <p:sp>
        <p:nvSpPr>
          <p:cNvPr id="67" name="Shape 65"/>
          <p:cNvSpPr/>
          <p:nvPr/>
        </p:nvSpPr>
        <p:spPr>
          <a:xfrm>
            <a:off x="4846320" y="3529584"/>
            <a:ext cx="1591056" cy="137160"/>
          </a:xfrm>
          <a:prstGeom prst="rect">
            <a:avLst/>
          </a:prstGeom>
          <a:solidFill>
            <a:srgbClr val="10B981"/>
          </a:solidFill>
          <a:ln w="12700">
            <a:solidFill>
              <a:srgbClr val="10B981"/>
            </a:solidFill>
            <a:prstDash val="solid"/>
          </a:ln>
        </p:spPr>
        <p:txBody>
          <a:bodyPr/>
          <a:lstStyle/>
          <a:p>
            <a:endParaRPr lang="en-US"/>
          </a:p>
        </p:txBody>
      </p:sp>
      <p:sp>
        <p:nvSpPr>
          <p:cNvPr id="68" name="Text 66"/>
          <p:cNvSpPr/>
          <p:nvPr/>
        </p:nvSpPr>
        <p:spPr>
          <a:xfrm>
            <a:off x="7589520" y="3474720"/>
            <a:ext cx="685800" cy="256032"/>
          </a:xfrm>
          <a:prstGeom prst="rect">
            <a:avLst/>
          </a:prstGeom>
          <a:noFill/>
          <a:ln/>
        </p:spPr>
        <p:txBody>
          <a:bodyPr wrap="square" rtlCol="0" anchor="ctr"/>
          <a:lstStyle/>
          <a:p>
            <a:pPr marL="0" indent="0" algn="r">
              <a:buNone/>
            </a:pPr>
            <a:r>
              <a:rPr lang="en-US" sz="1300" b="1" dirty="0">
                <a:solidFill>
                  <a:srgbClr val="10B981"/>
                </a:solidFill>
              </a:rPr>
              <a:t>6/10</a:t>
            </a:r>
            <a:endParaRPr lang="en-US" sz="1300" dirty="0"/>
          </a:p>
        </p:txBody>
      </p:sp>
      <p:sp>
        <p:nvSpPr>
          <p:cNvPr id="69" name="Text 67"/>
          <p:cNvSpPr/>
          <p:nvPr/>
        </p:nvSpPr>
        <p:spPr>
          <a:xfrm>
            <a:off x="4846320" y="3712464"/>
            <a:ext cx="3977640" cy="237744"/>
          </a:xfrm>
          <a:prstGeom prst="rect">
            <a:avLst/>
          </a:prstGeom>
          <a:noFill/>
          <a:ln/>
        </p:spPr>
        <p:txBody>
          <a:bodyPr wrap="square" lIns="0" tIns="0" rIns="0" bIns="0" rtlCol="0" anchor="ctr"/>
          <a:lstStyle/>
          <a:p>
            <a:pPr marL="0" indent="0">
              <a:buNone/>
            </a:pPr>
            <a:r>
              <a:rPr lang="en-US" sz="950" dirty="0">
                <a:solidFill>
                  <a:srgbClr val="6B7280"/>
                </a:solidFill>
              </a:rPr>
              <a:t>Harassment through social media.</a:t>
            </a:r>
            <a:endParaRPr lang="en-US" sz="950" dirty="0"/>
          </a:p>
        </p:txBody>
      </p:sp>
      <p:sp>
        <p:nvSpPr>
          <p:cNvPr id="70" name="Shape 68"/>
          <p:cNvSpPr/>
          <p:nvPr/>
        </p:nvSpPr>
        <p:spPr>
          <a:xfrm>
            <a:off x="4663440" y="4078224"/>
            <a:ext cx="4251960" cy="896112"/>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71" name="Shape 69"/>
          <p:cNvSpPr/>
          <p:nvPr/>
        </p:nvSpPr>
        <p:spPr>
          <a:xfrm>
            <a:off x="4663440" y="4078224"/>
            <a:ext cx="82296" cy="896112"/>
          </a:xfrm>
          <a:prstGeom prst="rect">
            <a:avLst/>
          </a:prstGeom>
          <a:solidFill>
            <a:srgbClr val="3B82F6"/>
          </a:solidFill>
          <a:ln w="12700">
            <a:solidFill>
              <a:srgbClr val="3B82F6"/>
            </a:solidFill>
            <a:prstDash val="solid"/>
          </a:ln>
        </p:spPr>
        <p:txBody>
          <a:bodyPr/>
          <a:lstStyle/>
          <a:p>
            <a:endParaRPr lang="en-US"/>
          </a:p>
        </p:txBody>
      </p:sp>
      <p:sp>
        <p:nvSpPr>
          <p:cNvPr id="72" name="Text 70"/>
          <p:cNvSpPr/>
          <p:nvPr/>
        </p:nvSpPr>
        <p:spPr>
          <a:xfrm>
            <a:off x="4846320" y="4151376"/>
            <a:ext cx="2468880" cy="310896"/>
          </a:xfrm>
          <a:prstGeom prst="rect">
            <a:avLst/>
          </a:prstGeom>
          <a:noFill/>
          <a:ln/>
        </p:spPr>
        <p:txBody>
          <a:bodyPr wrap="square" lIns="0" tIns="0" rIns="0" bIns="0" rtlCol="0" anchor="ctr"/>
          <a:lstStyle/>
          <a:p>
            <a:pPr marL="0" indent="0">
              <a:buNone/>
            </a:pPr>
            <a:r>
              <a:rPr lang="en-US" sz="1250" b="1" dirty="0">
                <a:solidFill>
                  <a:srgbClr val="1E1B4B"/>
                </a:solidFill>
              </a:rPr>
              <a:t>Social Media Crime</a:t>
            </a:r>
            <a:endParaRPr lang="en-US" sz="1250" dirty="0"/>
          </a:p>
        </p:txBody>
      </p:sp>
      <p:sp>
        <p:nvSpPr>
          <p:cNvPr id="73" name="Shape 71"/>
          <p:cNvSpPr/>
          <p:nvPr/>
        </p:nvSpPr>
        <p:spPr>
          <a:xfrm>
            <a:off x="7863840" y="4169664"/>
            <a:ext cx="960120" cy="256032"/>
          </a:xfrm>
          <a:prstGeom prst="rect">
            <a:avLst/>
          </a:prstGeom>
          <a:solidFill>
            <a:srgbClr val="3B82F6"/>
          </a:solidFill>
          <a:ln w="12700">
            <a:solidFill>
              <a:srgbClr val="3B82F6"/>
            </a:solidFill>
            <a:prstDash val="solid"/>
          </a:ln>
        </p:spPr>
        <p:txBody>
          <a:bodyPr/>
          <a:lstStyle/>
          <a:p>
            <a:endParaRPr lang="en-US"/>
          </a:p>
        </p:txBody>
      </p:sp>
      <p:sp>
        <p:nvSpPr>
          <p:cNvPr id="74" name="Text 72"/>
          <p:cNvSpPr/>
          <p:nvPr/>
        </p:nvSpPr>
        <p:spPr>
          <a:xfrm>
            <a:off x="7863840" y="4169664"/>
            <a:ext cx="960120" cy="256032"/>
          </a:xfrm>
          <a:prstGeom prst="rect">
            <a:avLst/>
          </a:prstGeom>
          <a:noFill/>
          <a:ln/>
        </p:spPr>
        <p:txBody>
          <a:bodyPr wrap="square" rtlCol="0" anchor="ctr"/>
          <a:lstStyle/>
          <a:p>
            <a:pPr marL="0" indent="0" algn="ctr">
              <a:buNone/>
            </a:pPr>
            <a:r>
              <a:rPr lang="en-US" sz="850" b="1" dirty="0">
                <a:solidFill>
                  <a:srgbClr val="FFFFFF"/>
                </a:solidFill>
              </a:rPr>
              <a:t>MEDIUM</a:t>
            </a:r>
            <a:endParaRPr lang="en-US" sz="850" dirty="0"/>
          </a:p>
        </p:txBody>
      </p:sp>
      <p:sp>
        <p:nvSpPr>
          <p:cNvPr id="75" name="Shape 73"/>
          <p:cNvSpPr/>
          <p:nvPr/>
        </p:nvSpPr>
        <p:spPr>
          <a:xfrm>
            <a:off x="4846320" y="4517136"/>
            <a:ext cx="2651760" cy="137160"/>
          </a:xfrm>
          <a:prstGeom prst="rect">
            <a:avLst/>
          </a:prstGeom>
          <a:solidFill>
            <a:srgbClr val="EEF2FF"/>
          </a:solidFill>
          <a:ln w="12700">
            <a:solidFill>
              <a:srgbClr val="C7D2FE"/>
            </a:solidFill>
            <a:prstDash val="solid"/>
          </a:ln>
        </p:spPr>
        <p:txBody>
          <a:bodyPr/>
          <a:lstStyle/>
          <a:p>
            <a:endParaRPr lang="en-US"/>
          </a:p>
        </p:txBody>
      </p:sp>
      <p:sp>
        <p:nvSpPr>
          <p:cNvPr id="76" name="Shape 74"/>
          <p:cNvSpPr/>
          <p:nvPr/>
        </p:nvSpPr>
        <p:spPr>
          <a:xfrm>
            <a:off x="4846320" y="4517136"/>
            <a:ext cx="1325880" cy="137160"/>
          </a:xfrm>
          <a:prstGeom prst="rect">
            <a:avLst/>
          </a:prstGeom>
          <a:solidFill>
            <a:srgbClr val="3B82F6"/>
          </a:solidFill>
          <a:ln w="12700">
            <a:solidFill>
              <a:srgbClr val="3B82F6"/>
            </a:solidFill>
            <a:prstDash val="solid"/>
          </a:ln>
        </p:spPr>
        <p:txBody>
          <a:bodyPr/>
          <a:lstStyle/>
          <a:p>
            <a:endParaRPr lang="en-US"/>
          </a:p>
        </p:txBody>
      </p:sp>
      <p:sp>
        <p:nvSpPr>
          <p:cNvPr id="77" name="Text 75"/>
          <p:cNvSpPr/>
          <p:nvPr/>
        </p:nvSpPr>
        <p:spPr>
          <a:xfrm>
            <a:off x="7589520" y="4462272"/>
            <a:ext cx="685800" cy="256032"/>
          </a:xfrm>
          <a:prstGeom prst="rect">
            <a:avLst/>
          </a:prstGeom>
          <a:noFill/>
          <a:ln/>
        </p:spPr>
        <p:txBody>
          <a:bodyPr wrap="square" rtlCol="0" anchor="ctr"/>
          <a:lstStyle/>
          <a:p>
            <a:pPr marL="0" indent="0" algn="r">
              <a:buNone/>
            </a:pPr>
            <a:r>
              <a:rPr lang="en-US" sz="1300" b="1" dirty="0">
                <a:solidFill>
                  <a:srgbClr val="3B82F6"/>
                </a:solidFill>
              </a:rPr>
              <a:t>5/10</a:t>
            </a:r>
            <a:endParaRPr lang="en-US" sz="1300" dirty="0"/>
          </a:p>
        </p:txBody>
      </p:sp>
      <p:sp>
        <p:nvSpPr>
          <p:cNvPr id="78" name="Text 76"/>
          <p:cNvSpPr/>
          <p:nvPr/>
        </p:nvSpPr>
        <p:spPr>
          <a:xfrm>
            <a:off x="4846320" y="4700016"/>
            <a:ext cx="3977640" cy="237744"/>
          </a:xfrm>
          <a:prstGeom prst="rect">
            <a:avLst/>
          </a:prstGeom>
          <a:noFill/>
          <a:ln/>
        </p:spPr>
        <p:txBody>
          <a:bodyPr wrap="square" lIns="0" tIns="0" rIns="0" bIns="0" rtlCol="0" anchor="ctr"/>
          <a:lstStyle/>
          <a:p>
            <a:pPr marL="0" indent="0">
              <a:buNone/>
            </a:pPr>
            <a:r>
              <a:rPr lang="en-US" sz="950" dirty="0">
                <a:solidFill>
                  <a:srgbClr val="6B7280"/>
                </a:solidFill>
              </a:rPr>
              <a:t>Fake profiles, misinformation online.</a:t>
            </a:r>
            <a:endParaRPr lang="en-US" sz="950" dirty="0"/>
          </a:p>
        </p:txBody>
      </p:sp>
      <p:sp>
        <p:nvSpPr>
          <p:cNvPr id="79" name="Text 77"/>
          <p:cNvSpPr/>
          <p:nvPr/>
        </p:nvSpPr>
        <p:spPr>
          <a:xfrm>
            <a:off x="8778240" y="4919472"/>
            <a:ext cx="320040" cy="201168"/>
          </a:xfrm>
          <a:prstGeom prst="rect">
            <a:avLst/>
          </a:prstGeom>
          <a:noFill/>
          <a:ln/>
        </p:spPr>
        <p:txBody>
          <a:bodyPr wrap="square" rtlCol="0" anchor="ctr"/>
          <a:lstStyle/>
          <a:p>
            <a:pPr marL="0" indent="0" algn="ctr">
              <a:buNone/>
            </a:pPr>
            <a:r>
              <a:rPr lang="en-US" sz="900" dirty="0">
                <a:solidFill>
                  <a:srgbClr val="6B7280"/>
                </a:solidFill>
              </a:rPr>
              <a:t>9</a:t>
            </a:r>
            <a:endParaRPr lang="en-US" sz="900" dirty="0"/>
          </a:p>
        </p:txBody>
      </p:sp>
      <p:pic>
        <p:nvPicPr>
          <p:cNvPr id="80" name="object 16">
            <a:extLst>
              <a:ext uri="{FF2B5EF4-FFF2-40B4-BE49-F238E27FC236}">
                <a16:creationId xmlns:a16="http://schemas.microsoft.com/office/drawing/2014/main" id="{AD376F54-50B7-6C63-92FB-7B9C8F8190F0}"/>
              </a:ext>
            </a:extLst>
          </p:cNvPr>
          <p:cNvPicPr/>
          <p:nvPr/>
        </p:nvPicPr>
        <p:blipFill>
          <a:blip r:embed="rId3" cstate="print"/>
          <a:stretch>
            <a:fillRect/>
          </a:stretch>
        </p:blipFill>
        <p:spPr>
          <a:xfrm>
            <a:off x="6604782" y="207147"/>
            <a:ext cx="2454812" cy="6189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4F46E5"/>
          </a:solidFill>
          <a:ln w="12700">
            <a:solidFill>
              <a:srgbClr val="4F46E5"/>
            </a:solidFill>
            <a:prstDash val="solid"/>
          </a:ln>
        </p:spPr>
        <p:txBody>
          <a:bodyPr/>
          <a:lstStyle/>
          <a:p>
            <a:endParaRPr lang="en-US"/>
          </a:p>
        </p:txBody>
      </p:sp>
      <p:sp>
        <p:nvSpPr>
          <p:cNvPr id="5" name="Text 3"/>
          <p:cNvSpPr/>
          <p:nvPr/>
        </p:nvSpPr>
        <p:spPr>
          <a:xfrm>
            <a:off x="320040" y="91440"/>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  Analytics Dashboard</a:t>
            </a:r>
            <a:endParaRPr lang="en-US" sz="2200" dirty="0"/>
          </a:p>
        </p:txBody>
      </p:sp>
      <p:sp>
        <p:nvSpPr>
          <p:cNvPr id="6" name="Text 4"/>
          <p:cNvSpPr/>
          <p:nvPr/>
        </p:nvSpPr>
        <p:spPr>
          <a:xfrm>
            <a:off x="347472" y="603504"/>
            <a:ext cx="8046720" cy="320040"/>
          </a:xfrm>
          <a:prstGeom prst="rect">
            <a:avLst/>
          </a:prstGeom>
          <a:noFill/>
          <a:ln/>
        </p:spPr>
        <p:txBody>
          <a:bodyPr wrap="square" lIns="0" tIns="0" rIns="0" bIns="0" rtlCol="0" anchor="ctr"/>
          <a:lstStyle/>
          <a:p>
            <a:pPr marL="0" indent="0">
              <a:buNone/>
            </a:pPr>
            <a:r>
              <a:rPr lang="en-US" sz="1100" i="1" dirty="0">
                <a:solidFill>
                  <a:srgbClr val="C7D2FE"/>
                </a:solidFill>
              </a:rPr>
              <a:t>Admin views live crime data through interactive Plotly charts</a:t>
            </a:r>
            <a:endParaRPr lang="en-US" sz="1100" dirty="0"/>
          </a:p>
        </p:txBody>
      </p:sp>
      <p:sp>
        <p:nvSpPr>
          <p:cNvPr id="7" name="Shape 5"/>
          <p:cNvSpPr/>
          <p:nvPr/>
        </p:nvSpPr>
        <p:spPr>
          <a:xfrm>
            <a:off x="256032" y="1078992"/>
            <a:ext cx="1609344" cy="86868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8" name="Shape 6"/>
          <p:cNvSpPr/>
          <p:nvPr/>
        </p:nvSpPr>
        <p:spPr>
          <a:xfrm>
            <a:off x="256032" y="1078992"/>
            <a:ext cx="1609344" cy="64008"/>
          </a:xfrm>
          <a:prstGeom prst="rect">
            <a:avLst/>
          </a:prstGeom>
          <a:solidFill>
            <a:srgbClr val="4F46E5"/>
          </a:solidFill>
          <a:ln w="12700">
            <a:solidFill>
              <a:srgbClr val="4F46E5"/>
            </a:solidFill>
            <a:prstDash val="solid"/>
          </a:ln>
        </p:spPr>
        <p:txBody>
          <a:bodyPr/>
          <a:lstStyle/>
          <a:p>
            <a:endParaRPr lang="en-US"/>
          </a:p>
        </p:txBody>
      </p:sp>
      <p:sp>
        <p:nvSpPr>
          <p:cNvPr id="9" name="Text 7"/>
          <p:cNvSpPr/>
          <p:nvPr/>
        </p:nvSpPr>
        <p:spPr>
          <a:xfrm>
            <a:off x="256032" y="1152144"/>
            <a:ext cx="1609344" cy="438912"/>
          </a:xfrm>
          <a:prstGeom prst="rect">
            <a:avLst/>
          </a:prstGeom>
          <a:noFill/>
          <a:ln/>
        </p:spPr>
        <p:txBody>
          <a:bodyPr wrap="square" rtlCol="0" anchor="ctr"/>
          <a:lstStyle/>
          <a:p>
            <a:pPr marL="0" indent="0" algn="ctr">
              <a:buNone/>
            </a:pPr>
            <a:r>
              <a:rPr lang="en-US" sz="2600" b="1" dirty="0">
                <a:solidFill>
                  <a:srgbClr val="4F46E5"/>
                </a:solidFill>
              </a:rPr>
              <a:t>250+</a:t>
            </a:r>
            <a:endParaRPr lang="en-US" sz="2600" dirty="0"/>
          </a:p>
        </p:txBody>
      </p:sp>
      <p:sp>
        <p:nvSpPr>
          <p:cNvPr id="10" name="Text 8"/>
          <p:cNvSpPr/>
          <p:nvPr/>
        </p:nvSpPr>
        <p:spPr>
          <a:xfrm>
            <a:off x="256032" y="1591056"/>
            <a:ext cx="1609344" cy="320040"/>
          </a:xfrm>
          <a:prstGeom prst="rect">
            <a:avLst/>
          </a:prstGeom>
          <a:noFill/>
          <a:ln/>
        </p:spPr>
        <p:txBody>
          <a:bodyPr wrap="square" rtlCol="0" anchor="ctr"/>
          <a:lstStyle/>
          <a:p>
            <a:pPr marL="0" indent="0" algn="ctr">
              <a:buNone/>
            </a:pPr>
            <a:r>
              <a:rPr lang="en-US" sz="950" dirty="0">
                <a:solidFill>
                  <a:srgbClr val="374151"/>
                </a:solidFill>
              </a:rPr>
              <a:t>Total Complaints</a:t>
            </a:r>
            <a:endParaRPr lang="en-US" sz="950" dirty="0"/>
          </a:p>
        </p:txBody>
      </p:sp>
      <p:sp>
        <p:nvSpPr>
          <p:cNvPr id="11" name="Shape 9"/>
          <p:cNvSpPr/>
          <p:nvPr/>
        </p:nvSpPr>
        <p:spPr>
          <a:xfrm>
            <a:off x="1993392" y="1078992"/>
            <a:ext cx="1609344" cy="86868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12" name="Shape 10"/>
          <p:cNvSpPr/>
          <p:nvPr/>
        </p:nvSpPr>
        <p:spPr>
          <a:xfrm>
            <a:off x="1993392" y="1078992"/>
            <a:ext cx="1609344" cy="64008"/>
          </a:xfrm>
          <a:prstGeom prst="rect">
            <a:avLst/>
          </a:prstGeom>
          <a:solidFill>
            <a:srgbClr val="10B981"/>
          </a:solidFill>
          <a:ln w="12700">
            <a:solidFill>
              <a:srgbClr val="10B981"/>
            </a:solidFill>
            <a:prstDash val="solid"/>
          </a:ln>
        </p:spPr>
        <p:txBody>
          <a:bodyPr/>
          <a:lstStyle/>
          <a:p>
            <a:endParaRPr lang="en-US"/>
          </a:p>
        </p:txBody>
      </p:sp>
      <p:sp>
        <p:nvSpPr>
          <p:cNvPr id="13" name="Text 11"/>
          <p:cNvSpPr/>
          <p:nvPr/>
        </p:nvSpPr>
        <p:spPr>
          <a:xfrm>
            <a:off x="1993392" y="1152144"/>
            <a:ext cx="1609344" cy="438912"/>
          </a:xfrm>
          <a:prstGeom prst="rect">
            <a:avLst/>
          </a:prstGeom>
          <a:noFill/>
          <a:ln/>
        </p:spPr>
        <p:txBody>
          <a:bodyPr wrap="square" rtlCol="0" anchor="ctr"/>
          <a:lstStyle/>
          <a:p>
            <a:pPr marL="0" indent="0" algn="ctr">
              <a:buNone/>
            </a:pPr>
            <a:r>
              <a:rPr lang="en-US" sz="2600" b="1" dirty="0">
                <a:solidFill>
                  <a:srgbClr val="10B981"/>
                </a:solidFill>
              </a:rPr>
              <a:t>78%</a:t>
            </a:r>
            <a:endParaRPr lang="en-US" sz="2600" dirty="0"/>
          </a:p>
        </p:txBody>
      </p:sp>
      <p:sp>
        <p:nvSpPr>
          <p:cNvPr id="14" name="Text 12"/>
          <p:cNvSpPr/>
          <p:nvPr/>
        </p:nvSpPr>
        <p:spPr>
          <a:xfrm>
            <a:off x="1993392" y="1591056"/>
            <a:ext cx="1609344" cy="320040"/>
          </a:xfrm>
          <a:prstGeom prst="rect">
            <a:avLst/>
          </a:prstGeom>
          <a:noFill/>
          <a:ln/>
        </p:spPr>
        <p:txBody>
          <a:bodyPr wrap="square" rtlCol="0" anchor="ctr"/>
          <a:lstStyle/>
          <a:p>
            <a:pPr marL="0" indent="0" algn="ctr">
              <a:buNone/>
            </a:pPr>
            <a:r>
              <a:rPr lang="en-US" sz="950" dirty="0">
                <a:solidFill>
                  <a:srgbClr val="374151"/>
                </a:solidFill>
              </a:rPr>
              <a:t>Cases Resolved</a:t>
            </a:r>
            <a:endParaRPr lang="en-US" sz="950" dirty="0"/>
          </a:p>
        </p:txBody>
      </p:sp>
      <p:sp>
        <p:nvSpPr>
          <p:cNvPr id="15" name="Shape 13"/>
          <p:cNvSpPr/>
          <p:nvPr/>
        </p:nvSpPr>
        <p:spPr>
          <a:xfrm>
            <a:off x="3730752" y="1078992"/>
            <a:ext cx="1609344" cy="86868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16" name="Shape 14"/>
          <p:cNvSpPr/>
          <p:nvPr/>
        </p:nvSpPr>
        <p:spPr>
          <a:xfrm>
            <a:off x="3730752" y="1078992"/>
            <a:ext cx="1609344" cy="64008"/>
          </a:xfrm>
          <a:prstGeom prst="rect">
            <a:avLst/>
          </a:prstGeom>
          <a:solidFill>
            <a:srgbClr val="EF4444"/>
          </a:solidFill>
          <a:ln w="12700">
            <a:solidFill>
              <a:srgbClr val="EF4444"/>
            </a:solidFill>
            <a:prstDash val="solid"/>
          </a:ln>
        </p:spPr>
        <p:txBody>
          <a:bodyPr/>
          <a:lstStyle/>
          <a:p>
            <a:endParaRPr lang="en-US"/>
          </a:p>
        </p:txBody>
      </p:sp>
      <p:sp>
        <p:nvSpPr>
          <p:cNvPr id="17" name="Text 15"/>
          <p:cNvSpPr/>
          <p:nvPr/>
        </p:nvSpPr>
        <p:spPr>
          <a:xfrm>
            <a:off x="3730752" y="1152144"/>
            <a:ext cx="1609344" cy="438912"/>
          </a:xfrm>
          <a:prstGeom prst="rect">
            <a:avLst/>
          </a:prstGeom>
          <a:noFill/>
          <a:ln/>
        </p:spPr>
        <p:txBody>
          <a:bodyPr wrap="square" rtlCol="0" anchor="ctr"/>
          <a:lstStyle/>
          <a:p>
            <a:pPr marL="0" indent="0" algn="ctr">
              <a:buNone/>
            </a:pPr>
            <a:r>
              <a:rPr lang="en-US" sz="2600" b="1" dirty="0">
                <a:solidFill>
                  <a:srgbClr val="EF4444"/>
                </a:solidFill>
              </a:rPr>
              <a:t>32</a:t>
            </a:r>
            <a:endParaRPr lang="en-US" sz="2600" dirty="0"/>
          </a:p>
        </p:txBody>
      </p:sp>
      <p:sp>
        <p:nvSpPr>
          <p:cNvPr id="18" name="Text 16"/>
          <p:cNvSpPr/>
          <p:nvPr/>
        </p:nvSpPr>
        <p:spPr>
          <a:xfrm>
            <a:off x="3730752" y="1591056"/>
            <a:ext cx="1609344" cy="320040"/>
          </a:xfrm>
          <a:prstGeom prst="rect">
            <a:avLst/>
          </a:prstGeom>
          <a:noFill/>
          <a:ln/>
        </p:spPr>
        <p:txBody>
          <a:bodyPr wrap="square" rtlCol="0" anchor="ctr"/>
          <a:lstStyle/>
          <a:p>
            <a:pPr marL="0" indent="0" algn="ctr">
              <a:buNone/>
            </a:pPr>
            <a:r>
              <a:rPr lang="en-US" sz="950" dirty="0">
                <a:solidFill>
                  <a:srgbClr val="374151"/>
                </a:solidFill>
              </a:rPr>
              <a:t>Critical Cases</a:t>
            </a:r>
            <a:endParaRPr lang="en-US" sz="950" dirty="0"/>
          </a:p>
        </p:txBody>
      </p:sp>
      <p:sp>
        <p:nvSpPr>
          <p:cNvPr id="19" name="Shape 17"/>
          <p:cNvSpPr/>
          <p:nvPr/>
        </p:nvSpPr>
        <p:spPr>
          <a:xfrm>
            <a:off x="5468112" y="1078992"/>
            <a:ext cx="1609344" cy="86868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20" name="Shape 18"/>
          <p:cNvSpPr/>
          <p:nvPr/>
        </p:nvSpPr>
        <p:spPr>
          <a:xfrm>
            <a:off x="5468112" y="1078992"/>
            <a:ext cx="1609344" cy="64008"/>
          </a:xfrm>
          <a:prstGeom prst="rect">
            <a:avLst/>
          </a:prstGeom>
          <a:solidFill>
            <a:srgbClr val="F59E0B"/>
          </a:solidFill>
          <a:ln w="12700">
            <a:solidFill>
              <a:srgbClr val="F59E0B"/>
            </a:solidFill>
            <a:prstDash val="solid"/>
          </a:ln>
        </p:spPr>
        <p:txBody>
          <a:bodyPr/>
          <a:lstStyle/>
          <a:p>
            <a:endParaRPr lang="en-US"/>
          </a:p>
        </p:txBody>
      </p:sp>
      <p:sp>
        <p:nvSpPr>
          <p:cNvPr id="21" name="Text 19"/>
          <p:cNvSpPr/>
          <p:nvPr/>
        </p:nvSpPr>
        <p:spPr>
          <a:xfrm>
            <a:off x="5468112" y="1152144"/>
            <a:ext cx="1609344" cy="438912"/>
          </a:xfrm>
          <a:prstGeom prst="rect">
            <a:avLst/>
          </a:prstGeom>
          <a:noFill/>
          <a:ln/>
        </p:spPr>
        <p:txBody>
          <a:bodyPr wrap="square" rtlCol="0" anchor="ctr"/>
          <a:lstStyle/>
          <a:p>
            <a:pPr marL="0" indent="0" algn="ctr">
              <a:buNone/>
            </a:pPr>
            <a:r>
              <a:rPr lang="en-US" sz="2600" b="1" dirty="0">
                <a:solidFill>
                  <a:srgbClr val="F59E0B"/>
                </a:solidFill>
              </a:rPr>
              <a:t>6.4</a:t>
            </a:r>
            <a:endParaRPr lang="en-US" sz="2600" dirty="0"/>
          </a:p>
        </p:txBody>
      </p:sp>
      <p:sp>
        <p:nvSpPr>
          <p:cNvPr id="22" name="Text 20"/>
          <p:cNvSpPr/>
          <p:nvPr/>
        </p:nvSpPr>
        <p:spPr>
          <a:xfrm>
            <a:off x="5468112" y="1591056"/>
            <a:ext cx="1609344" cy="320040"/>
          </a:xfrm>
          <a:prstGeom prst="rect">
            <a:avLst/>
          </a:prstGeom>
          <a:noFill/>
          <a:ln/>
        </p:spPr>
        <p:txBody>
          <a:bodyPr wrap="square" rtlCol="0" anchor="ctr"/>
          <a:lstStyle/>
          <a:p>
            <a:pPr marL="0" indent="0" algn="ctr">
              <a:buNone/>
            </a:pPr>
            <a:r>
              <a:rPr lang="en-US" sz="950" dirty="0">
                <a:solidFill>
                  <a:srgbClr val="374151"/>
                </a:solidFill>
              </a:rPr>
              <a:t>Avg Priority</a:t>
            </a:r>
            <a:endParaRPr lang="en-US" sz="950" dirty="0"/>
          </a:p>
        </p:txBody>
      </p:sp>
      <p:sp>
        <p:nvSpPr>
          <p:cNvPr id="23" name="Shape 21"/>
          <p:cNvSpPr/>
          <p:nvPr/>
        </p:nvSpPr>
        <p:spPr>
          <a:xfrm>
            <a:off x="7205472" y="1078992"/>
            <a:ext cx="1609344" cy="868680"/>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24" name="Shape 22"/>
          <p:cNvSpPr/>
          <p:nvPr/>
        </p:nvSpPr>
        <p:spPr>
          <a:xfrm>
            <a:off x="7205472" y="1078992"/>
            <a:ext cx="1609344" cy="64008"/>
          </a:xfrm>
          <a:prstGeom prst="rect">
            <a:avLst/>
          </a:prstGeom>
          <a:solidFill>
            <a:srgbClr val="7C3AED"/>
          </a:solidFill>
          <a:ln w="12700">
            <a:solidFill>
              <a:srgbClr val="7C3AED"/>
            </a:solidFill>
            <a:prstDash val="solid"/>
          </a:ln>
        </p:spPr>
        <p:txBody>
          <a:bodyPr/>
          <a:lstStyle/>
          <a:p>
            <a:endParaRPr lang="en-US"/>
          </a:p>
        </p:txBody>
      </p:sp>
      <p:sp>
        <p:nvSpPr>
          <p:cNvPr id="25" name="Text 23"/>
          <p:cNvSpPr/>
          <p:nvPr/>
        </p:nvSpPr>
        <p:spPr>
          <a:xfrm>
            <a:off x="7205472" y="1152144"/>
            <a:ext cx="1609344" cy="438912"/>
          </a:xfrm>
          <a:prstGeom prst="rect">
            <a:avLst/>
          </a:prstGeom>
          <a:noFill/>
          <a:ln/>
        </p:spPr>
        <p:txBody>
          <a:bodyPr wrap="square" rtlCol="0" anchor="ctr"/>
          <a:lstStyle/>
          <a:p>
            <a:pPr marL="0" indent="0" algn="ctr">
              <a:buNone/>
            </a:pPr>
            <a:r>
              <a:rPr lang="en-US" sz="2600" b="1" dirty="0">
                <a:solidFill>
                  <a:srgbClr val="7C3AED"/>
                </a:solidFill>
              </a:rPr>
              <a:t>₹18L+</a:t>
            </a:r>
            <a:endParaRPr lang="en-US" sz="2600" dirty="0"/>
          </a:p>
        </p:txBody>
      </p:sp>
      <p:sp>
        <p:nvSpPr>
          <p:cNvPr id="26" name="Text 24"/>
          <p:cNvSpPr/>
          <p:nvPr/>
        </p:nvSpPr>
        <p:spPr>
          <a:xfrm>
            <a:off x="7205472" y="1591056"/>
            <a:ext cx="1609344" cy="320040"/>
          </a:xfrm>
          <a:prstGeom prst="rect">
            <a:avLst/>
          </a:prstGeom>
          <a:noFill/>
          <a:ln/>
        </p:spPr>
        <p:txBody>
          <a:bodyPr wrap="square" rtlCol="0" anchor="ctr"/>
          <a:lstStyle/>
          <a:p>
            <a:pPr marL="0" indent="0" algn="ctr">
              <a:buNone/>
            </a:pPr>
            <a:r>
              <a:rPr lang="en-US" sz="950" dirty="0">
                <a:solidFill>
                  <a:srgbClr val="374151"/>
                </a:solidFill>
              </a:rPr>
              <a:t>Financial Loss</a:t>
            </a:r>
            <a:endParaRPr lang="en-US" sz="950" dirty="0"/>
          </a:p>
        </p:txBody>
      </p:sp>
      <p:sp>
        <p:nvSpPr>
          <p:cNvPr id="27" name="Shape 25"/>
          <p:cNvSpPr/>
          <p:nvPr/>
        </p:nvSpPr>
        <p:spPr>
          <a:xfrm>
            <a:off x="256032" y="2057400"/>
            <a:ext cx="4251960" cy="2852928"/>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28" name="Shape 26"/>
          <p:cNvSpPr/>
          <p:nvPr/>
        </p:nvSpPr>
        <p:spPr>
          <a:xfrm>
            <a:off x="256032" y="2057400"/>
            <a:ext cx="4251960" cy="73152"/>
          </a:xfrm>
          <a:prstGeom prst="rect">
            <a:avLst/>
          </a:prstGeom>
          <a:solidFill>
            <a:srgbClr val="4F46E5"/>
          </a:solidFill>
          <a:ln w="12700">
            <a:solidFill>
              <a:srgbClr val="4F46E5"/>
            </a:solidFill>
            <a:prstDash val="solid"/>
          </a:ln>
        </p:spPr>
        <p:txBody>
          <a:bodyPr/>
          <a:lstStyle/>
          <a:p>
            <a:endParaRPr lang="en-US"/>
          </a:p>
        </p:txBody>
      </p:sp>
      <p:sp>
        <p:nvSpPr>
          <p:cNvPr id="29" name="Text 27"/>
          <p:cNvSpPr/>
          <p:nvPr/>
        </p:nvSpPr>
        <p:spPr>
          <a:xfrm>
            <a:off x="365760" y="2130552"/>
            <a:ext cx="3931920" cy="310896"/>
          </a:xfrm>
          <a:prstGeom prst="rect">
            <a:avLst/>
          </a:prstGeom>
          <a:noFill/>
          <a:ln/>
        </p:spPr>
        <p:txBody>
          <a:bodyPr wrap="square" rtlCol="0" anchor="ctr"/>
          <a:lstStyle/>
          <a:p>
            <a:pPr marL="0" indent="0">
              <a:buNone/>
            </a:pPr>
            <a:r>
              <a:rPr lang="en-US" sz="1200" b="1" dirty="0">
                <a:solidFill>
                  <a:srgbClr val="1E1B4B"/>
                </a:solidFill>
              </a:rPr>
              <a:t>Crime Type Distribution</a:t>
            </a:r>
            <a:endParaRPr lang="en-US" sz="1200" dirty="0"/>
          </a:p>
        </p:txBody>
      </p:sp>
      <p:sp>
        <p:nvSpPr>
          <p:cNvPr id="30" name="Text 28"/>
          <p:cNvSpPr/>
          <p:nvPr/>
        </p:nvSpPr>
        <p:spPr>
          <a:xfrm>
            <a:off x="365760" y="2414016"/>
            <a:ext cx="3931920" cy="219456"/>
          </a:xfrm>
          <a:prstGeom prst="rect">
            <a:avLst/>
          </a:prstGeom>
          <a:noFill/>
          <a:ln/>
        </p:spPr>
        <p:txBody>
          <a:bodyPr wrap="square" rtlCol="0" anchor="ctr"/>
          <a:lstStyle/>
          <a:p>
            <a:pPr marL="0" indent="0">
              <a:buNone/>
            </a:pPr>
            <a:r>
              <a:rPr lang="en-US" sz="900" i="1" dirty="0">
                <a:solidFill>
                  <a:srgbClr val="6B7280"/>
                </a:solidFill>
              </a:rPr>
              <a:t>Plotly Express  px.bar()</a:t>
            </a:r>
            <a:endParaRPr lang="en-US" sz="900" dirty="0"/>
          </a:p>
        </p:txBody>
      </p:sp>
      <p:sp>
        <p:nvSpPr>
          <p:cNvPr id="31" name="Shape 29"/>
          <p:cNvSpPr/>
          <p:nvPr/>
        </p:nvSpPr>
        <p:spPr>
          <a:xfrm>
            <a:off x="438912" y="2743200"/>
            <a:ext cx="502920" cy="1353312"/>
          </a:xfrm>
          <a:prstGeom prst="rect">
            <a:avLst/>
          </a:prstGeom>
          <a:solidFill>
            <a:srgbClr val="4F46E5"/>
          </a:solidFill>
          <a:ln w="12700">
            <a:solidFill>
              <a:srgbClr val="4F46E5"/>
            </a:solidFill>
            <a:prstDash val="solid"/>
          </a:ln>
        </p:spPr>
        <p:txBody>
          <a:bodyPr/>
          <a:lstStyle/>
          <a:p>
            <a:endParaRPr lang="en-US"/>
          </a:p>
        </p:txBody>
      </p:sp>
      <p:sp>
        <p:nvSpPr>
          <p:cNvPr id="32" name="Text 30"/>
          <p:cNvSpPr/>
          <p:nvPr/>
        </p:nvSpPr>
        <p:spPr>
          <a:xfrm>
            <a:off x="438912" y="2468880"/>
            <a:ext cx="502920" cy="256032"/>
          </a:xfrm>
          <a:prstGeom prst="rect">
            <a:avLst/>
          </a:prstGeom>
          <a:noFill/>
          <a:ln/>
        </p:spPr>
        <p:txBody>
          <a:bodyPr wrap="square" rtlCol="0" anchor="ctr"/>
          <a:lstStyle/>
          <a:p>
            <a:pPr marL="0" indent="0" algn="ctr">
              <a:buNone/>
            </a:pPr>
            <a:r>
              <a:rPr lang="en-US" sz="900" b="1" dirty="0">
                <a:solidFill>
                  <a:srgbClr val="4F46E5"/>
                </a:solidFill>
              </a:rPr>
              <a:t>7.2</a:t>
            </a:r>
            <a:endParaRPr lang="en-US" sz="900" dirty="0"/>
          </a:p>
        </p:txBody>
      </p:sp>
      <p:sp>
        <p:nvSpPr>
          <p:cNvPr id="33" name="Text 31"/>
          <p:cNvSpPr/>
          <p:nvPr/>
        </p:nvSpPr>
        <p:spPr>
          <a:xfrm>
            <a:off x="402336" y="4133088"/>
            <a:ext cx="585216" cy="219456"/>
          </a:xfrm>
          <a:prstGeom prst="rect">
            <a:avLst/>
          </a:prstGeom>
          <a:noFill/>
          <a:ln/>
        </p:spPr>
        <p:txBody>
          <a:bodyPr wrap="square" rtlCol="0" anchor="ctr"/>
          <a:lstStyle/>
          <a:p>
            <a:pPr marL="0" indent="0" algn="ctr">
              <a:buNone/>
            </a:pPr>
            <a:r>
              <a:rPr lang="en-US" sz="800" dirty="0">
                <a:solidFill>
                  <a:srgbClr val="6B7280"/>
                </a:solidFill>
              </a:rPr>
              <a:t>Fraud</a:t>
            </a:r>
            <a:endParaRPr lang="en-US" sz="800" dirty="0"/>
          </a:p>
        </p:txBody>
      </p:sp>
      <p:sp>
        <p:nvSpPr>
          <p:cNvPr id="34" name="Shape 32"/>
          <p:cNvSpPr/>
          <p:nvPr/>
        </p:nvSpPr>
        <p:spPr>
          <a:xfrm>
            <a:off x="1097280" y="3006344"/>
            <a:ext cx="502920" cy="1090168"/>
          </a:xfrm>
          <a:prstGeom prst="rect">
            <a:avLst/>
          </a:prstGeom>
          <a:solidFill>
            <a:srgbClr val="7C3AED"/>
          </a:solidFill>
          <a:ln w="12700">
            <a:solidFill>
              <a:srgbClr val="7C3AED"/>
            </a:solidFill>
            <a:prstDash val="solid"/>
          </a:ln>
        </p:spPr>
        <p:txBody>
          <a:bodyPr/>
          <a:lstStyle/>
          <a:p>
            <a:endParaRPr lang="en-US"/>
          </a:p>
        </p:txBody>
      </p:sp>
      <p:sp>
        <p:nvSpPr>
          <p:cNvPr id="35" name="Text 33"/>
          <p:cNvSpPr/>
          <p:nvPr/>
        </p:nvSpPr>
        <p:spPr>
          <a:xfrm>
            <a:off x="1097280" y="2732024"/>
            <a:ext cx="502920" cy="256032"/>
          </a:xfrm>
          <a:prstGeom prst="rect">
            <a:avLst/>
          </a:prstGeom>
          <a:noFill/>
          <a:ln/>
        </p:spPr>
        <p:txBody>
          <a:bodyPr wrap="square" rtlCol="0" anchor="ctr"/>
          <a:lstStyle/>
          <a:p>
            <a:pPr marL="0" indent="0" algn="ctr">
              <a:buNone/>
            </a:pPr>
            <a:r>
              <a:rPr lang="en-US" sz="900" b="1" dirty="0">
                <a:solidFill>
                  <a:srgbClr val="7C3AED"/>
                </a:solidFill>
              </a:rPr>
              <a:t>5.8</a:t>
            </a:r>
            <a:endParaRPr lang="en-US" sz="900" dirty="0"/>
          </a:p>
        </p:txBody>
      </p:sp>
      <p:sp>
        <p:nvSpPr>
          <p:cNvPr id="36" name="Text 34"/>
          <p:cNvSpPr/>
          <p:nvPr/>
        </p:nvSpPr>
        <p:spPr>
          <a:xfrm>
            <a:off x="1060704" y="4133088"/>
            <a:ext cx="585216" cy="219456"/>
          </a:xfrm>
          <a:prstGeom prst="rect">
            <a:avLst/>
          </a:prstGeom>
          <a:noFill/>
          <a:ln/>
        </p:spPr>
        <p:txBody>
          <a:bodyPr wrap="square" rtlCol="0" anchor="ctr"/>
          <a:lstStyle/>
          <a:p>
            <a:pPr marL="0" indent="0" algn="ctr">
              <a:buNone/>
            </a:pPr>
            <a:r>
              <a:rPr lang="en-US" sz="800" dirty="0">
                <a:solidFill>
                  <a:srgbClr val="6B7280"/>
                </a:solidFill>
              </a:rPr>
              <a:t>Hacking</a:t>
            </a:r>
            <a:endParaRPr lang="en-US" sz="800" dirty="0"/>
          </a:p>
        </p:txBody>
      </p:sp>
      <p:sp>
        <p:nvSpPr>
          <p:cNvPr id="37" name="Shape 35"/>
          <p:cNvSpPr/>
          <p:nvPr/>
        </p:nvSpPr>
        <p:spPr>
          <a:xfrm>
            <a:off x="1755648" y="3231896"/>
            <a:ext cx="502920" cy="864616"/>
          </a:xfrm>
          <a:prstGeom prst="rect">
            <a:avLst/>
          </a:prstGeom>
          <a:solidFill>
            <a:srgbClr val="EF4444"/>
          </a:solidFill>
          <a:ln w="12700">
            <a:solidFill>
              <a:srgbClr val="EF4444"/>
            </a:solidFill>
            <a:prstDash val="solid"/>
          </a:ln>
        </p:spPr>
        <p:txBody>
          <a:bodyPr/>
          <a:lstStyle/>
          <a:p>
            <a:endParaRPr lang="en-US"/>
          </a:p>
        </p:txBody>
      </p:sp>
      <p:sp>
        <p:nvSpPr>
          <p:cNvPr id="38" name="Text 36"/>
          <p:cNvSpPr/>
          <p:nvPr/>
        </p:nvSpPr>
        <p:spPr>
          <a:xfrm>
            <a:off x="1755648" y="2957576"/>
            <a:ext cx="502920" cy="256032"/>
          </a:xfrm>
          <a:prstGeom prst="rect">
            <a:avLst/>
          </a:prstGeom>
          <a:noFill/>
          <a:ln/>
        </p:spPr>
        <p:txBody>
          <a:bodyPr wrap="square" rtlCol="0" anchor="ctr"/>
          <a:lstStyle/>
          <a:p>
            <a:pPr marL="0" indent="0" algn="ctr">
              <a:buNone/>
            </a:pPr>
            <a:r>
              <a:rPr lang="en-US" sz="900" b="1" dirty="0">
                <a:solidFill>
                  <a:srgbClr val="EF4444"/>
                </a:solidFill>
              </a:rPr>
              <a:t>4.6</a:t>
            </a:r>
            <a:endParaRPr lang="en-US" sz="900" dirty="0"/>
          </a:p>
        </p:txBody>
      </p:sp>
      <p:sp>
        <p:nvSpPr>
          <p:cNvPr id="39" name="Text 37"/>
          <p:cNvSpPr/>
          <p:nvPr/>
        </p:nvSpPr>
        <p:spPr>
          <a:xfrm>
            <a:off x="1719072" y="4133088"/>
            <a:ext cx="585216" cy="219456"/>
          </a:xfrm>
          <a:prstGeom prst="rect">
            <a:avLst/>
          </a:prstGeom>
          <a:noFill/>
          <a:ln/>
        </p:spPr>
        <p:txBody>
          <a:bodyPr wrap="square" rtlCol="0" anchor="ctr"/>
          <a:lstStyle/>
          <a:p>
            <a:pPr marL="0" indent="0" algn="ctr">
              <a:buNone/>
            </a:pPr>
            <a:r>
              <a:rPr lang="en-US" sz="800" dirty="0">
                <a:solidFill>
                  <a:srgbClr val="6B7280"/>
                </a:solidFill>
              </a:rPr>
              <a:t>Phishing</a:t>
            </a:r>
            <a:endParaRPr lang="en-US" sz="800" dirty="0"/>
          </a:p>
        </p:txBody>
      </p:sp>
      <p:sp>
        <p:nvSpPr>
          <p:cNvPr id="40" name="Shape 38"/>
          <p:cNvSpPr/>
          <p:nvPr/>
        </p:nvSpPr>
        <p:spPr>
          <a:xfrm>
            <a:off x="2414016" y="3457448"/>
            <a:ext cx="502920" cy="639064"/>
          </a:xfrm>
          <a:prstGeom prst="rect">
            <a:avLst/>
          </a:prstGeom>
          <a:solidFill>
            <a:srgbClr val="10B981"/>
          </a:solidFill>
          <a:ln w="12700">
            <a:solidFill>
              <a:srgbClr val="10B981"/>
            </a:solidFill>
            <a:prstDash val="solid"/>
          </a:ln>
        </p:spPr>
        <p:txBody>
          <a:bodyPr/>
          <a:lstStyle/>
          <a:p>
            <a:endParaRPr lang="en-US"/>
          </a:p>
        </p:txBody>
      </p:sp>
      <p:sp>
        <p:nvSpPr>
          <p:cNvPr id="41" name="Text 39"/>
          <p:cNvSpPr/>
          <p:nvPr/>
        </p:nvSpPr>
        <p:spPr>
          <a:xfrm>
            <a:off x="2414016" y="3183128"/>
            <a:ext cx="502920" cy="256032"/>
          </a:xfrm>
          <a:prstGeom prst="rect">
            <a:avLst/>
          </a:prstGeom>
          <a:noFill/>
          <a:ln/>
        </p:spPr>
        <p:txBody>
          <a:bodyPr wrap="square" rtlCol="0" anchor="ctr"/>
          <a:lstStyle/>
          <a:p>
            <a:pPr marL="0" indent="0" algn="ctr">
              <a:buNone/>
            </a:pPr>
            <a:r>
              <a:rPr lang="en-US" sz="900" b="1" dirty="0">
                <a:solidFill>
                  <a:srgbClr val="10B981"/>
                </a:solidFill>
              </a:rPr>
              <a:t>3.4</a:t>
            </a:r>
            <a:endParaRPr lang="en-US" sz="900" dirty="0"/>
          </a:p>
        </p:txBody>
      </p:sp>
      <p:sp>
        <p:nvSpPr>
          <p:cNvPr id="42" name="Text 40"/>
          <p:cNvSpPr/>
          <p:nvPr/>
        </p:nvSpPr>
        <p:spPr>
          <a:xfrm>
            <a:off x="2377440" y="4133088"/>
            <a:ext cx="585216" cy="219456"/>
          </a:xfrm>
          <a:prstGeom prst="rect">
            <a:avLst/>
          </a:prstGeom>
          <a:noFill/>
          <a:ln/>
        </p:spPr>
        <p:txBody>
          <a:bodyPr wrap="square" rtlCol="0" anchor="ctr"/>
          <a:lstStyle/>
          <a:p>
            <a:pPr marL="0" indent="0" algn="ctr">
              <a:buNone/>
            </a:pPr>
            <a:r>
              <a:rPr lang="en-US" sz="800" dirty="0">
                <a:solidFill>
                  <a:srgbClr val="6B7280"/>
                </a:solidFill>
              </a:rPr>
              <a:t>Breach</a:t>
            </a:r>
            <a:endParaRPr lang="en-US" sz="800" dirty="0"/>
          </a:p>
        </p:txBody>
      </p:sp>
      <p:sp>
        <p:nvSpPr>
          <p:cNvPr id="43" name="Shape 41"/>
          <p:cNvSpPr/>
          <p:nvPr/>
        </p:nvSpPr>
        <p:spPr>
          <a:xfrm>
            <a:off x="3072384" y="3626612"/>
            <a:ext cx="502920" cy="469900"/>
          </a:xfrm>
          <a:prstGeom prst="rect">
            <a:avLst/>
          </a:prstGeom>
          <a:solidFill>
            <a:srgbClr val="F59E0B"/>
          </a:solidFill>
          <a:ln w="12700">
            <a:solidFill>
              <a:srgbClr val="F59E0B"/>
            </a:solidFill>
            <a:prstDash val="solid"/>
          </a:ln>
        </p:spPr>
        <p:txBody>
          <a:bodyPr/>
          <a:lstStyle/>
          <a:p>
            <a:endParaRPr lang="en-US"/>
          </a:p>
        </p:txBody>
      </p:sp>
      <p:sp>
        <p:nvSpPr>
          <p:cNvPr id="44" name="Text 42"/>
          <p:cNvSpPr/>
          <p:nvPr/>
        </p:nvSpPr>
        <p:spPr>
          <a:xfrm>
            <a:off x="3072384" y="3352292"/>
            <a:ext cx="502920" cy="256032"/>
          </a:xfrm>
          <a:prstGeom prst="rect">
            <a:avLst/>
          </a:prstGeom>
          <a:noFill/>
          <a:ln/>
        </p:spPr>
        <p:txBody>
          <a:bodyPr wrap="square" rtlCol="0" anchor="ctr"/>
          <a:lstStyle/>
          <a:p>
            <a:pPr marL="0" indent="0" algn="ctr">
              <a:buNone/>
            </a:pPr>
            <a:r>
              <a:rPr lang="en-US" sz="900" b="1" dirty="0">
                <a:solidFill>
                  <a:srgbClr val="F59E0B"/>
                </a:solidFill>
              </a:rPr>
              <a:t>2.5</a:t>
            </a:r>
            <a:endParaRPr lang="en-US" sz="900" dirty="0"/>
          </a:p>
        </p:txBody>
      </p:sp>
      <p:sp>
        <p:nvSpPr>
          <p:cNvPr id="45" name="Text 43"/>
          <p:cNvSpPr/>
          <p:nvPr/>
        </p:nvSpPr>
        <p:spPr>
          <a:xfrm>
            <a:off x="3035808" y="4133088"/>
            <a:ext cx="585216" cy="219456"/>
          </a:xfrm>
          <a:prstGeom prst="rect">
            <a:avLst/>
          </a:prstGeom>
          <a:noFill/>
          <a:ln/>
        </p:spPr>
        <p:txBody>
          <a:bodyPr wrap="square" rtlCol="0" anchor="ctr"/>
          <a:lstStyle/>
          <a:p>
            <a:pPr marL="0" indent="0" algn="ctr">
              <a:buNone/>
            </a:pPr>
            <a:r>
              <a:rPr lang="en-US" sz="800" dirty="0">
                <a:solidFill>
                  <a:srgbClr val="6B7280"/>
                </a:solidFill>
              </a:rPr>
              <a:t>Bully</a:t>
            </a:r>
            <a:endParaRPr lang="en-US" sz="800" dirty="0"/>
          </a:p>
        </p:txBody>
      </p:sp>
      <p:sp>
        <p:nvSpPr>
          <p:cNvPr id="46" name="Shape 44"/>
          <p:cNvSpPr/>
          <p:nvPr/>
        </p:nvSpPr>
        <p:spPr>
          <a:xfrm>
            <a:off x="3730752" y="3758184"/>
            <a:ext cx="502920" cy="338328"/>
          </a:xfrm>
          <a:prstGeom prst="rect">
            <a:avLst/>
          </a:prstGeom>
          <a:solidFill>
            <a:srgbClr val="0EA5E9"/>
          </a:solidFill>
          <a:ln w="12700">
            <a:solidFill>
              <a:srgbClr val="0EA5E9"/>
            </a:solidFill>
            <a:prstDash val="solid"/>
          </a:ln>
        </p:spPr>
        <p:txBody>
          <a:bodyPr/>
          <a:lstStyle/>
          <a:p>
            <a:endParaRPr lang="en-US"/>
          </a:p>
        </p:txBody>
      </p:sp>
      <p:sp>
        <p:nvSpPr>
          <p:cNvPr id="47" name="Text 45"/>
          <p:cNvSpPr/>
          <p:nvPr/>
        </p:nvSpPr>
        <p:spPr>
          <a:xfrm>
            <a:off x="3730752" y="3483864"/>
            <a:ext cx="502920" cy="256032"/>
          </a:xfrm>
          <a:prstGeom prst="rect">
            <a:avLst/>
          </a:prstGeom>
          <a:noFill/>
          <a:ln/>
        </p:spPr>
        <p:txBody>
          <a:bodyPr wrap="square" rtlCol="0" anchor="ctr"/>
          <a:lstStyle/>
          <a:p>
            <a:pPr marL="0" indent="0" algn="ctr">
              <a:buNone/>
            </a:pPr>
            <a:r>
              <a:rPr lang="en-US" sz="900" b="1" dirty="0">
                <a:solidFill>
                  <a:srgbClr val="0EA5E9"/>
                </a:solidFill>
              </a:rPr>
              <a:t>1.8</a:t>
            </a:r>
            <a:endParaRPr lang="en-US" sz="900" dirty="0"/>
          </a:p>
        </p:txBody>
      </p:sp>
      <p:sp>
        <p:nvSpPr>
          <p:cNvPr id="48" name="Text 46"/>
          <p:cNvSpPr/>
          <p:nvPr/>
        </p:nvSpPr>
        <p:spPr>
          <a:xfrm>
            <a:off x="3694176" y="4133088"/>
            <a:ext cx="585216" cy="219456"/>
          </a:xfrm>
          <a:prstGeom prst="rect">
            <a:avLst/>
          </a:prstGeom>
          <a:noFill/>
          <a:ln/>
        </p:spPr>
        <p:txBody>
          <a:bodyPr wrap="square" rtlCol="0" anchor="ctr"/>
          <a:lstStyle/>
          <a:p>
            <a:pPr marL="0" indent="0" algn="ctr">
              <a:buNone/>
            </a:pPr>
            <a:r>
              <a:rPr lang="en-US" sz="800" dirty="0">
                <a:solidFill>
                  <a:srgbClr val="6B7280"/>
                </a:solidFill>
              </a:rPr>
              <a:t>Social</a:t>
            </a:r>
            <a:endParaRPr lang="en-US" sz="800" dirty="0"/>
          </a:p>
        </p:txBody>
      </p:sp>
      <p:sp>
        <p:nvSpPr>
          <p:cNvPr id="49" name="Shape 47"/>
          <p:cNvSpPr/>
          <p:nvPr/>
        </p:nvSpPr>
        <p:spPr>
          <a:xfrm>
            <a:off x="402336" y="4123944"/>
            <a:ext cx="3977640" cy="0"/>
          </a:xfrm>
          <a:prstGeom prst="line">
            <a:avLst/>
          </a:prstGeom>
          <a:noFill/>
          <a:ln w="12700">
            <a:solidFill>
              <a:srgbClr val="C7D2FE"/>
            </a:solidFill>
            <a:prstDash val="solid"/>
          </a:ln>
        </p:spPr>
        <p:txBody>
          <a:bodyPr/>
          <a:lstStyle/>
          <a:p>
            <a:endParaRPr lang="en-US"/>
          </a:p>
        </p:txBody>
      </p:sp>
      <p:sp>
        <p:nvSpPr>
          <p:cNvPr id="50" name="Shape 48"/>
          <p:cNvSpPr/>
          <p:nvPr/>
        </p:nvSpPr>
        <p:spPr>
          <a:xfrm>
            <a:off x="4663440" y="2057400"/>
            <a:ext cx="4224528" cy="2852928"/>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51" name="Shape 49"/>
          <p:cNvSpPr/>
          <p:nvPr/>
        </p:nvSpPr>
        <p:spPr>
          <a:xfrm>
            <a:off x="4663440" y="2057400"/>
            <a:ext cx="4224528" cy="73152"/>
          </a:xfrm>
          <a:prstGeom prst="rect">
            <a:avLst/>
          </a:prstGeom>
          <a:solidFill>
            <a:srgbClr val="7C3AED"/>
          </a:solidFill>
          <a:ln w="12700">
            <a:solidFill>
              <a:srgbClr val="7C3AED"/>
            </a:solidFill>
            <a:prstDash val="solid"/>
          </a:ln>
        </p:spPr>
        <p:txBody>
          <a:bodyPr/>
          <a:lstStyle/>
          <a:p>
            <a:endParaRPr lang="en-US"/>
          </a:p>
        </p:txBody>
      </p:sp>
      <p:sp>
        <p:nvSpPr>
          <p:cNvPr id="52" name="Text 50"/>
          <p:cNvSpPr/>
          <p:nvPr/>
        </p:nvSpPr>
        <p:spPr>
          <a:xfrm>
            <a:off x="4773168" y="2130552"/>
            <a:ext cx="3931920" cy="310896"/>
          </a:xfrm>
          <a:prstGeom prst="rect">
            <a:avLst/>
          </a:prstGeom>
          <a:noFill/>
          <a:ln/>
        </p:spPr>
        <p:txBody>
          <a:bodyPr wrap="square" rtlCol="0" anchor="ctr"/>
          <a:lstStyle/>
          <a:p>
            <a:pPr marL="0" indent="0">
              <a:buNone/>
            </a:pPr>
            <a:r>
              <a:rPr lang="en-US" sz="1200" b="1" dirty="0">
                <a:solidFill>
                  <a:srgbClr val="1E1B4B"/>
                </a:solidFill>
              </a:rPr>
              <a:t>Case Status Overview</a:t>
            </a:r>
            <a:endParaRPr lang="en-US" sz="1200" dirty="0"/>
          </a:p>
        </p:txBody>
      </p:sp>
      <p:sp>
        <p:nvSpPr>
          <p:cNvPr id="53" name="Text 51"/>
          <p:cNvSpPr/>
          <p:nvPr/>
        </p:nvSpPr>
        <p:spPr>
          <a:xfrm>
            <a:off x="4773168" y="2414016"/>
            <a:ext cx="3931920" cy="219456"/>
          </a:xfrm>
          <a:prstGeom prst="rect">
            <a:avLst/>
          </a:prstGeom>
          <a:noFill/>
          <a:ln/>
        </p:spPr>
        <p:txBody>
          <a:bodyPr wrap="square" rtlCol="0" anchor="ctr"/>
          <a:lstStyle/>
          <a:p>
            <a:pPr marL="0" indent="0">
              <a:buNone/>
            </a:pPr>
            <a:r>
              <a:rPr lang="en-US" sz="900" i="1" dirty="0">
                <a:solidFill>
                  <a:srgbClr val="6B7280"/>
                </a:solidFill>
              </a:rPr>
              <a:t>Plotly Express  px.pie()</a:t>
            </a:r>
            <a:endParaRPr lang="en-US" sz="900" dirty="0"/>
          </a:p>
        </p:txBody>
      </p:sp>
      <p:sp>
        <p:nvSpPr>
          <p:cNvPr id="54" name="Shape 52"/>
          <p:cNvSpPr/>
          <p:nvPr/>
        </p:nvSpPr>
        <p:spPr>
          <a:xfrm>
            <a:off x="4919472" y="2633472"/>
            <a:ext cx="1737360" cy="1737360"/>
          </a:xfrm>
          <a:prstGeom prst="ellipse">
            <a:avLst/>
          </a:prstGeom>
          <a:solidFill>
            <a:srgbClr val="7C3AED">
              <a:alpha val="18000"/>
            </a:srgbClr>
          </a:solidFill>
          <a:ln w="25400">
            <a:solidFill>
              <a:srgbClr val="7C3AED"/>
            </a:solidFill>
            <a:prstDash val="solid"/>
          </a:ln>
        </p:spPr>
        <p:txBody>
          <a:bodyPr/>
          <a:lstStyle/>
          <a:p>
            <a:endParaRPr lang="en-US"/>
          </a:p>
        </p:txBody>
      </p:sp>
      <p:sp>
        <p:nvSpPr>
          <p:cNvPr id="55" name="Shape 53"/>
          <p:cNvSpPr/>
          <p:nvPr/>
        </p:nvSpPr>
        <p:spPr>
          <a:xfrm>
            <a:off x="5138928" y="2852928"/>
            <a:ext cx="1298448" cy="1298448"/>
          </a:xfrm>
          <a:prstGeom prst="ellipse">
            <a:avLst/>
          </a:prstGeom>
          <a:solidFill>
            <a:srgbClr val="FFFFFF"/>
          </a:solidFill>
          <a:ln w="12700">
            <a:solidFill>
              <a:srgbClr val="FFFFFF"/>
            </a:solidFill>
            <a:prstDash val="solid"/>
          </a:ln>
        </p:spPr>
        <p:txBody>
          <a:bodyPr/>
          <a:lstStyle/>
          <a:p>
            <a:endParaRPr lang="en-US"/>
          </a:p>
        </p:txBody>
      </p:sp>
      <p:sp>
        <p:nvSpPr>
          <p:cNvPr id="56" name="Text 54"/>
          <p:cNvSpPr/>
          <p:nvPr/>
        </p:nvSpPr>
        <p:spPr>
          <a:xfrm>
            <a:off x="4919472" y="2633472"/>
            <a:ext cx="1737360" cy="1737360"/>
          </a:xfrm>
          <a:prstGeom prst="rect">
            <a:avLst/>
          </a:prstGeom>
          <a:noFill/>
          <a:ln/>
        </p:spPr>
        <p:txBody>
          <a:bodyPr wrap="square" rtlCol="0" anchor="ctr"/>
          <a:lstStyle/>
          <a:p>
            <a:pPr marL="0" indent="0" algn="ctr">
              <a:buNone/>
            </a:pPr>
            <a:r>
              <a:rPr lang="en-US" sz="1000" b="1" dirty="0">
                <a:solidFill>
                  <a:srgbClr val="7C3AED"/>
                </a:solidFill>
              </a:rPr>
              <a:t>Status</a:t>
            </a:r>
            <a:endParaRPr lang="en-US" sz="1000" dirty="0"/>
          </a:p>
          <a:p>
            <a:pPr marL="0" indent="0" algn="ctr">
              <a:buNone/>
            </a:pPr>
            <a:r>
              <a:rPr lang="en-US" sz="1000" b="1" dirty="0">
                <a:solidFill>
                  <a:srgbClr val="7C3AED"/>
                </a:solidFill>
              </a:rPr>
              <a:t>Chart</a:t>
            </a:r>
            <a:endParaRPr lang="en-US" sz="1000" dirty="0"/>
          </a:p>
        </p:txBody>
      </p:sp>
      <p:sp>
        <p:nvSpPr>
          <p:cNvPr id="57" name="Shape 55"/>
          <p:cNvSpPr/>
          <p:nvPr/>
        </p:nvSpPr>
        <p:spPr>
          <a:xfrm>
            <a:off x="6748272" y="2798064"/>
            <a:ext cx="201168" cy="310896"/>
          </a:xfrm>
          <a:prstGeom prst="rect">
            <a:avLst/>
          </a:prstGeom>
          <a:solidFill>
            <a:srgbClr val="EF4444"/>
          </a:solidFill>
          <a:ln w="12700">
            <a:solidFill>
              <a:srgbClr val="EF4444"/>
            </a:solidFill>
            <a:prstDash val="solid"/>
          </a:ln>
        </p:spPr>
        <p:txBody>
          <a:bodyPr/>
          <a:lstStyle/>
          <a:p>
            <a:endParaRPr lang="en-US"/>
          </a:p>
        </p:txBody>
      </p:sp>
      <p:sp>
        <p:nvSpPr>
          <p:cNvPr id="58" name="Text 56"/>
          <p:cNvSpPr/>
          <p:nvPr/>
        </p:nvSpPr>
        <p:spPr>
          <a:xfrm>
            <a:off x="6995160" y="2779776"/>
            <a:ext cx="1783080" cy="237744"/>
          </a:xfrm>
          <a:prstGeom prst="rect">
            <a:avLst/>
          </a:prstGeom>
          <a:noFill/>
          <a:ln/>
        </p:spPr>
        <p:txBody>
          <a:bodyPr wrap="square" lIns="0" tIns="0" rIns="0" bIns="0" rtlCol="0" anchor="ctr"/>
          <a:lstStyle/>
          <a:p>
            <a:pPr marL="0" indent="0">
              <a:buNone/>
            </a:pPr>
            <a:r>
              <a:rPr lang="en-US" sz="1100" b="1" dirty="0">
                <a:solidFill>
                  <a:srgbClr val="1E1B4B"/>
                </a:solidFill>
              </a:rPr>
              <a:t>Pending</a:t>
            </a:r>
            <a:endParaRPr lang="en-US" sz="1100" dirty="0"/>
          </a:p>
        </p:txBody>
      </p:sp>
      <p:sp>
        <p:nvSpPr>
          <p:cNvPr id="59" name="Text 57"/>
          <p:cNvSpPr/>
          <p:nvPr/>
        </p:nvSpPr>
        <p:spPr>
          <a:xfrm>
            <a:off x="6995160" y="2999232"/>
            <a:ext cx="1783080" cy="219456"/>
          </a:xfrm>
          <a:prstGeom prst="rect">
            <a:avLst/>
          </a:prstGeom>
          <a:noFill/>
          <a:ln/>
        </p:spPr>
        <p:txBody>
          <a:bodyPr wrap="square" lIns="0" tIns="0" rIns="0" bIns="0" rtlCol="0" anchor="ctr"/>
          <a:lstStyle/>
          <a:p>
            <a:pPr marL="0" indent="0">
              <a:buNone/>
            </a:pPr>
            <a:r>
              <a:rPr lang="en-US" sz="1000" dirty="0">
                <a:solidFill>
                  <a:srgbClr val="6B7280"/>
                </a:solidFill>
              </a:rPr>
              <a:t>35%</a:t>
            </a:r>
            <a:endParaRPr lang="en-US" sz="1000" dirty="0"/>
          </a:p>
        </p:txBody>
      </p:sp>
      <p:sp>
        <p:nvSpPr>
          <p:cNvPr id="60" name="Shape 58"/>
          <p:cNvSpPr/>
          <p:nvPr/>
        </p:nvSpPr>
        <p:spPr>
          <a:xfrm>
            <a:off x="6748272" y="3310128"/>
            <a:ext cx="201168" cy="310896"/>
          </a:xfrm>
          <a:prstGeom prst="rect">
            <a:avLst/>
          </a:prstGeom>
          <a:solidFill>
            <a:srgbClr val="F59E0B"/>
          </a:solidFill>
          <a:ln w="12700">
            <a:solidFill>
              <a:srgbClr val="F59E0B"/>
            </a:solidFill>
            <a:prstDash val="solid"/>
          </a:ln>
        </p:spPr>
        <p:txBody>
          <a:bodyPr/>
          <a:lstStyle/>
          <a:p>
            <a:endParaRPr lang="en-US"/>
          </a:p>
        </p:txBody>
      </p:sp>
      <p:sp>
        <p:nvSpPr>
          <p:cNvPr id="61" name="Text 59"/>
          <p:cNvSpPr/>
          <p:nvPr/>
        </p:nvSpPr>
        <p:spPr>
          <a:xfrm>
            <a:off x="6995160" y="3291840"/>
            <a:ext cx="1783080" cy="237744"/>
          </a:xfrm>
          <a:prstGeom prst="rect">
            <a:avLst/>
          </a:prstGeom>
          <a:noFill/>
          <a:ln/>
        </p:spPr>
        <p:txBody>
          <a:bodyPr wrap="square" lIns="0" tIns="0" rIns="0" bIns="0" rtlCol="0" anchor="ctr"/>
          <a:lstStyle/>
          <a:p>
            <a:pPr marL="0" indent="0">
              <a:buNone/>
            </a:pPr>
            <a:r>
              <a:rPr lang="en-US" sz="1100" b="1" dirty="0">
                <a:solidFill>
                  <a:srgbClr val="1E1B4B"/>
                </a:solidFill>
              </a:rPr>
              <a:t>Under Investigation</a:t>
            </a:r>
            <a:endParaRPr lang="en-US" sz="1100" dirty="0"/>
          </a:p>
        </p:txBody>
      </p:sp>
      <p:sp>
        <p:nvSpPr>
          <p:cNvPr id="62" name="Text 60"/>
          <p:cNvSpPr/>
          <p:nvPr/>
        </p:nvSpPr>
        <p:spPr>
          <a:xfrm>
            <a:off x="6995160" y="3511296"/>
            <a:ext cx="1783080" cy="219456"/>
          </a:xfrm>
          <a:prstGeom prst="rect">
            <a:avLst/>
          </a:prstGeom>
          <a:noFill/>
          <a:ln/>
        </p:spPr>
        <p:txBody>
          <a:bodyPr wrap="square" lIns="0" tIns="0" rIns="0" bIns="0" rtlCol="0" anchor="ctr"/>
          <a:lstStyle/>
          <a:p>
            <a:pPr marL="0" indent="0">
              <a:buNone/>
            </a:pPr>
            <a:r>
              <a:rPr lang="en-US" sz="1000" dirty="0">
                <a:solidFill>
                  <a:srgbClr val="6B7280"/>
                </a:solidFill>
              </a:rPr>
              <a:t>27%</a:t>
            </a:r>
            <a:endParaRPr lang="en-US" sz="1000" dirty="0"/>
          </a:p>
        </p:txBody>
      </p:sp>
      <p:sp>
        <p:nvSpPr>
          <p:cNvPr id="63" name="Shape 61"/>
          <p:cNvSpPr/>
          <p:nvPr/>
        </p:nvSpPr>
        <p:spPr>
          <a:xfrm>
            <a:off x="6748272" y="3822192"/>
            <a:ext cx="201168" cy="310896"/>
          </a:xfrm>
          <a:prstGeom prst="rect">
            <a:avLst/>
          </a:prstGeom>
          <a:solidFill>
            <a:srgbClr val="10B981"/>
          </a:solidFill>
          <a:ln w="12700">
            <a:solidFill>
              <a:srgbClr val="10B981"/>
            </a:solidFill>
            <a:prstDash val="solid"/>
          </a:ln>
        </p:spPr>
        <p:txBody>
          <a:bodyPr/>
          <a:lstStyle/>
          <a:p>
            <a:endParaRPr lang="en-US"/>
          </a:p>
        </p:txBody>
      </p:sp>
      <p:sp>
        <p:nvSpPr>
          <p:cNvPr id="64" name="Text 62"/>
          <p:cNvSpPr/>
          <p:nvPr/>
        </p:nvSpPr>
        <p:spPr>
          <a:xfrm>
            <a:off x="6995160" y="3803904"/>
            <a:ext cx="1783080" cy="237744"/>
          </a:xfrm>
          <a:prstGeom prst="rect">
            <a:avLst/>
          </a:prstGeom>
          <a:noFill/>
          <a:ln/>
        </p:spPr>
        <p:txBody>
          <a:bodyPr wrap="square" lIns="0" tIns="0" rIns="0" bIns="0" rtlCol="0" anchor="ctr"/>
          <a:lstStyle/>
          <a:p>
            <a:pPr marL="0" indent="0">
              <a:buNone/>
            </a:pPr>
            <a:r>
              <a:rPr lang="en-US" sz="1100" b="1" dirty="0">
                <a:solidFill>
                  <a:srgbClr val="1E1B4B"/>
                </a:solidFill>
              </a:rPr>
              <a:t>Resolved</a:t>
            </a:r>
            <a:endParaRPr lang="en-US" sz="1100" dirty="0"/>
          </a:p>
        </p:txBody>
      </p:sp>
      <p:sp>
        <p:nvSpPr>
          <p:cNvPr id="65" name="Text 63"/>
          <p:cNvSpPr/>
          <p:nvPr/>
        </p:nvSpPr>
        <p:spPr>
          <a:xfrm>
            <a:off x="6995160" y="4023360"/>
            <a:ext cx="1783080" cy="219456"/>
          </a:xfrm>
          <a:prstGeom prst="rect">
            <a:avLst/>
          </a:prstGeom>
          <a:noFill/>
          <a:ln/>
        </p:spPr>
        <p:txBody>
          <a:bodyPr wrap="square" lIns="0" tIns="0" rIns="0" bIns="0" rtlCol="0" anchor="ctr"/>
          <a:lstStyle/>
          <a:p>
            <a:pPr marL="0" indent="0">
              <a:buNone/>
            </a:pPr>
            <a:r>
              <a:rPr lang="en-US" sz="1000" dirty="0">
                <a:solidFill>
                  <a:srgbClr val="6B7280"/>
                </a:solidFill>
              </a:rPr>
              <a:t>28%</a:t>
            </a:r>
            <a:endParaRPr lang="en-US" sz="1000" dirty="0"/>
          </a:p>
        </p:txBody>
      </p:sp>
      <p:sp>
        <p:nvSpPr>
          <p:cNvPr id="66" name="Shape 64"/>
          <p:cNvSpPr/>
          <p:nvPr/>
        </p:nvSpPr>
        <p:spPr>
          <a:xfrm>
            <a:off x="6748272" y="4334256"/>
            <a:ext cx="201168" cy="310896"/>
          </a:xfrm>
          <a:prstGeom prst="rect">
            <a:avLst/>
          </a:prstGeom>
          <a:solidFill>
            <a:srgbClr val="6B7280"/>
          </a:solidFill>
          <a:ln w="12700">
            <a:solidFill>
              <a:srgbClr val="6B7280"/>
            </a:solidFill>
            <a:prstDash val="solid"/>
          </a:ln>
        </p:spPr>
        <p:txBody>
          <a:bodyPr/>
          <a:lstStyle/>
          <a:p>
            <a:endParaRPr lang="en-US"/>
          </a:p>
        </p:txBody>
      </p:sp>
      <p:sp>
        <p:nvSpPr>
          <p:cNvPr id="67" name="Text 65"/>
          <p:cNvSpPr/>
          <p:nvPr/>
        </p:nvSpPr>
        <p:spPr>
          <a:xfrm>
            <a:off x="6995160" y="4315968"/>
            <a:ext cx="1783080" cy="237744"/>
          </a:xfrm>
          <a:prstGeom prst="rect">
            <a:avLst/>
          </a:prstGeom>
          <a:noFill/>
          <a:ln/>
        </p:spPr>
        <p:txBody>
          <a:bodyPr wrap="square" lIns="0" tIns="0" rIns="0" bIns="0" rtlCol="0" anchor="ctr"/>
          <a:lstStyle/>
          <a:p>
            <a:pPr marL="0" indent="0">
              <a:buNone/>
            </a:pPr>
            <a:r>
              <a:rPr lang="en-US" sz="1100" b="1" dirty="0">
                <a:solidFill>
                  <a:srgbClr val="1E1B4B"/>
                </a:solidFill>
              </a:rPr>
              <a:t>Closed</a:t>
            </a:r>
            <a:endParaRPr lang="en-US" sz="1100" dirty="0"/>
          </a:p>
        </p:txBody>
      </p:sp>
      <p:sp>
        <p:nvSpPr>
          <p:cNvPr id="68" name="Text 66"/>
          <p:cNvSpPr/>
          <p:nvPr/>
        </p:nvSpPr>
        <p:spPr>
          <a:xfrm>
            <a:off x="6995160" y="4535424"/>
            <a:ext cx="1783080" cy="219456"/>
          </a:xfrm>
          <a:prstGeom prst="rect">
            <a:avLst/>
          </a:prstGeom>
          <a:noFill/>
          <a:ln/>
        </p:spPr>
        <p:txBody>
          <a:bodyPr wrap="square" lIns="0" tIns="0" rIns="0" bIns="0" rtlCol="0" anchor="ctr"/>
          <a:lstStyle/>
          <a:p>
            <a:pPr marL="0" indent="0">
              <a:buNone/>
            </a:pPr>
            <a:r>
              <a:rPr lang="en-US" sz="1000" dirty="0">
                <a:solidFill>
                  <a:srgbClr val="6B7280"/>
                </a:solidFill>
              </a:rPr>
              <a:t>10%</a:t>
            </a:r>
            <a:endParaRPr lang="en-US" sz="1000" dirty="0"/>
          </a:p>
        </p:txBody>
      </p:sp>
      <p:sp>
        <p:nvSpPr>
          <p:cNvPr id="69" name="Shape 67"/>
          <p:cNvSpPr/>
          <p:nvPr/>
        </p:nvSpPr>
        <p:spPr>
          <a:xfrm>
            <a:off x="256032" y="4882896"/>
            <a:ext cx="8631936" cy="219456"/>
          </a:xfrm>
          <a:prstGeom prst="rect">
            <a:avLst/>
          </a:prstGeom>
          <a:solidFill>
            <a:srgbClr val="1E1B4B"/>
          </a:solidFill>
          <a:ln w="12700">
            <a:solidFill>
              <a:srgbClr val="1E1B4B"/>
            </a:solidFill>
            <a:prstDash val="solid"/>
          </a:ln>
        </p:spPr>
        <p:txBody>
          <a:bodyPr/>
          <a:lstStyle/>
          <a:p>
            <a:endParaRPr lang="en-US"/>
          </a:p>
        </p:txBody>
      </p:sp>
      <p:sp>
        <p:nvSpPr>
          <p:cNvPr id="70" name="Text 68"/>
          <p:cNvSpPr/>
          <p:nvPr/>
        </p:nvSpPr>
        <p:spPr>
          <a:xfrm>
            <a:off x="347472" y="4892040"/>
            <a:ext cx="8412480" cy="201168"/>
          </a:xfrm>
          <a:prstGeom prst="rect">
            <a:avLst/>
          </a:prstGeom>
          <a:noFill/>
          <a:ln/>
        </p:spPr>
        <p:txBody>
          <a:bodyPr wrap="square" rtlCol="0" anchor="ctr"/>
          <a:lstStyle/>
          <a:p>
            <a:pPr marL="0" indent="0" algn="ctr">
              <a:buNone/>
            </a:pPr>
            <a:r>
              <a:rPr lang="en-US" sz="900" dirty="0">
                <a:solidFill>
                  <a:srgbClr val="FFFFFF"/>
                </a:solidFill>
              </a:rPr>
              <a:t>Also includes: Timeline graph · Severity histogram · Financial loss by crime type — all interactive in Streamlit</a:t>
            </a:r>
            <a:endParaRPr lang="en-US" sz="900" dirty="0"/>
          </a:p>
        </p:txBody>
      </p:sp>
      <p:sp>
        <p:nvSpPr>
          <p:cNvPr id="71" name="Text 69"/>
          <p:cNvSpPr/>
          <p:nvPr/>
        </p:nvSpPr>
        <p:spPr>
          <a:xfrm>
            <a:off x="8778240" y="4919472"/>
            <a:ext cx="320040" cy="201168"/>
          </a:xfrm>
          <a:prstGeom prst="rect">
            <a:avLst/>
          </a:prstGeom>
          <a:noFill/>
          <a:ln/>
        </p:spPr>
        <p:txBody>
          <a:bodyPr wrap="square" rtlCol="0" anchor="ctr"/>
          <a:lstStyle/>
          <a:p>
            <a:pPr marL="0" indent="0" algn="ctr">
              <a:buNone/>
            </a:pPr>
            <a:r>
              <a:rPr lang="en-US" sz="900" dirty="0">
                <a:solidFill>
                  <a:srgbClr val="6B7280"/>
                </a:solidFill>
              </a:rPr>
              <a:t>10</a:t>
            </a:r>
            <a:endParaRPr lang="en-US" sz="900" dirty="0"/>
          </a:p>
        </p:txBody>
      </p:sp>
      <p:pic>
        <p:nvPicPr>
          <p:cNvPr id="72" name="object 16">
            <a:extLst>
              <a:ext uri="{FF2B5EF4-FFF2-40B4-BE49-F238E27FC236}">
                <a16:creationId xmlns:a16="http://schemas.microsoft.com/office/drawing/2014/main" id="{9081A610-7C28-A379-83A5-4A4B4459C647}"/>
              </a:ext>
            </a:extLst>
          </p:cNvPr>
          <p:cNvPicPr/>
          <p:nvPr/>
        </p:nvPicPr>
        <p:blipFill>
          <a:blip r:embed="rId3" cstate="print"/>
          <a:stretch>
            <a:fillRect/>
          </a:stretch>
        </p:blipFill>
        <p:spPr>
          <a:xfrm>
            <a:off x="6604782" y="207147"/>
            <a:ext cx="2454812" cy="61897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4F46E5"/>
          </a:solidFill>
          <a:ln w="12700">
            <a:solidFill>
              <a:srgbClr val="4F46E5"/>
            </a:solidFill>
            <a:prstDash val="solid"/>
          </a:ln>
        </p:spPr>
        <p:txBody>
          <a:bodyPr/>
          <a:lstStyle/>
          <a:p>
            <a:endParaRPr lang="en-US"/>
          </a:p>
        </p:txBody>
      </p:sp>
      <p:sp>
        <p:nvSpPr>
          <p:cNvPr id="5" name="Text 3"/>
          <p:cNvSpPr/>
          <p:nvPr/>
        </p:nvSpPr>
        <p:spPr>
          <a:xfrm>
            <a:off x="320040" y="91440"/>
            <a:ext cx="804672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  Technologies Used</a:t>
            </a:r>
            <a:endParaRPr lang="en-US" sz="2200" dirty="0"/>
          </a:p>
        </p:txBody>
      </p:sp>
      <p:sp>
        <p:nvSpPr>
          <p:cNvPr id="6" name="Text 4"/>
          <p:cNvSpPr/>
          <p:nvPr/>
        </p:nvSpPr>
        <p:spPr>
          <a:xfrm>
            <a:off x="347472" y="603504"/>
            <a:ext cx="8046720" cy="320040"/>
          </a:xfrm>
          <a:prstGeom prst="rect">
            <a:avLst/>
          </a:prstGeom>
          <a:noFill/>
          <a:ln/>
        </p:spPr>
        <p:txBody>
          <a:bodyPr wrap="square" lIns="0" tIns="0" rIns="0" bIns="0" rtlCol="0" anchor="ctr"/>
          <a:lstStyle/>
          <a:p>
            <a:pPr marL="0" indent="0">
              <a:buNone/>
            </a:pPr>
            <a:r>
              <a:rPr lang="en-US" sz="1100" i="1" dirty="0">
                <a:solidFill>
                  <a:srgbClr val="C7D2FE"/>
                </a:solidFill>
              </a:rPr>
              <a:t>Every library in the project — and why it was chosen</a:t>
            </a:r>
            <a:endParaRPr lang="en-US" sz="1100" dirty="0"/>
          </a:p>
        </p:txBody>
      </p:sp>
      <p:sp>
        <p:nvSpPr>
          <p:cNvPr id="7" name="Shape 5"/>
          <p:cNvSpPr/>
          <p:nvPr/>
        </p:nvSpPr>
        <p:spPr>
          <a:xfrm>
            <a:off x="256032" y="1115568"/>
            <a:ext cx="2743200" cy="1773936"/>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8" name="Shape 6"/>
          <p:cNvSpPr/>
          <p:nvPr/>
        </p:nvSpPr>
        <p:spPr>
          <a:xfrm>
            <a:off x="256032" y="1115568"/>
            <a:ext cx="2743200" cy="457200"/>
          </a:xfrm>
          <a:prstGeom prst="rect">
            <a:avLst/>
          </a:prstGeom>
          <a:solidFill>
            <a:srgbClr val="1D4ED8"/>
          </a:solidFill>
          <a:ln w="12700">
            <a:solidFill>
              <a:srgbClr val="1D4ED8"/>
            </a:solidFill>
            <a:prstDash val="solid"/>
          </a:ln>
        </p:spPr>
        <p:txBody>
          <a:bodyPr/>
          <a:lstStyle/>
          <a:p>
            <a:endParaRPr lang="en-US"/>
          </a:p>
        </p:txBody>
      </p:sp>
      <p:sp>
        <p:nvSpPr>
          <p:cNvPr id="9" name="Shape 7"/>
          <p:cNvSpPr/>
          <p:nvPr/>
        </p:nvSpPr>
        <p:spPr>
          <a:xfrm>
            <a:off x="2542032" y="1115568"/>
            <a:ext cx="457200" cy="457200"/>
          </a:xfrm>
          <a:prstGeom prst="rect">
            <a:avLst/>
          </a:prstGeom>
          <a:solidFill>
            <a:srgbClr val="3B82F6"/>
          </a:solidFill>
          <a:ln w="12700">
            <a:solidFill>
              <a:srgbClr val="3B82F6"/>
            </a:solidFill>
            <a:prstDash val="solid"/>
          </a:ln>
        </p:spPr>
        <p:txBody>
          <a:bodyPr/>
          <a:lstStyle/>
          <a:p>
            <a:endParaRPr lang="en-US"/>
          </a:p>
        </p:txBody>
      </p:sp>
      <p:sp>
        <p:nvSpPr>
          <p:cNvPr id="10" name="Text 8"/>
          <p:cNvSpPr/>
          <p:nvPr/>
        </p:nvSpPr>
        <p:spPr>
          <a:xfrm>
            <a:off x="347472" y="1179576"/>
            <a:ext cx="2148840" cy="329184"/>
          </a:xfrm>
          <a:prstGeom prst="rect">
            <a:avLst/>
          </a:prstGeom>
          <a:noFill/>
          <a:ln/>
        </p:spPr>
        <p:txBody>
          <a:bodyPr wrap="square" lIns="0" tIns="0" rIns="0" bIns="0" rtlCol="0" anchor="ctr"/>
          <a:lstStyle/>
          <a:p>
            <a:pPr marL="0" indent="0">
              <a:buNone/>
            </a:pPr>
            <a:r>
              <a:rPr lang="en-US" sz="1300" b="1" dirty="0">
                <a:solidFill>
                  <a:srgbClr val="FFFFFF"/>
                </a:solidFill>
              </a:rPr>
              <a:t>🐍  Python 3</a:t>
            </a:r>
            <a:endParaRPr lang="en-US" sz="1300" dirty="0"/>
          </a:p>
        </p:txBody>
      </p:sp>
      <p:sp>
        <p:nvSpPr>
          <p:cNvPr id="11" name="Text 9"/>
          <p:cNvSpPr/>
          <p:nvPr/>
        </p:nvSpPr>
        <p:spPr>
          <a:xfrm>
            <a:off x="365760" y="1645920"/>
            <a:ext cx="2523744" cy="1170432"/>
          </a:xfrm>
          <a:prstGeom prst="rect">
            <a:avLst/>
          </a:prstGeom>
          <a:noFill/>
          <a:ln/>
        </p:spPr>
        <p:txBody>
          <a:bodyPr wrap="square" rtlCol="0" anchor="ctr"/>
          <a:lstStyle/>
          <a:p>
            <a:pPr marL="0" indent="0">
              <a:lnSpc>
                <a:spcPct val="138000"/>
              </a:lnSpc>
              <a:buNone/>
            </a:pPr>
            <a:r>
              <a:rPr lang="en-US" sz="1050" dirty="0">
                <a:solidFill>
                  <a:srgbClr val="374151"/>
                </a:solidFill>
              </a:rPr>
              <a:t>Core language. Uses OOP, functions, loops, data types &amp; all key syllabus concepts.</a:t>
            </a:r>
            <a:endParaRPr lang="en-US" sz="1050" dirty="0"/>
          </a:p>
        </p:txBody>
      </p:sp>
      <p:sp>
        <p:nvSpPr>
          <p:cNvPr id="12" name="Shape 10"/>
          <p:cNvSpPr/>
          <p:nvPr/>
        </p:nvSpPr>
        <p:spPr>
          <a:xfrm>
            <a:off x="3145536" y="1115568"/>
            <a:ext cx="2743200" cy="1773936"/>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13" name="Shape 11"/>
          <p:cNvSpPr/>
          <p:nvPr/>
        </p:nvSpPr>
        <p:spPr>
          <a:xfrm>
            <a:off x="3145536" y="1115568"/>
            <a:ext cx="2743200" cy="457200"/>
          </a:xfrm>
          <a:prstGeom prst="rect">
            <a:avLst/>
          </a:prstGeom>
          <a:solidFill>
            <a:srgbClr val="B91C1C"/>
          </a:solidFill>
          <a:ln w="12700">
            <a:solidFill>
              <a:srgbClr val="B91C1C"/>
            </a:solidFill>
            <a:prstDash val="solid"/>
          </a:ln>
        </p:spPr>
        <p:txBody>
          <a:bodyPr/>
          <a:lstStyle/>
          <a:p>
            <a:endParaRPr lang="en-US"/>
          </a:p>
        </p:txBody>
      </p:sp>
      <p:sp>
        <p:nvSpPr>
          <p:cNvPr id="14" name="Shape 12"/>
          <p:cNvSpPr/>
          <p:nvPr/>
        </p:nvSpPr>
        <p:spPr>
          <a:xfrm>
            <a:off x="5431536" y="1115568"/>
            <a:ext cx="457200" cy="457200"/>
          </a:xfrm>
          <a:prstGeom prst="rect">
            <a:avLst/>
          </a:prstGeom>
          <a:solidFill>
            <a:srgbClr val="EF4444"/>
          </a:solidFill>
          <a:ln w="12700">
            <a:solidFill>
              <a:srgbClr val="EF4444"/>
            </a:solidFill>
            <a:prstDash val="solid"/>
          </a:ln>
        </p:spPr>
        <p:txBody>
          <a:bodyPr/>
          <a:lstStyle/>
          <a:p>
            <a:endParaRPr lang="en-US"/>
          </a:p>
        </p:txBody>
      </p:sp>
      <p:sp>
        <p:nvSpPr>
          <p:cNvPr id="15" name="Text 13"/>
          <p:cNvSpPr/>
          <p:nvPr/>
        </p:nvSpPr>
        <p:spPr>
          <a:xfrm>
            <a:off x="3236976" y="1179576"/>
            <a:ext cx="2148840" cy="329184"/>
          </a:xfrm>
          <a:prstGeom prst="rect">
            <a:avLst/>
          </a:prstGeom>
          <a:noFill/>
          <a:ln/>
        </p:spPr>
        <p:txBody>
          <a:bodyPr wrap="square" lIns="0" tIns="0" rIns="0" bIns="0" rtlCol="0" anchor="ctr"/>
          <a:lstStyle/>
          <a:p>
            <a:pPr marL="0" indent="0">
              <a:buNone/>
            </a:pPr>
            <a:r>
              <a:rPr lang="en-US" sz="1300" b="1" dirty="0">
                <a:solidFill>
                  <a:srgbClr val="FFFFFF"/>
                </a:solidFill>
              </a:rPr>
              <a:t>⚡  Streamlit</a:t>
            </a:r>
            <a:endParaRPr lang="en-US" sz="1300" dirty="0"/>
          </a:p>
        </p:txBody>
      </p:sp>
      <p:sp>
        <p:nvSpPr>
          <p:cNvPr id="16" name="Text 14"/>
          <p:cNvSpPr/>
          <p:nvPr/>
        </p:nvSpPr>
        <p:spPr>
          <a:xfrm>
            <a:off x="3255264" y="1645920"/>
            <a:ext cx="2523744" cy="1170432"/>
          </a:xfrm>
          <a:prstGeom prst="rect">
            <a:avLst/>
          </a:prstGeom>
          <a:noFill/>
          <a:ln/>
        </p:spPr>
        <p:txBody>
          <a:bodyPr wrap="square" rtlCol="0" anchor="ctr"/>
          <a:lstStyle/>
          <a:p>
            <a:pPr marL="0" indent="0">
              <a:lnSpc>
                <a:spcPct val="138000"/>
              </a:lnSpc>
              <a:buNone/>
            </a:pPr>
            <a:r>
              <a:rPr lang="en-US" sz="1050" dirty="0">
                <a:solidFill>
                  <a:srgbClr val="374151"/>
                </a:solidFill>
              </a:rPr>
              <a:t>Converts Python into an interactive web app with forms, maps &amp; file uploaders.</a:t>
            </a:r>
            <a:endParaRPr lang="en-US" sz="1050" dirty="0"/>
          </a:p>
        </p:txBody>
      </p:sp>
      <p:sp>
        <p:nvSpPr>
          <p:cNvPr id="17" name="Shape 15"/>
          <p:cNvSpPr/>
          <p:nvPr/>
        </p:nvSpPr>
        <p:spPr>
          <a:xfrm>
            <a:off x="6035040" y="1115568"/>
            <a:ext cx="2743200" cy="1773936"/>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18" name="Shape 16"/>
          <p:cNvSpPr/>
          <p:nvPr/>
        </p:nvSpPr>
        <p:spPr>
          <a:xfrm>
            <a:off x="6035040" y="1115568"/>
            <a:ext cx="2743200" cy="457200"/>
          </a:xfrm>
          <a:prstGeom prst="rect">
            <a:avLst/>
          </a:prstGeom>
          <a:solidFill>
            <a:srgbClr val="6D28D9"/>
          </a:solidFill>
          <a:ln w="12700">
            <a:solidFill>
              <a:srgbClr val="6D28D9"/>
            </a:solidFill>
            <a:prstDash val="solid"/>
          </a:ln>
        </p:spPr>
        <p:txBody>
          <a:bodyPr/>
          <a:lstStyle/>
          <a:p>
            <a:endParaRPr lang="en-US"/>
          </a:p>
        </p:txBody>
      </p:sp>
      <p:sp>
        <p:nvSpPr>
          <p:cNvPr id="19" name="Shape 17"/>
          <p:cNvSpPr/>
          <p:nvPr/>
        </p:nvSpPr>
        <p:spPr>
          <a:xfrm>
            <a:off x="8321040" y="1115568"/>
            <a:ext cx="457200" cy="457200"/>
          </a:xfrm>
          <a:prstGeom prst="rect">
            <a:avLst/>
          </a:prstGeom>
          <a:solidFill>
            <a:srgbClr val="8B5CF6"/>
          </a:solidFill>
          <a:ln w="12700">
            <a:solidFill>
              <a:srgbClr val="8B5CF6"/>
            </a:solidFill>
            <a:prstDash val="solid"/>
          </a:ln>
        </p:spPr>
        <p:txBody>
          <a:bodyPr/>
          <a:lstStyle/>
          <a:p>
            <a:endParaRPr lang="en-US"/>
          </a:p>
        </p:txBody>
      </p:sp>
      <p:sp>
        <p:nvSpPr>
          <p:cNvPr id="20" name="Text 18"/>
          <p:cNvSpPr/>
          <p:nvPr/>
        </p:nvSpPr>
        <p:spPr>
          <a:xfrm>
            <a:off x="6126480" y="1179576"/>
            <a:ext cx="2148840" cy="329184"/>
          </a:xfrm>
          <a:prstGeom prst="rect">
            <a:avLst/>
          </a:prstGeom>
          <a:noFill/>
          <a:ln/>
        </p:spPr>
        <p:txBody>
          <a:bodyPr wrap="square" lIns="0" tIns="0" rIns="0" bIns="0" rtlCol="0" anchor="ctr"/>
          <a:lstStyle/>
          <a:p>
            <a:pPr marL="0" indent="0">
              <a:buNone/>
            </a:pPr>
            <a:r>
              <a:rPr lang="en-US" sz="1300" b="1" dirty="0">
                <a:solidFill>
                  <a:srgbClr val="FFFFFF"/>
                </a:solidFill>
              </a:rPr>
              <a:t>📈  Plotly</a:t>
            </a:r>
            <a:endParaRPr lang="en-US" sz="1300" dirty="0"/>
          </a:p>
        </p:txBody>
      </p:sp>
      <p:sp>
        <p:nvSpPr>
          <p:cNvPr id="21" name="Text 19"/>
          <p:cNvSpPr/>
          <p:nvPr/>
        </p:nvSpPr>
        <p:spPr>
          <a:xfrm>
            <a:off x="6144768" y="1645920"/>
            <a:ext cx="2523744" cy="1170432"/>
          </a:xfrm>
          <a:prstGeom prst="rect">
            <a:avLst/>
          </a:prstGeom>
          <a:noFill/>
          <a:ln/>
        </p:spPr>
        <p:txBody>
          <a:bodyPr wrap="square" rtlCol="0" anchor="ctr"/>
          <a:lstStyle/>
          <a:p>
            <a:pPr marL="0" indent="0">
              <a:lnSpc>
                <a:spcPct val="138000"/>
              </a:lnSpc>
              <a:buNone/>
            </a:pPr>
            <a:r>
              <a:rPr lang="en-US" sz="1050" dirty="0">
                <a:solidFill>
                  <a:srgbClr val="374151"/>
                </a:solidFill>
              </a:rPr>
              <a:t>Creates bar, pie, line &amp; histogram charts — all interactive in the browser.</a:t>
            </a:r>
            <a:endParaRPr lang="en-US" sz="1050" dirty="0"/>
          </a:p>
        </p:txBody>
      </p:sp>
      <p:sp>
        <p:nvSpPr>
          <p:cNvPr id="22" name="Shape 20"/>
          <p:cNvSpPr/>
          <p:nvPr/>
        </p:nvSpPr>
        <p:spPr>
          <a:xfrm>
            <a:off x="256032" y="3054096"/>
            <a:ext cx="2743200" cy="1773936"/>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23" name="Shape 21"/>
          <p:cNvSpPr/>
          <p:nvPr/>
        </p:nvSpPr>
        <p:spPr>
          <a:xfrm>
            <a:off x="256032" y="3054096"/>
            <a:ext cx="2743200" cy="457200"/>
          </a:xfrm>
          <a:prstGeom prst="rect">
            <a:avLst/>
          </a:prstGeom>
          <a:solidFill>
            <a:srgbClr val="065F46"/>
          </a:solidFill>
          <a:ln w="12700">
            <a:solidFill>
              <a:srgbClr val="065F46"/>
            </a:solidFill>
            <a:prstDash val="solid"/>
          </a:ln>
        </p:spPr>
        <p:txBody>
          <a:bodyPr/>
          <a:lstStyle/>
          <a:p>
            <a:endParaRPr lang="en-US"/>
          </a:p>
        </p:txBody>
      </p:sp>
      <p:sp>
        <p:nvSpPr>
          <p:cNvPr id="24" name="Shape 22"/>
          <p:cNvSpPr/>
          <p:nvPr/>
        </p:nvSpPr>
        <p:spPr>
          <a:xfrm>
            <a:off x="2542032" y="3054096"/>
            <a:ext cx="457200" cy="457200"/>
          </a:xfrm>
          <a:prstGeom prst="rect">
            <a:avLst/>
          </a:prstGeom>
          <a:solidFill>
            <a:srgbClr val="10B981"/>
          </a:solidFill>
          <a:ln w="12700">
            <a:solidFill>
              <a:srgbClr val="10B981"/>
            </a:solidFill>
            <a:prstDash val="solid"/>
          </a:ln>
        </p:spPr>
        <p:txBody>
          <a:bodyPr/>
          <a:lstStyle/>
          <a:p>
            <a:endParaRPr lang="en-US"/>
          </a:p>
        </p:txBody>
      </p:sp>
      <p:sp>
        <p:nvSpPr>
          <p:cNvPr id="25" name="Text 23"/>
          <p:cNvSpPr/>
          <p:nvPr/>
        </p:nvSpPr>
        <p:spPr>
          <a:xfrm>
            <a:off x="347472" y="3118104"/>
            <a:ext cx="2148840" cy="329184"/>
          </a:xfrm>
          <a:prstGeom prst="rect">
            <a:avLst/>
          </a:prstGeom>
          <a:noFill/>
          <a:ln/>
        </p:spPr>
        <p:txBody>
          <a:bodyPr wrap="square" lIns="0" tIns="0" rIns="0" bIns="0" rtlCol="0" anchor="ctr"/>
          <a:lstStyle/>
          <a:p>
            <a:pPr marL="0" indent="0">
              <a:buNone/>
            </a:pPr>
            <a:r>
              <a:rPr lang="en-US" sz="1300" b="1" dirty="0">
                <a:solidFill>
                  <a:srgbClr val="FFFFFF"/>
                </a:solidFill>
              </a:rPr>
              <a:t>🔢  Pandas/NumPy</a:t>
            </a:r>
            <a:endParaRPr lang="en-US" sz="1300" dirty="0"/>
          </a:p>
        </p:txBody>
      </p:sp>
      <p:sp>
        <p:nvSpPr>
          <p:cNvPr id="26" name="Text 24"/>
          <p:cNvSpPr/>
          <p:nvPr/>
        </p:nvSpPr>
        <p:spPr>
          <a:xfrm>
            <a:off x="365760" y="3584448"/>
            <a:ext cx="2523744" cy="1170432"/>
          </a:xfrm>
          <a:prstGeom prst="rect">
            <a:avLst/>
          </a:prstGeom>
          <a:noFill/>
          <a:ln/>
        </p:spPr>
        <p:txBody>
          <a:bodyPr wrap="square" rtlCol="0" anchor="ctr"/>
          <a:lstStyle/>
          <a:p>
            <a:pPr marL="0" indent="0">
              <a:lnSpc>
                <a:spcPct val="138000"/>
              </a:lnSpc>
              <a:buNone/>
            </a:pPr>
            <a:r>
              <a:rPr lang="en-US" sz="1050" dirty="0">
                <a:solidFill>
                  <a:srgbClr val="374151"/>
                </a:solidFill>
              </a:rPr>
              <a:t>Pandas builds DataFrames for tables &amp; maps. NumPy calculates averages on data.</a:t>
            </a:r>
            <a:endParaRPr lang="en-US" sz="1050" dirty="0"/>
          </a:p>
        </p:txBody>
      </p:sp>
      <p:sp>
        <p:nvSpPr>
          <p:cNvPr id="27" name="Shape 25"/>
          <p:cNvSpPr/>
          <p:nvPr/>
        </p:nvSpPr>
        <p:spPr>
          <a:xfrm>
            <a:off x="3145536" y="3054096"/>
            <a:ext cx="2743200" cy="1773936"/>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28" name="Shape 26"/>
          <p:cNvSpPr/>
          <p:nvPr/>
        </p:nvSpPr>
        <p:spPr>
          <a:xfrm>
            <a:off x="3145536" y="3054096"/>
            <a:ext cx="2743200" cy="457200"/>
          </a:xfrm>
          <a:prstGeom prst="rect">
            <a:avLst/>
          </a:prstGeom>
          <a:solidFill>
            <a:srgbClr val="B45309"/>
          </a:solidFill>
          <a:ln w="12700">
            <a:solidFill>
              <a:srgbClr val="B45309"/>
            </a:solidFill>
            <a:prstDash val="solid"/>
          </a:ln>
        </p:spPr>
        <p:txBody>
          <a:bodyPr/>
          <a:lstStyle/>
          <a:p>
            <a:endParaRPr lang="en-US"/>
          </a:p>
        </p:txBody>
      </p:sp>
      <p:sp>
        <p:nvSpPr>
          <p:cNvPr id="29" name="Shape 27"/>
          <p:cNvSpPr/>
          <p:nvPr/>
        </p:nvSpPr>
        <p:spPr>
          <a:xfrm>
            <a:off x="5431536" y="3054096"/>
            <a:ext cx="457200" cy="457200"/>
          </a:xfrm>
          <a:prstGeom prst="rect">
            <a:avLst/>
          </a:prstGeom>
          <a:solidFill>
            <a:srgbClr val="F59E0B"/>
          </a:solidFill>
          <a:ln w="12700">
            <a:solidFill>
              <a:srgbClr val="F59E0B"/>
            </a:solidFill>
            <a:prstDash val="solid"/>
          </a:ln>
        </p:spPr>
        <p:txBody>
          <a:bodyPr/>
          <a:lstStyle/>
          <a:p>
            <a:endParaRPr lang="en-US"/>
          </a:p>
        </p:txBody>
      </p:sp>
      <p:sp>
        <p:nvSpPr>
          <p:cNvPr id="30" name="Text 28"/>
          <p:cNvSpPr/>
          <p:nvPr/>
        </p:nvSpPr>
        <p:spPr>
          <a:xfrm>
            <a:off x="3236976" y="3118104"/>
            <a:ext cx="2148840" cy="329184"/>
          </a:xfrm>
          <a:prstGeom prst="rect">
            <a:avLst/>
          </a:prstGeom>
          <a:noFill/>
          <a:ln/>
        </p:spPr>
        <p:txBody>
          <a:bodyPr wrap="square" lIns="0" tIns="0" rIns="0" bIns="0" rtlCol="0" anchor="ctr"/>
          <a:lstStyle/>
          <a:p>
            <a:pPr marL="0" indent="0">
              <a:buNone/>
            </a:pPr>
            <a:r>
              <a:rPr lang="en-US" sz="1300" b="1" dirty="0">
                <a:solidFill>
                  <a:srgbClr val="FFFFFF"/>
                </a:solidFill>
              </a:rPr>
              <a:t>💾  JSON</a:t>
            </a:r>
            <a:endParaRPr lang="en-US" sz="1300" dirty="0"/>
          </a:p>
        </p:txBody>
      </p:sp>
      <p:sp>
        <p:nvSpPr>
          <p:cNvPr id="31" name="Text 29"/>
          <p:cNvSpPr/>
          <p:nvPr/>
        </p:nvSpPr>
        <p:spPr>
          <a:xfrm>
            <a:off x="3255264" y="3584448"/>
            <a:ext cx="2523744" cy="1170432"/>
          </a:xfrm>
          <a:prstGeom prst="rect">
            <a:avLst/>
          </a:prstGeom>
          <a:noFill/>
          <a:ln/>
        </p:spPr>
        <p:txBody>
          <a:bodyPr wrap="square" rtlCol="0" anchor="ctr"/>
          <a:lstStyle/>
          <a:p>
            <a:pPr marL="0" indent="0">
              <a:lnSpc>
                <a:spcPct val="138000"/>
              </a:lnSpc>
              <a:buNone/>
            </a:pPr>
            <a:r>
              <a:rPr lang="en-US" sz="1050" dirty="0">
                <a:solidFill>
                  <a:srgbClr val="374151"/>
                </a:solidFill>
              </a:rPr>
              <a:t>Acts as the local database. All users &amp; complaints are saved to a JSON file.</a:t>
            </a:r>
            <a:endParaRPr lang="en-US" sz="1050" dirty="0"/>
          </a:p>
        </p:txBody>
      </p:sp>
      <p:sp>
        <p:nvSpPr>
          <p:cNvPr id="32" name="Shape 30"/>
          <p:cNvSpPr/>
          <p:nvPr/>
        </p:nvSpPr>
        <p:spPr>
          <a:xfrm>
            <a:off x="6035040" y="3054096"/>
            <a:ext cx="2743200" cy="1773936"/>
          </a:xfrm>
          <a:prstGeom prst="rect">
            <a:avLst/>
          </a:prstGeom>
          <a:solidFill>
            <a:srgbClr val="FFFFFF"/>
          </a:solidFill>
          <a:ln w="12700">
            <a:solidFill>
              <a:srgbClr val="C7D2FE"/>
            </a:solidFill>
            <a:prstDash val="solid"/>
          </a:ln>
          <a:effectLst>
            <a:outerShdw blurRad="76200" dist="25400" dir="8100000" algn="bl" rotWithShape="0">
              <a:srgbClr val="000000">
                <a:alpha val="7000"/>
              </a:srgbClr>
            </a:outerShdw>
          </a:effectLst>
        </p:spPr>
        <p:txBody>
          <a:bodyPr/>
          <a:lstStyle/>
          <a:p>
            <a:endParaRPr lang="en-US"/>
          </a:p>
        </p:txBody>
      </p:sp>
      <p:sp>
        <p:nvSpPr>
          <p:cNvPr id="33" name="Shape 31"/>
          <p:cNvSpPr/>
          <p:nvPr/>
        </p:nvSpPr>
        <p:spPr>
          <a:xfrm>
            <a:off x="6035040" y="3054096"/>
            <a:ext cx="2743200" cy="457200"/>
          </a:xfrm>
          <a:prstGeom prst="rect">
            <a:avLst/>
          </a:prstGeom>
          <a:solidFill>
            <a:srgbClr val="9D174D"/>
          </a:solidFill>
          <a:ln w="12700">
            <a:solidFill>
              <a:srgbClr val="9D174D"/>
            </a:solidFill>
            <a:prstDash val="solid"/>
          </a:ln>
        </p:spPr>
        <p:txBody>
          <a:bodyPr/>
          <a:lstStyle/>
          <a:p>
            <a:endParaRPr lang="en-US"/>
          </a:p>
        </p:txBody>
      </p:sp>
      <p:sp>
        <p:nvSpPr>
          <p:cNvPr id="34" name="Shape 32"/>
          <p:cNvSpPr/>
          <p:nvPr/>
        </p:nvSpPr>
        <p:spPr>
          <a:xfrm>
            <a:off x="8321040" y="3054096"/>
            <a:ext cx="457200" cy="457200"/>
          </a:xfrm>
          <a:prstGeom prst="rect">
            <a:avLst/>
          </a:prstGeom>
          <a:solidFill>
            <a:srgbClr val="EC4899"/>
          </a:solidFill>
          <a:ln w="12700">
            <a:solidFill>
              <a:srgbClr val="EC4899"/>
            </a:solidFill>
            <a:prstDash val="solid"/>
          </a:ln>
        </p:spPr>
        <p:txBody>
          <a:bodyPr/>
          <a:lstStyle/>
          <a:p>
            <a:endParaRPr lang="en-US"/>
          </a:p>
        </p:txBody>
      </p:sp>
      <p:sp>
        <p:nvSpPr>
          <p:cNvPr id="35" name="Text 33"/>
          <p:cNvSpPr/>
          <p:nvPr/>
        </p:nvSpPr>
        <p:spPr>
          <a:xfrm>
            <a:off x="6126480" y="3118104"/>
            <a:ext cx="2148840" cy="329184"/>
          </a:xfrm>
          <a:prstGeom prst="rect">
            <a:avLst/>
          </a:prstGeom>
          <a:noFill/>
          <a:ln/>
        </p:spPr>
        <p:txBody>
          <a:bodyPr wrap="square" lIns="0" tIns="0" rIns="0" bIns="0" rtlCol="0" anchor="ctr"/>
          <a:lstStyle/>
          <a:p>
            <a:pPr marL="0" indent="0">
              <a:buNone/>
            </a:pPr>
            <a:r>
              <a:rPr lang="en-US" sz="1300" b="1" dirty="0">
                <a:solidFill>
                  <a:srgbClr val="FFFFFF"/>
                </a:solidFill>
              </a:rPr>
              <a:t>🔐  Hashlib/Regex</a:t>
            </a:r>
            <a:endParaRPr lang="en-US" sz="1300" dirty="0"/>
          </a:p>
        </p:txBody>
      </p:sp>
      <p:sp>
        <p:nvSpPr>
          <p:cNvPr id="36" name="Text 34"/>
          <p:cNvSpPr/>
          <p:nvPr/>
        </p:nvSpPr>
        <p:spPr>
          <a:xfrm>
            <a:off x="6144768" y="3584448"/>
            <a:ext cx="2523744" cy="1170432"/>
          </a:xfrm>
          <a:prstGeom prst="rect">
            <a:avLst/>
          </a:prstGeom>
          <a:noFill/>
          <a:ln/>
        </p:spPr>
        <p:txBody>
          <a:bodyPr wrap="square" rtlCol="0" anchor="ctr"/>
          <a:lstStyle/>
          <a:p>
            <a:pPr marL="0" indent="0">
              <a:lnSpc>
                <a:spcPct val="138000"/>
              </a:lnSpc>
              <a:buNone/>
            </a:pPr>
            <a:r>
              <a:rPr lang="en-US" sz="1050" dirty="0">
                <a:solidFill>
                  <a:srgbClr val="374151"/>
                </a:solidFill>
              </a:rPr>
              <a:t>SHA-256 encrypts passwords. Regex validates email format &amp; password strength.</a:t>
            </a:r>
            <a:endParaRPr lang="en-US" sz="1050" dirty="0"/>
          </a:p>
        </p:txBody>
      </p:sp>
      <p:sp>
        <p:nvSpPr>
          <p:cNvPr id="37" name="Text 35"/>
          <p:cNvSpPr/>
          <p:nvPr/>
        </p:nvSpPr>
        <p:spPr>
          <a:xfrm>
            <a:off x="8778240" y="4919472"/>
            <a:ext cx="320040" cy="201168"/>
          </a:xfrm>
          <a:prstGeom prst="rect">
            <a:avLst/>
          </a:prstGeom>
          <a:noFill/>
          <a:ln/>
        </p:spPr>
        <p:txBody>
          <a:bodyPr wrap="square" rtlCol="0" anchor="ctr"/>
          <a:lstStyle/>
          <a:p>
            <a:pPr marL="0" indent="0" algn="ctr">
              <a:buNone/>
            </a:pPr>
            <a:r>
              <a:rPr lang="en-US" sz="900" dirty="0">
                <a:solidFill>
                  <a:srgbClr val="6B7280"/>
                </a:solidFill>
              </a:rPr>
              <a:t>5</a:t>
            </a:r>
            <a:endParaRPr lang="en-US" sz="900" dirty="0"/>
          </a:p>
        </p:txBody>
      </p:sp>
      <p:pic>
        <p:nvPicPr>
          <p:cNvPr id="38" name="object 16">
            <a:extLst>
              <a:ext uri="{FF2B5EF4-FFF2-40B4-BE49-F238E27FC236}">
                <a16:creationId xmlns:a16="http://schemas.microsoft.com/office/drawing/2014/main" id="{55AE590A-EAB0-4655-15AE-22AFB06ADA16}"/>
              </a:ext>
            </a:extLst>
          </p:cNvPr>
          <p:cNvPicPr/>
          <p:nvPr/>
        </p:nvPicPr>
        <p:blipFill>
          <a:blip r:embed="rId3" cstate="print"/>
          <a:stretch>
            <a:fillRect/>
          </a:stretch>
        </p:blipFill>
        <p:spPr>
          <a:xfrm>
            <a:off x="6604782" y="207147"/>
            <a:ext cx="2454812" cy="61897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4F46E5"/>
          </a:solidFill>
          <a:ln w="12700">
            <a:solidFill>
              <a:srgbClr val="4F46E5"/>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4F46E5"/>
          </a:solidFill>
          <a:ln w="12700">
            <a:solidFill>
              <a:srgbClr val="4F46E5"/>
            </a:solidFill>
            <a:prstDash val="solid"/>
          </a:ln>
        </p:spPr>
        <p:txBody>
          <a:bodyPr/>
          <a:lstStyle/>
          <a:p>
            <a:endParaRPr lang="en-US"/>
          </a:p>
        </p:txBody>
      </p:sp>
      <p:sp>
        <p:nvSpPr>
          <p:cNvPr id="4" name="Text 2"/>
          <p:cNvSpPr/>
          <p:nvPr/>
        </p:nvSpPr>
        <p:spPr>
          <a:xfrm>
            <a:off x="0" y="1389888"/>
            <a:ext cx="9144000" cy="1005840"/>
          </a:xfrm>
          <a:prstGeom prst="rect">
            <a:avLst/>
          </a:prstGeom>
          <a:noFill/>
          <a:ln/>
        </p:spPr>
        <p:txBody>
          <a:bodyPr wrap="square" rtlCol="0" anchor="ctr"/>
          <a:lstStyle/>
          <a:p>
            <a:pPr marL="0" indent="0" algn="ctr">
              <a:buNone/>
            </a:pPr>
            <a:r>
              <a:rPr lang="en-US" sz="5200" b="1" dirty="0">
                <a:solidFill>
                  <a:srgbClr val="1E1B4B"/>
                </a:solidFill>
                <a:latin typeface="Arial Black" pitchFamily="34" charset="0"/>
                <a:ea typeface="Arial Black" pitchFamily="34" charset="-122"/>
                <a:cs typeface="Arial Black" pitchFamily="34" charset="-120"/>
              </a:rPr>
              <a:t>Thank You!</a:t>
            </a:r>
            <a:endParaRPr lang="en-US" sz="5200" dirty="0"/>
          </a:p>
        </p:txBody>
      </p:sp>
      <p:sp>
        <p:nvSpPr>
          <p:cNvPr id="5" name="Shape 3"/>
          <p:cNvSpPr/>
          <p:nvPr/>
        </p:nvSpPr>
        <p:spPr>
          <a:xfrm>
            <a:off x="2926080" y="2514600"/>
            <a:ext cx="3291840" cy="54864"/>
          </a:xfrm>
          <a:prstGeom prst="rect">
            <a:avLst/>
          </a:prstGeom>
          <a:solidFill>
            <a:srgbClr val="4F46E5"/>
          </a:solidFill>
          <a:ln w="12700">
            <a:solidFill>
              <a:srgbClr val="4F46E5"/>
            </a:solidFill>
            <a:prstDash val="solid"/>
          </a:ln>
        </p:spPr>
        <p:txBody>
          <a:bodyPr/>
          <a:lstStyle/>
          <a:p>
            <a:endParaRPr lang="en-US"/>
          </a:p>
        </p:txBody>
      </p:sp>
      <p:sp>
        <p:nvSpPr>
          <p:cNvPr id="6" name="Text 4"/>
          <p:cNvSpPr/>
          <p:nvPr/>
        </p:nvSpPr>
        <p:spPr>
          <a:xfrm>
            <a:off x="0" y="2651760"/>
            <a:ext cx="9144000" cy="475488"/>
          </a:xfrm>
          <a:prstGeom prst="rect">
            <a:avLst/>
          </a:prstGeom>
          <a:noFill/>
          <a:ln/>
        </p:spPr>
        <p:txBody>
          <a:bodyPr wrap="square" rtlCol="0" anchor="ctr"/>
          <a:lstStyle/>
          <a:p>
            <a:pPr marL="0" indent="0" algn="ctr">
              <a:buNone/>
            </a:pPr>
            <a:r>
              <a:rPr lang="en-US" sz="1800" b="1" dirty="0">
                <a:solidFill>
                  <a:srgbClr val="4F46E5"/>
                </a:solidFill>
              </a:rPr>
              <a:t>Cyber Crime Reporting and Analysis System</a:t>
            </a:r>
            <a:endParaRPr lang="en-US" sz="1800" dirty="0"/>
          </a:p>
        </p:txBody>
      </p:sp>
      <p:pic>
        <p:nvPicPr>
          <p:cNvPr id="7" name="object 16">
            <a:extLst>
              <a:ext uri="{FF2B5EF4-FFF2-40B4-BE49-F238E27FC236}">
                <a16:creationId xmlns:a16="http://schemas.microsoft.com/office/drawing/2014/main" id="{AD4E8415-19E9-6190-B15F-46AF24FD2D16}"/>
              </a:ext>
            </a:extLst>
          </p:cNvPr>
          <p:cNvPicPr/>
          <p:nvPr/>
        </p:nvPicPr>
        <p:blipFill>
          <a:blip r:embed="rId3" cstate="print"/>
          <a:stretch>
            <a:fillRect/>
          </a:stretch>
        </p:blipFill>
        <p:spPr>
          <a:xfrm>
            <a:off x="6604782" y="207147"/>
            <a:ext cx="2454812" cy="61897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1207</Words>
  <Application>Microsoft Macintosh PowerPoint</Application>
  <PresentationFormat>On-screen Show (16:9)</PresentationFormat>
  <Paragraphs>249</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Crime Reporting and Analysis System</dc:title>
  <dc:subject>PptxGenJS Presentation</dc:subject>
  <dc:creator>PptxGenJS</dc:creator>
  <cp:lastModifiedBy>patel harsh kanaiyalal</cp:lastModifiedBy>
  <cp:revision>6</cp:revision>
  <dcterms:created xsi:type="dcterms:W3CDTF">2026-02-18T10:01:54Z</dcterms:created>
  <dcterms:modified xsi:type="dcterms:W3CDTF">2026-02-19T03:15:29Z</dcterms:modified>
</cp:coreProperties>
</file>